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8" r:id="rId3"/>
    <p:sldId id="264" r:id="rId4"/>
    <p:sldId id="265" r:id="rId5"/>
    <p:sldId id="266" r:id="rId6"/>
    <p:sldId id="267" r:id="rId7"/>
    <p:sldId id="268" r:id="rId8"/>
    <p:sldId id="269" r:id="rId9"/>
    <p:sldId id="270" r:id="rId10"/>
    <p:sldId id="271" r:id="rId11"/>
    <p:sldId id="272" r:id="rId12"/>
    <p:sldId id="273" r:id="rId13"/>
    <p:sldId id="274" r:id="rId14"/>
    <p:sldId id="262" r:id="rId15"/>
    <p:sldId id="263"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72" Type="http://customschemas.google.com/relationships/presentationmetadata" Target="metadata"/><Relationship Id="rId3" Type="http://schemas.openxmlformats.org/officeDocument/2006/relationships/slide" Target="slides/slide2.xml"/><Relationship Id="rId76"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603475" y="2354309"/>
            <a:ext cx="7887600" cy="1138733"/>
          </a:xfrm>
          <a:prstGeom prst="rect">
            <a:avLst/>
          </a:prstGeom>
          <a:noFill/>
          <a:ln>
            <a:noFill/>
          </a:ln>
        </p:spPr>
        <p:txBody>
          <a:bodyPr spcFirstLastPara="1" wrap="square" lIns="91425" tIns="45700" rIns="91425" bIns="45700" anchor="ctr" anchorCtr="0">
            <a:spAutoFit/>
          </a:bodyPr>
          <a:lstStyle/>
          <a:p>
            <a:pPr lvl="0" algn="ctr">
              <a:buSzPts val="3500"/>
            </a:pPr>
            <a:r>
              <a:rPr lang="en-IN" sz="3600" dirty="0">
                <a:solidFill>
                  <a:schemeClr val="bg1"/>
                </a:solidFill>
              </a:rPr>
              <a:t>303105324 - Metasploit Frame work</a:t>
            </a:r>
            <a:r>
              <a:rPr lang="en-IN" sz="3600" dirty="0"/>
              <a:t> </a:t>
            </a:r>
            <a:endParaRPr sz="3500" b="1"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a:p>
            <a:pPr lvl="0" algn="ctr">
              <a:buSzPts val="3000"/>
            </a:pPr>
            <a:r>
              <a:rPr lang="en-US" sz="3000" b="1" i="0" u="none" strike="noStrike" cap="none" dirty="0">
                <a:solidFill>
                  <a:srgbClr val="FFFFFF"/>
                </a:solidFill>
                <a:latin typeface="Calibri"/>
                <a:ea typeface="Calibri"/>
                <a:cs typeface="Calibri"/>
                <a:sym typeface="Calibri"/>
              </a:rPr>
              <a:t>Unit II : </a:t>
            </a:r>
            <a:r>
              <a:rPr lang="en-IN" sz="3200" dirty="0">
                <a:solidFill>
                  <a:schemeClr val="bg1"/>
                </a:solidFill>
              </a:rPr>
              <a:t>Server Side Exploitation</a:t>
            </a:r>
            <a:endParaRPr sz="3000" b="1" i="0" u="none" strike="noStrike" cap="none" dirty="0">
              <a:solidFill>
                <a:schemeClr val="bg1"/>
              </a:solidFill>
              <a:latin typeface="Calibri"/>
              <a:ea typeface="Calibri"/>
              <a:cs typeface="Calibri"/>
              <a:sym typeface="Calibri"/>
            </a:endParaRPr>
          </a:p>
        </p:txBody>
      </p:sp>
      <p:sp>
        <p:nvSpPr>
          <p:cNvPr id="38" name="Google Shape;38;p1"/>
          <p:cNvSpPr/>
          <p:nvPr/>
        </p:nvSpPr>
        <p:spPr>
          <a:xfrm>
            <a:off x="342741" y="5601409"/>
            <a:ext cx="3832829" cy="14926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Gowtham A</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dirty="0">
                <a:solidFill>
                  <a:schemeClr val="dk1"/>
                </a:solidFill>
                <a:latin typeface="Calibri"/>
                <a:ea typeface="Calibri"/>
                <a:cs typeface="Calibri"/>
                <a:sym typeface="Calibri"/>
              </a:rPr>
              <a:t>Computer Science &amp; Engineering</a:t>
            </a:r>
            <a:r>
              <a:rPr lang="en-US" sz="1800" b="1" i="0" u="none" strike="noStrike" cap="none"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algn="ctr">
              <a:buSzPts val="24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rPr>
              <a:t>Introduction to Metasploit</a:t>
            </a:r>
            <a:endParaRPr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
        <p:nvSpPr>
          <p:cNvPr id="2" name="Google Shape;116;p16">
            <a:extLst>
              <a:ext uri="{FF2B5EF4-FFF2-40B4-BE49-F238E27FC236}">
                <a16:creationId xmlns:a16="http://schemas.microsoft.com/office/drawing/2014/main" id="{C27ED14F-0273-3C83-7A75-FF0D0D51E12C}"/>
              </a:ext>
            </a:extLst>
          </p:cNvPr>
          <p:cNvSpPr/>
          <p:nvPr/>
        </p:nvSpPr>
        <p:spPr>
          <a:xfrm>
            <a:off x="907026" y="1639950"/>
            <a:ext cx="6858000" cy="482203"/>
          </a:xfrm>
          <a:prstGeom prst="rect">
            <a:avLst/>
          </a:prstGeom>
          <a:solidFill>
            <a:srgbClr val="1F497D"/>
          </a:solidFill>
          <a:ln>
            <a:noFill/>
          </a:ln>
        </p:spPr>
        <p:txBody>
          <a:bodyPr spcFirstLastPara="1" wrap="square" lIns="91425" tIns="45700" rIns="91425" bIns="45700" anchor="ctr" anchorCtr="0">
            <a:noAutofit/>
          </a:bodyPr>
          <a:lstStyle/>
          <a:p>
            <a:pPr lvl="0" algn="ctr"/>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Exploiting a Linux server</a:t>
            </a:r>
            <a:endPar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TextBox 4">
            <a:extLst>
              <a:ext uri="{FF2B5EF4-FFF2-40B4-BE49-F238E27FC236}">
                <a16:creationId xmlns:a16="http://schemas.microsoft.com/office/drawing/2014/main" id="{A109B046-4490-7817-0796-155B829C9F21}"/>
              </a:ext>
            </a:extLst>
          </p:cNvPr>
          <p:cNvSpPr txBox="1"/>
          <p:nvPr/>
        </p:nvSpPr>
        <p:spPr>
          <a:xfrm>
            <a:off x="455971" y="2471108"/>
            <a:ext cx="8232058" cy="3770263"/>
          </a:xfrm>
          <a:prstGeom prst="rect">
            <a:avLst/>
          </a:prstGeom>
          <a:noFill/>
        </p:spPr>
        <p:txBody>
          <a:bodyPr wrap="square">
            <a:spAutoFit/>
          </a:bodyPr>
          <a:lstStyle/>
          <a:p>
            <a:r>
              <a:rPr lang="en-IN" b="1" dirty="0"/>
              <a:t>The Penetration Testing Workflow</a:t>
            </a:r>
            <a:endParaRPr lang="en-IN" dirty="0"/>
          </a:p>
          <a:p>
            <a:r>
              <a:rPr lang="en-IN" dirty="0"/>
              <a:t>Exploitation is only one phase of a security assessment. Professionals follow this lifecycle:</a:t>
            </a:r>
          </a:p>
          <a:p>
            <a:r>
              <a:rPr lang="en-IN" b="1" dirty="0"/>
              <a:t>1. Identification and Reconnaissance</a:t>
            </a:r>
            <a:endParaRPr lang="en-IN" dirty="0"/>
          </a:p>
          <a:p>
            <a:r>
              <a:rPr lang="en-IN" dirty="0"/>
              <a:t>Before choosing an exploit, you must understand the target. </a:t>
            </a:r>
          </a:p>
          <a:p>
            <a:pPr lvl="0"/>
            <a:r>
              <a:rPr lang="en-IN" b="1" dirty="0"/>
              <a:t>Service Enumeration:</a:t>
            </a:r>
            <a:r>
              <a:rPr lang="en-IN" dirty="0"/>
              <a:t> Use tools like </a:t>
            </a:r>
            <a:r>
              <a:rPr lang="en-IN" dirty="0" err="1"/>
              <a:t>nmap</a:t>
            </a:r>
            <a:r>
              <a:rPr lang="en-IN" dirty="0"/>
              <a:t> to identify open ports and the services running on them (e.g., SSH, FTP, HTTP, SMB).</a:t>
            </a:r>
          </a:p>
          <a:p>
            <a:pPr lvl="0"/>
            <a:r>
              <a:rPr lang="en-IN" b="1" dirty="0"/>
              <a:t>Version Fingerprinting:</a:t>
            </a:r>
            <a:r>
              <a:rPr lang="en-IN" dirty="0"/>
              <a:t> Determine the specific versions of these services. Vulnerabilities are often version-specific. </a:t>
            </a:r>
          </a:p>
          <a:p>
            <a:pPr lvl="0"/>
            <a:r>
              <a:rPr lang="en-IN" b="1" dirty="0"/>
              <a:t>Vulnerability Scanning:</a:t>
            </a:r>
            <a:r>
              <a:rPr lang="en-IN" dirty="0"/>
              <a:t> Use tools like Nessus, OpenVAS, or Metasploit’s auxiliary scanners to match service versions against known Common Vulnerabilities and Exposures (CVEs).</a:t>
            </a:r>
          </a:p>
          <a:p>
            <a:r>
              <a:rPr lang="en-IN" b="1" dirty="0"/>
              <a:t>2. Selecting the Exploit and Payload</a:t>
            </a:r>
            <a:endParaRPr lang="en-IN" dirty="0"/>
          </a:p>
          <a:p>
            <a:r>
              <a:rPr lang="en-IN" dirty="0"/>
              <a:t>Once a vulnerability is identified, you select the appropriate Metasploit modules. </a:t>
            </a:r>
          </a:p>
          <a:p>
            <a:pPr lvl="0"/>
            <a:r>
              <a:rPr lang="en-IN" b="1" dirty="0"/>
              <a:t>Exploit Module:</a:t>
            </a:r>
            <a:r>
              <a:rPr lang="en-IN" dirty="0"/>
              <a:t> The code that takes advantage of the specific vulnerability (e.g., exploit/</a:t>
            </a:r>
            <a:r>
              <a:rPr lang="en-IN" dirty="0" err="1"/>
              <a:t>unix</a:t>
            </a:r>
            <a:r>
              <a:rPr lang="en-IN" dirty="0"/>
              <a:t>/ftp/vsftpd_234_backdoor).</a:t>
            </a:r>
          </a:p>
          <a:p>
            <a:pPr lvl="0"/>
            <a:r>
              <a:rPr lang="en-IN" b="1" dirty="0"/>
              <a:t>Payload:</a:t>
            </a:r>
            <a:r>
              <a:rPr lang="en-IN" dirty="0"/>
              <a:t> The code that runs </a:t>
            </a:r>
            <a:r>
              <a:rPr lang="en-IN" i="1" dirty="0"/>
              <a:t>after</a:t>
            </a:r>
            <a:r>
              <a:rPr lang="en-IN" dirty="0"/>
              <a:t> the exploit succeeds. For Linux, this is often a </a:t>
            </a:r>
            <a:r>
              <a:rPr lang="en-IN" dirty="0" err="1"/>
              <a:t>reverse_tcp</a:t>
            </a:r>
            <a:r>
              <a:rPr lang="en-IN" dirty="0"/>
              <a:t> shell, which forces the target to connect back to your machine, bypassing many inbound firewall rules. </a:t>
            </a:r>
          </a:p>
          <a:p>
            <a:pPr marL="225425" marR="0" lvl="1" indent="0" algn="just" rtl="0">
              <a:spcBef>
                <a:spcPts val="0"/>
              </a:spcBef>
              <a:spcAft>
                <a:spcPts val="0"/>
              </a:spcAft>
              <a:buClr>
                <a:schemeClr val="dk1"/>
              </a:buClr>
              <a:buSzPts val="1500"/>
              <a:buFont typeface="Noto Sans Symbols"/>
              <a:buNone/>
            </a:pPr>
            <a:endParaRPr lang="en-US" sz="15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23;p17">
            <a:extLst>
              <a:ext uri="{FF2B5EF4-FFF2-40B4-BE49-F238E27FC236}">
                <a16:creationId xmlns:a16="http://schemas.microsoft.com/office/drawing/2014/main" id="{1BD392B6-23F1-6205-6D02-F2BCB684C82D}"/>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 </a:t>
            </a:r>
          </a:p>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Google Shape;124;p17">
            <a:extLst>
              <a:ext uri="{FF2B5EF4-FFF2-40B4-BE49-F238E27FC236}">
                <a16:creationId xmlns:a16="http://schemas.microsoft.com/office/drawing/2014/main" id="{27642161-65F7-733E-D732-E9B239B43D1F}"/>
              </a:ext>
            </a:extLst>
          </p:cNvPr>
          <p:cNvSpPr>
            <a:spLocks noGrp="1"/>
          </p:cNvSpPr>
          <p:nvPr>
            <p:ph type="body" idx="1"/>
          </p:nvPr>
        </p:nvSpPr>
        <p:spPr>
          <a:xfrm>
            <a:off x="628650" y="2249488"/>
            <a:ext cx="7886700" cy="4095750"/>
          </a:xfrm>
          <a:prstGeom prst="rect">
            <a:avLst/>
          </a:prstGeom>
          <a:noFill/>
          <a:ln>
            <a:noFill/>
          </a:ln>
        </p:spPr>
        <p:txBody>
          <a:bodyPr spcFirstLastPara="1" wrap="square" lIns="91425" tIns="45700" rIns="91425" bIns="45700" anchor="t" anchorCtr="0">
            <a:noAutofit/>
          </a:bodyPr>
          <a:lstStyle/>
          <a:p>
            <a:pPr marL="225425" marR="0" lvl="1" indent="0" algn="just" rtl="0">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14300" indent="0">
              <a:buNone/>
            </a:pPr>
            <a:r>
              <a:rPr lang="en-US" sz="15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en-IN" sz="1400" b="1" dirty="0">
                <a:latin typeface="+mj-lt"/>
              </a:rPr>
              <a:t>3. Configuration</a:t>
            </a:r>
            <a:endParaRPr lang="en-IN" sz="1400" dirty="0">
              <a:latin typeface="+mj-lt"/>
            </a:endParaRPr>
          </a:p>
          <a:p>
            <a:r>
              <a:rPr lang="en-IN" sz="1400" dirty="0">
                <a:latin typeface="+mj-lt"/>
              </a:rPr>
              <a:t>The framework is highly modular. You configure the modules using the set command: </a:t>
            </a:r>
          </a:p>
          <a:p>
            <a:pPr lvl="0"/>
            <a:r>
              <a:rPr lang="en-IN" sz="1400" dirty="0">
                <a:latin typeface="+mj-lt"/>
              </a:rPr>
              <a:t>RHOSTS: The IP address of the target Linux server.</a:t>
            </a:r>
          </a:p>
          <a:p>
            <a:pPr lvl="0"/>
            <a:r>
              <a:rPr lang="en-IN" sz="1400" dirty="0">
                <a:latin typeface="+mj-lt"/>
              </a:rPr>
              <a:t>LHOST: Your attacking machine's IP (for the reverse connection).</a:t>
            </a:r>
          </a:p>
          <a:p>
            <a:pPr lvl="0"/>
            <a:r>
              <a:rPr lang="en-IN" sz="1400" dirty="0">
                <a:latin typeface="+mj-lt"/>
              </a:rPr>
              <a:t>RPORT / LPORT: The relevant network ports.</a:t>
            </a:r>
          </a:p>
          <a:p>
            <a:pPr marL="114300" indent="0">
              <a:buNone/>
            </a:pPr>
            <a:r>
              <a:rPr lang="en-IN" sz="1400" b="1" dirty="0">
                <a:latin typeface="+mj-lt"/>
              </a:rPr>
              <a:t>4. Execution</a:t>
            </a:r>
            <a:endParaRPr lang="en-IN" sz="1400" dirty="0">
              <a:latin typeface="+mj-lt"/>
            </a:endParaRPr>
          </a:p>
          <a:p>
            <a:r>
              <a:rPr lang="en-IN" sz="1400" dirty="0">
                <a:latin typeface="+mj-lt"/>
              </a:rPr>
              <a:t>After verification, the attack is launched:</a:t>
            </a:r>
          </a:p>
          <a:p>
            <a:pPr lvl="0"/>
            <a:r>
              <a:rPr lang="en-IN" sz="1400" dirty="0">
                <a:latin typeface="+mj-lt"/>
              </a:rPr>
              <a:t>check: Many modules support the check command, which allows you to determine if a target is vulnerable without actually executing the full exploit.</a:t>
            </a:r>
          </a:p>
          <a:p>
            <a:pPr lvl="0"/>
            <a:r>
              <a:rPr lang="en-IN" sz="1400" dirty="0">
                <a:latin typeface="+mj-lt"/>
              </a:rPr>
              <a:t>exploit: This command triggers the attack sequence.</a:t>
            </a:r>
          </a:p>
          <a:p>
            <a:pPr marL="225425" marR="0" lvl="1" indent="0" algn="just" rtl="0">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523825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0F624EB-4A25-BE6F-BA00-8805C464F1B9}"/>
              </a:ext>
            </a:extLst>
          </p:cNvPr>
          <p:cNvSpPr>
            <a:spLocks noGrp="1"/>
          </p:cNvSpPr>
          <p:nvPr>
            <p:ph type="body" idx="1"/>
          </p:nvPr>
        </p:nvSpPr>
        <p:spPr/>
        <p:txBody>
          <a:bodyPr>
            <a:normAutofit fontScale="62500" lnSpcReduction="20000"/>
          </a:bodyPr>
          <a:lstStyle/>
          <a:p>
            <a:pPr marL="114300" indent="0">
              <a:buNone/>
            </a:pPr>
            <a:r>
              <a:rPr lang="en-IN" b="1" dirty="0"/>
              <a:t>Conceptual Overview of the Exploitation Process</a:t>
            </a:r>
            <a:endParaRPr lang="en-IN" dirty="0"/>
          </a:p>
          <a:p>
            <a:pPr marL="114300" indent="0">
              <a:buNone/>
            </a:pPr>
            <a:r>
              <a:rPr lang="en-IN" b="1" dirty="0"/>
              <a:t>Technical Considerations for Linux</a:t>
            </a:r>
            <a:endParaRPr lang="en-IN" dirty="0"/>
          </a:p>
          <a:p>
            <a:pPr lvl="0"/>
            <a:r>
              <a:rPr lang="en-IN" b="1" dirty="0"/>
              <a:t>Architecture:</a:t>
            </a:r>
            <a:r>
              <a:rPr lang="en-IN" dirty="0"/>
              <a:t> Linux exploits are often specific to the architecture (e.g., x86, x64, ARM). Ensure your payload matches the target architecture. </a:t>
            </a:r>
          </a:p>
          <a:p>
            <a:pPr lvl="0"/>
            <a:r>
              <a:rPr lang="en-IN" b="1" dirty="0"/>
              <a:t>Stability:</a:t>
            </a:r>
            <a:r>
              <a:rPr lang="en-IN" dirty="0"/>
              <a:t> Unlike some Windows environments, Linux services may be highly sensitive. An incorrect exploit attempt can easily crash a service (Denial of Service), which is generally undesirable in a production environment.</a:t>
            </a:r>
          </a:p>
          <a:p>
            <a:pPr lvl="0"/>
            <a:r>
              <a:rPr lang="en-IN" b="1" dirty="0"/>
              <a:t>Post-Exploitation:</a:t>
            </a:r>
            <a:r>
              <a:rPr lang="en-IN" dirty="0"/>
              <a:t> Once a shell is established, security professionals perform post-exploitation to assess the level of access: </a:t>
            </a:r>
          </a:p>
          <a:p>
            <a:pPr lvl="1"/>
            <a:r>
              <a:rPr lang="en-IN" b="1" dirty="0"/>
              <a:t>Privilege Escalation:</a:t>
            </a:r>
            <a:r>
              <a:rPr lang="en-IN" dirty="0"/>
              <a:t> Searching for kernel vulnerabilities, weak file permissions, or misconfigured </a:t>
            </a:r>
            <a:r>
              <a:rPr lang="en-IN" dirty="0" err="1"/>
              <a:t>cron</a:t>
            </a:r>
            <a:r>
              <a:rPr lang="en-IN" dirty="0"/>
              <a:t> jobs to gain root access.</a:t>
            </a:r>
          </a:p>
          <a:p>
            <a:pPr lvl="1"/>
            <a:r>
              <a:rPr lang="en-IN" b="1" dirty="0"/>
              <a:t>Credential Dumping:</a:t>
            </a:r>
            <a:r>
              <a:rPr lang="en-IN" dirty="0"/>
              <a:t> Extracting hashes or cleartext passwords from memory or configuration files. </a:t>
            </a:r>
          </a:p>
          <a:p>
            <a:pPr lvl="1"/>
            <a:r>
              <a:rPr lang="en-IN" b="1" dirty="0"/>
              <a:t>Persistence:</a:t>
            </a:r>
            <a:r>
              <a:rPr lang="en-IN" dirty="0"/>
              <a:t> Ensuring continued access to the system for the duration of the engagement. </a:t>
            </a:r>
          </a:p>
          <a:p>
            <a:endParaRPr lang="en-IN" dirty="0"/>
          </a:p>
        </p:txBody>
      </p:sp>
      <p:sp>
        <p:nvSpPr>
          <p:cNvPr id="4" name="Google Shape;130;p18">
            <a:extLst>
              <a:ext uri="{FF2B5EF4-FFF2-40B4-BE49-F238E27FC236}">
                <a16:creationId xmlns:a16="http://schemas.microsoft.com/office/drawing/2014/main" id="{ECAF19D5-C725-A3B0-18A5-E11D8173AE4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lvl="0" algn="ctr"/>
            <a:r>
              <a:rPr lang="en-US" sz="2400" b="1" dirty="0">
                <a:solidFill>
                  <a:schemeClr val="lt1"/>
                </a:solidFill>
              </a:rPr>
              <a:t>Contd..</a:t>
            </a:r>
            <a:endPar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57796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8;p19">
            <a:extLst>
              <a:ext uri="{FF2B5EF4-FFF2-40B4-BE49-F238E27FC236}">
                <a16:creationId xmlns:a16="http://schemas.microsoft.com/office/drawing/2014/main" id="{8C063961-9483-76E1-7C34-65C460ED959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a:p>
            <a:pPr lvl="0" algn="ctr"/>
            <a:r>
              <a:rPr lang="en-US" sz="2400" b="1" dirty="0">
                <a:solidFill>
                  <a:schemeClr val="lt1"/>
                </a:solidFill>
              </a:rPr>
              <a:t>Contd..</a:t>
            </a:r>
            <a:endParaRPr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5" name="Google Shape;139;p19">
            <a:extLst>
              <a:ext uri="{FF2B5EF4-FFF2-40B4-BE49-F238E27FC236}">
                <a16:creationId xmlns:a16="http://schemas.microsoft.com/office/drawing/2014/main" id="{6E3982BD-742A-312E-E590-0A3714C1AD75}"/>
              </a:ext>
            </a:extLst>
          </p:cNvPr>
          <p:cNvSpPr>
            <a:spLocks noGrp="1"/>
          </p:cNvSpPr>
          <p:nvPr>
            <p:ph type="body" idx="1"/>
          </p:nvPr>
        </p:nvSpPr>
        <p:spPr>
          <a:xfrm>
            <a:off x="628650" y="2249488"/>
            <a:ext cx="7886700" cy="409575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500"/>
              <a:buFont typeface="Calibri" panose="020F0502020204030204"/>
              <a:buNone/>
            </a:pPr>
            <a:endParaRPr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114300" indent="0">
              <a:buNone/>
            </a:pPr>
            <a:r>
              <a:rPr lang="en-IN" sz="1600" b="1" dirty="0">
                <a:latin typeface="+mj-lt"/>
              </a:rPr>
              <a:t>Defensive Posture</a:t>
            </a:r>
            <a:endParaRPr lang="en-IN" sz="1600" dirty="0">
              <a:latin typeface="+mj-lt"/>
            </a:endParaRPr>
          </a:p>
          <a:p>
            <a:r>
              <a:rPr lang="en-IN" sz="1600" dirty="0">
                <a:latin typeface="+mj-lt"/>
              </a:rPr>
              <a:t>Understanding how these exploits work is the primary way to defend against them:</a:t>
            </a:r>
          </a:p>
          <a:p>
            <a:pPr lvl="0"/>
            <a:r>
              <a:rPr lang="en-IN" sz="1600" b="1" dirty="0">
                <a:latin typeface="+mj-lt"/>
              </a:rPr>
              <a:t>Patch Management:</a:t>
            </a:r>
            <a:r>
              <a:rPr lang="en-IN" sz="1600" dirty="0">
                <a:latin typeface="+mj-lt"/>
              </a:rPr>
              <a:t> Regularly update all services. Most exploits target known, patched vulnerabilities.</a:t>
            </a:r>
          </a:p>
          <a:p>
            <a:pPr lvl="0"/>
            <a:r>
              <a:rPr lang="en-IN" sz="1600" b="1" dirty="0">
                <a:latin typeface="+mj-lt"/>
              </a:rPr>
              <a:t>Least Privilege:</a:t>
            </a:r>
            <a:r>
              <a:rPr lang="en-IN" sz="1600" dirty="0">
                <a:latin typeface="+mj-lt"/>
              </a:rPr>
              <a:t> Run services as low-privileged users, not as root.</a:t>
            </a:r>
          </a:p>
          <a:p>
            <a:pPr lvl="0"/>
            <a:r>
              <a:rPr lang="en-IN" sz="1600" b="1" dirty="0">
                <a:latin typeface="+mj-lt"/>
              </a:rPr>
              <a:t>Network Segmentation:</a:t>
            </a:r>
            <a:r>
              <a:rPr lang="en-IN" sz="1600" dirty="0">
                <a:latin typeface="+mj-lt"/>
              </a:rPr>
              <a:t> Use firewalls and network policies to ensure that services are only accessible to authorized systems.</a:t>
            </a:r>
          </a:p>
          <a:p>
            <a:pPr lvl="0"/>
            <a:r>
              <a:rPr lang="en-IN" sz="1600" b="1" dirty="0">
                <a:latin typeface="+mj-lt"/>
              </a:rPr>
              <a:t>Intrusion Detection/Prevention (IDS/IPS):</a:t>
            </a:r>
            <a:r>
              <a:rPr lang="en-IN" sz="1600" dirty="0">
                <a:latin typeface="+mj-lt"/>
              </a:rPr>
              <a:t> Monitor network traffic for common exploit signatures and anomalous patterns, such as unexpected outbound connections from a server. </a:t>
            </a:r>
          </a:p>
          <a:p>
            <a:pPr marL="225425" marR="0" lvl="1" indent="0" algn="just" rtl="0">
              <a:spcBef>
                <a:spcPts val="0"/>
              </a:spcBef>
              <a:spcAft>
                <a:spcPts val="0"/>
              </a:spcAft>
              <a:buClr>
                <a:schemeClr val="dk1"/>
              </a:buClr>
              <a:buSzPts val="1500"/>
              <a:buFont typeface="Noto Sans Symbols"/>
              <a:buNone/>
            </a:pPr>
            <a:r>
              <a:rPr lang="en-US" sz="20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20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5425" marR="0" lvl="1" indent="0" algn="just" rtl="0">
              <a:spcBef>
                <a:spcPts val="0"/>
              </a:spcBef>
              <a:spcAft>
                <a:spcPts val="0"/>
              </a:spcAft>
              <a:buClr>
                <a:schemeClr val="dk1"/>
              </a:buClr>
              <a:buSzPts val="1500"/>
              <a:buFont typeface="Noto Sans Symbols"/>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spcBef>
                <a:spcPts val="0"/>
              </a:spcBef>
              <a:spcAft>
                <a:spcPts val="0"/>
              </a:spcAft>
              <a:buClr>
                <a:schemeClr val="dk1"/>
              </a:buClr>
              <a:buSzPts val="1500"/>
              <a:buFont typeface="Calibri" panose="020F0502020204030204"/>
              <a:buNone/>
            </a:pPr>
            <a:endParaRPr sz="1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214966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488ECB-2CB5-BC12-AAB7-A41F72D4B1D0}"/>
              </a:ext>
            </a:extLst>
          </p:cNvPr>
          <p:cNvSpPr>
            <a:spLocks noGrp="1"/>
          </p:cNvSpPr>
          <p:nvPr>
            <p:ph type="body" idx="1"/>
          </p:nvPr>
        </p:nvSpPr>
        <p:spPr/>
        <p:txBody>
          <a:bodyPr>
            <a:normAutofit fontScale="47500" lnSpcReduction="20000"/>
          </a:bodyPr>
          <a:lstStyle/>
          <a:p>
            <a:pPr marL="114300" indent="0">
              <a:buNone/>
            </a:pPr>
            <a:r>
              <a:rPr lang="en-IN" b="1" dirty="0"/>
              <a:t>The Windows Exploitation Lifecycle</a:t>
            </a:r>
            <a:endParaRPr lang="en-IN" dirty="0"/>
          </a:p>
          <a:p>
            <a:pPr marL="114300" indent="0">
              <a:buNone/>
            </a:pPr>
            <a:r>
              <a:rPr lang="en-IN" dirty="0"/>
              <a:t>Successful exploitation follows a predictable methodology designed to maximize success while minimizing the risk of system instability.</a:t>
            </a:r>
          </a:p>
          <a:p>
            <a:pPr marL="114300" indent="0">
              <a:buNone/>
            </a:pPr>
            <a:r>
              <a:rPr lang="en-IN" b="1" dirty="0"/>
              <a:t>1. Reconnaissance and Enumeration</a:t>
            </a:r>
            <a:endParaRPr lang="en-IN" dirty="0"/>
          </a:p>
          <a:p>
            <a:r>
              <a:rPr lang="en-IN" dirty="0"/>
              <a:t>Before attempting an exploit, you must identify the target's operating system, service versions, and active vulnerabilities.</a:t>
            </a:r>
          </a:p>
          <a:p>
            <a:pPr lvl="0"/>
            <a:r>
              <a:rPr lang="en-IN" b="1" dirty="0"/>
              <a:t>Scanning:</a:t>
            </a:r>
            <a:r>
              <a:rPr lang="en-IN" dirty="0"/>
              <a:t> Using </a:t>
            </a:r>
            <a:r>
              <a:rPr lang="en-IN" dirty="0" err="1"/>
              <a:t>nmap</a:t>
            </a:r>
            <a:r>
              <a:rPr lang="en-IN" dirty="0"/>
              <a:t>, you identify open ports (e.g., 445 for SMB, 3389 for RDP, 80/443 for HTTP).</a:t>
            </a:r>
          </a:p>
          <a:p>
            <a:pPr lvl="0"/>
            <a:r>
              <a:rPr lang="en-IN" b="1" dirty="0"/>
              <a:t>Service Versioning:</a:t>
            </a:r>
            <a:r>
              <a:rPr lang="en-IN" dirty="0"/>
              <a:t> Identifying specific software versions (e.g., Apache 2.4.49, SMB v1) is critical because vulnerabilities are usually specific to those versions.</a:t>
            </a:r>
          </a:p>
          <a:p>
            <a:pPr lvl="0"/>
            <a:r>
              <a:rPr lang="en-IN" b="1" dirty="0"/>
              <a:t>Vulnerability Assessment:</a:t>
            </a:r>
            <a:r>
              <a:rPr lang="en-IN" dirty="0"/>
              <a:t> Tools like Nessus or Metasploit’s auxiliary/scanner/</a:t>
            </a:r>
            <a:r>
              <a:rPr lang="en-IN" dirty="0" err="1"/>
              <a:t>smb</a:t>
            </a:r>
            <a:r>
              <a:rPr lang="en-IN" dirty="0"/>
              <a:t>/</a:t>
            </a:r>
            <a:r>
              <a:rPr lang="en-IN" dirty="0" err="1"/>
              <a:t>smb_version</a:t>
            </a:r>
            <a:r>
              <a:rPr lang="en-IN" dirty="0"/>
              <a:t> are used to map these services to known CVEs.</a:t>
            </a:r>
          </a:p>
          <a:p>
            <a:pPr marL="114300" indent="0">
              <a:buNone/>
            </a:pPr>
            <a:r>
              <a:rPr lang="en-IN" b="1" dirty="0"/>
              <a:t>2. Selecting the Exploit and Payload</a:t>
            </a:r>
            <a:endParaRPr lang="en-IN" dirty="0"/>
          </a:p>
          <a:p>
            <a:r>
              <a:rPr lang="en-IN" dirty="0"/>
              <a:t>Once a vulnerability is found, the framework is used to select the matching module.</a:t>
            </a:r>
          </a:p>
          <a:p>
            <a:pPr lvl="0"/>
            <a:r>
              <a:rPr lang="en-IN" b="1" dirty="0"/>
              <a:t>Exploit:</a:t>
            </a:r>
            <a:r>
              <a:rPr lang="en-IN" dirty="0"/>
              <a:t> The module that targets the specific vulnerability (e.g., exploit/windows/</a:t>
            </a:r>
            <a:r>
              <a:rPr lang="en-IN" dirty="0" err="1"/>
              <a:t>smb</a:t>
            </a:r>
            <a:r>
              <a:rPr lang="en-IN" dirty="0"/>
              <a:t>/ms17_010_eternalblue).</a:t>
            </a:r>
          </a:p>
          <a:p>
            <a:pPr lvl="0"/>
            <a:r>
              <a:rPr lang="en-IN" b="1" dirty="0"/>
              <a:t>Payload:</a:t>
            </a:r>
            <a:r>
              <a:rPr lang="en-IN" dirty="0"/>
              <a:t> The "agent" delivered to the target. For Windows, </a:t>
            </a:r>
            <a:r>
              <a:rPr lang="en-IN" b="1" dirty="0"/>
              <a:t>Meterpreter</a:t>
            </a:r>
            <a:r>
              <a:rPr lang="en-IN" dirty="0"/>
              <a:t> is the industry standard. It is an advanced, dynamically extensible payload that resides in memory, allowing for stealthier operation than a standard command shell.</a:t>
            </a:r>
          </a:p>
          <a:p>
            <a:endParaRPr lang="en-IN" dirty="0"/>
          </a:p>
        </p:txBody>
      </p:sp>
      <p:sp>
        <p:nvSpPr>
          <p:cNvPr id="5" name="Google Shape;145;p20">
            <a:extLst>
              <a:ext uri="{FF2B5EF4-FFF2-40B4-BE49-F238E27FC236}">
                <a16:creationId xmlns:a16="http://schemas.microsoft.com/office/drawing/2014/main" id="{AD2060AB-689F-4382-1F2F-05AD77E0DCD6}"/>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lvl="0" algn="ctr"/>
            <a:r>
              <a:rPr lang="en-IN" dirty="0">
                <a:solidFill>
                  <a:schemeClr val="bg1"/>
                </a:solidFill>
              </a:rPr>
              <a:t>Exploiting a Windows machine</a:t>
            </a:r>
            <a:endParaRPr lang="en-US" sz="2400" b="1" i="0" u="none" strike="noStrike" cap="none" dirty="0">
              <a:solidFill>
                <a:schemeClr val="bg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533860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52E25B-39C3-2180-D163-F6BCDDD7BB71}"/>
              </a:ext>
            </a:extLst>
          </p:cNvPr>
          <p:cNvSpPr>
            <a:spLocks noGrp="1"/>
          </p:cNvSpPr>
          <p:nvPr>
            <p:ph type="body" idx="1"/>
          </p:nvPr>
        </p:nvSpPr>
        <p:spPr/>
        <p:txBody>
          <a:bodyPr>
            <a:normAutofit fontScale="55000" lnSpcReduction="20000"/>
          </a:bodyPr>
          <a:lstStyle/>
          <a:p>
            <a:pPr marL="114300" indent="0">
              <a:buNone/>
            </a:pPr>
            <a:r>
              <a:rPr lang="en-IN" b="1" dirty="0"/>
              <a:t>3. Configuration and Delivery</a:t>
            </a:r>
            <a:endParaRPr lang="en-IN" dirty="0"/>
          </a:p>
          <a:p>
            <a:r>
              <a:rPr lang="en-IN" dirty="0"/>
              <a:t>You must configure the module to ensure the connection works:</a:t>
            </a:r>
          </a:p>
          <a:p>
            <a:pPr lvl="0"/>
            <a:r>
              <a:rPr lang="en-IN" dirty="0"/>
              <a:t>RHOSTS: The target IP.</a:t>
            </a:r>
          </a:p>
          <a:p>
            <a:pPr lvl="0"/>
            <a:r>
              <a:rPr lang="en-IN" dirty="0"/>
              <a:t>LHOST: The listener IP (your machine).</a:t>
            </a:r>
          </a:p>
          <a:p>
            <a:pPr lvl="0"/>
            <a:r>
              <a:rPr lang="en-IN" dirty="0"/>
              <a:t>PAYLOAD: Typically windows/x64/</a:t>
            </a:r>
            <a:r>
              <a:rPr lang="en-IN" dirty="0" err="1"/>
              <a:t>meterpreter</a:t>
            </a:r>
            <a:r>
              <a:rPr lang="en-IN" dirty="0"/>
              <a:t>/</a:t>
            </a:r>
            <a:r>
              <a:rPr lang="en-IN" dirty="0" err="1"/>
              <a:t>reverse_tcp</a:t>
            </a:r>
            <a:r>
              <a:rPr lang="en-IN" dirty="0"/>
              <a:t>.</a:t>
            </a:r>
          </a:p>
          <a:p>
            <a:pPr marL="114300" indent="0">
              <a:buNone/>
            </a:pPr>
            <a:r>
              <a:rPr lang="en-IN" b="1" dirty="0"/>
              <a:t>4. Post-Exploitation</a:t>
            </a:r>
            <a:endParaRPr lang="en-IN" dirty="0"/>
          </a:p>
          <a:p>
            <a:r>
              <a:rPr lang="en-IN" dirty="0"/>
              <a:t>Once the exploit triggers and the Meterpreter session is established, the focus shifts to post-exploitation, which is often the most critical phase for a tester:</a:t>
            </a:r>
          </a:p>
          <a:p>
            <a:pPr lvl="0"/>
            <a:r>
              <a:rPr lang="en-IN" b="1" dirty="0"/>
              <a:t>Privilege Escalation:</a:t>
            </a:r>
            <a:r>
              <a:rPr lang="en-IN" dirty="0"/>
              <a:t> If you land as a low-privileged user, you attempt to escalate to SYSTEM using modules like exploit/windows/local/</a:t>
            </a:r>
            <a:r>
              <a:rPr lang="en-IN" dirty="0" err="1"/>
              <a:t>bypassuac_eventvwr</a:t>
            </a:r>
            <a:r>
              <a:rPr lang="en-IN" dirty="0"/>
              <a:t>.</a:t>
            </a:r>
          </a:p>
          <a:p>
            <a:pPr lvl="0"/>
            <a:r>
              <a:rPr lang="en-IN" b="1" dirty="0"/>
              <a:t>Credential Dumping:</a:t>
            </a:r>
            <a:r>
              <a:rPr lang="en-IN" dirty="0"/>
              <a:t> Using the kiwi (</a:t>
            </a:r>
            <a:r>
              <a:rPr lang="en-IN" dirty="0" err="1"/>
              <a:t>Mimikatz</a:t>
            </a:r>
            <a:r>
              <a:rPr lang="en-IN" dirty="0"/>
              <a:t>) extension to extract plaintext passwords or NTLM hashes from memory.</a:t>
            </a:r>
          </a:p>
          <a:p>
            <a:pPr lvl="0"/>
            <a:r>
              <a:rPr lang="en-IN" b="1" dirty="0"/>
              <a:t>Persistence:</a:t>
            </a:r>
            <a:r>
              <a:rPr lang="en-IN" dirty="0"/>
              <a:t> Installing a backdoor (like a registry run key or a scheduled task) to ensure the session remains active even after a reboot.</a:t>
            </a:r>
          </a:p>
          <a:p>
            <a:endParaRPr lang="en-IN" sz="2000" dirty="0"/>
          </a:p>
          <a:p>
            <a:endParaRPr lang="en-IN" dirty="0"/>
          </a:p>
        </p:txBody>
      </p:sp>
      <p:sp>
        <p:nvSpPr>
          <p:cNvPr id="4" name="Google Shape;152;p21">
            <a:extLst>
              <a:ext uri="{FF2B5EF4-FFF2-40B4-BE49-F238E27FC236}">
                <a16:creationId xmlns:a16="http://schemas.microsoft.com/office/drawing/2014/main" id="{D47D34EA-E40F-DBB6-4543-F5FF0902B124}"/>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endParaRPr sz="2400" b="1"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1157672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A93071-DD00-DF3D-A00C-772684C4C99D}"/>
              </a:ext>
            </a:extLst>
          </p:cNvPr>
          <p:cNvSpPr>
            <a:spLocks noGrp="1"/>
          </p:cNvSpPr>
          <p:nvPr>
            <p:ph type="body" idx="1"/>
          </p:nvPr>
        </p:nvSpPr>
        <p:spPr/>
        <p:txBody>
          <a:bodyPr>
            <a:normAutofit fontScale="70000" lnSpcReduction="20000"/>
          </a:bodyPr>
          <a:lstStyle/>
          <a:p>
            <a:pPr marL="114300" indent="0">
              <a:buNone/>
            </a:pPr>
            <a:r>
              <a:rPr lang="en-IN" b="1" dirty="0"/>
              <a:t>Conceptual Architecture of Windows Exploitation</a:t>
            </a:r>
            <a:endParaRPr lang="en-IN" dirty="0"/>
          </a:p>
          <a:p>
            <a:pPr marL="114300" indent="0">
              <a:buNone/>
            </a:pPr>
            <a:r>
              <a:rPr lang="en-IN" b="1" dirty="0"/>
              <a:t>Critical Considerations</a:t>
            </a:r>
            <a:endParaRPr lang="en-IN" dirty="0"/>
          </a:p>
          <a:p>
            <a:pPr lvl="0"/>
            <a:r>
              <a:rPr lang="en-IN" b="1" dirty="0"/>
              <a:t>Memory Injection:</a:t>
            </a:r>
            <a:r>
              <a:rPr lang="en-IN" dirty="0"/>
              <a:t> Meterpreter payloads are designed to be fileless. They inject into legitimate system processes (like svchost.exe or explorer.exe). This avoids leaving a binary footprint on the hard drive, though modern EDR (Endpoint Detection and Response) solutions monitor for these specific memory-injection patterns.</a:t>
            </a:r>
          </a:p>
          <a:p>
            <a:pPr lvl="0"/>
            <a:r>
              <a:rPr lang="en-IN" b="1" dirty="0"/>
              <a:t>Stability:</a:t>
            </a:r>
            <a:r>
              <a:rPr lang="en-IN" dirty="0"/>
              <a:t> Windows systems are prone to "Blue Screen of Death" (BSOD) if an exploit fails or if the wrong process is targeted. Professionals always verify the "reliability" rating of an exploit in Metasploit before running it.</a:t>
            </a:r>
          </a:p>
          <a:p>
            <a:pPr lvl="0"/>
            <a:r>
              <a:rPr lang="en-IN" b="1" dirty="0"/>
              <a:t>Architecture Matching:</a:t>
            </a:r>
            <a:r>
              <a:rPr lang="en-IN" dirty="0"/>
              <a:t> Always ensure the payload architecture (x86 vs x64) matches the target. Mismatched architectures will result in immediate session failure.</a:t>
            </a:r>
          </a:p>
          <a:p>
            <a:pPr marL="0" lvl="0" indent="0" algn="just">
              <a:spcBef>
                <a:spcPts val="0"/>
              </a:spcBef>
              <a:buNone/>
            </a:pPr>
            <a:endParaRPr lang="en-US" sz="2000" dirty="0">
              <a:latin typeface="Arial" panose="020B0604020202020204"/>
              <a:ea typeface="Arial" panose="020B0604020202020204"/>
              <a:cs typeface="Arial" panose="020B0604020202020204"/>
              <a:sym typeface="Arial" panose="020B0604020202020204"/>
            </a:endParaRPr>
          </a:p>
          <a:p>
            <a:pPr marL="568325" lvl="1" indent="-247650" algn="just">
              <a:spcBef>
                <a:spcPts val="0"/>
              </a:spcBef>
              <a:buSzPts val="1500"/>
              <a:buNone/>
            </a:pPr>
            <a:endParaRPr lang="en-US" sz="1500" dirty="0"/>
          </a:p>
          <a:p>
            <a:endParaRPr lang="en-IN" dirty="0"/>
          </a:p>
        </p:txBody>
      </p:sp>
      <p:sp>
        <p:nvSpPr>
          <p:cNvPr id="4" name="Google Shape;167;p23">
            <a:extLst>
              <a:ext uri="{FF2B5EF4-FFF2-40B4-BE49-F238E27FC236}">
                <a16:creationId xmlns:a16="http://schemas.microsoft.com/office/drawing/2014/main" id="{1020238C-F644-83AA-B257-B8C5E847ADF0}"/>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4206152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71B675-F78C-6BAB-B2D6-153E68F1D645}"/>
              </a:ext>
            </a:extLst>
          </p:cNvPr>
          <p:cNvSpPr>
            <a:spLocks noGrp="1"/>
          </p:cNvSpPr>
          <p:nvPr>
            <p:ph type="body" idx="1"/>
          </p:nvPr>
        </p:nvSpPr>
        <p:spPr/>
        <p:txBody>
          <a:bodyPr>
            <a:normAutofit fontScale="77500" lnSpcReduction="20000"/>
          </a:bodyPr>
          <a:lstStyle/>
          <a:p>
            <a:pPr marL="114300" indent="0">
              <a:buNone/>
            </a:pPr>
            <a:r>
              <a:rPr lang="en-IN" b="1" dirty="0"/>
              <a:t>Defensive Posture</a:t>
            </a:r>
            <a:endParaRPr lang="en-IN" dirty="0"/>
          </a:p>
          <a:p>
            <a:pPr marL="114300" indent="0">
              <a:buNone/>
            </a:pPr>
            <a:r>
              <a:rPr lang="en-IN" dirty="0"/>
              <a:t>Defending against these techniques requires a layered security approach:</a:t>
            </a:r>
          </a:p>
          <a:p>
            <a:pPr lvl="0"/>
            <a:r>
              <a:rPr lang="en-IN" b="1" dirty="0"/>
              <a:t>Patch Management:</a:t>
            </a:r>
            <a:r>
              <a:rPr lang="en-IN" dirty="0"/>
              <a:t> The vast majority of Windows exploits target known vulnerabilities that have existing patches.</a:t>
            </a:r>
          </a:p>
          <a:p>
            <a:pPr lvl="0"/>
            <a:r>
              <a:rPr lang="en-IN" b="1" dirty="0"/>
              <a:t>Endpoint Detection and Response (EDR):</a:t>
            </a:r>
            <a:r>
              <a:rPr lang="en-IN" dirty="0"/>
              <a:t> Deploying EDR tools that monitor for cross-process memory manipulation, which is a hallmark of Meterpreter.</a:t>
            </a:r>
          </a:p>
          <a:p>
            <a:pPr lvl="0"/>
            <a:r>
              <a:rPr lang="en-IN" b="1" dirty="0"/>
              <a:t>Network Segmentation:</a:t>
            </a:r>
            <a:r>
              <a:rPr lang="en-IN" dirty="0"/>
              <a:t> Preventing lateral movement by restricting communication between workstations.</a:t>
            </a:r>
          </a:p>
          <a:p>
            <a:pPr lvl="0"/>
            <a:r>
              <a:rPr lang="en-IN" b="1" dirty="0"/>
              <a:t>Credential Hardening:</a:t>
            </a:r>
            <a:r>
              <a:rPr lang="en-IN" dirty="0"/>
              <a:t> Disabling features like </a:t>
            </a:r>
            <a:r>
              <a:rPr lang="en-IN" dirty="0" err="1"/>
              <a:t>WDigest</a:t>
            </a:r>
            <a:r>
              <a:rPr lang="en-IN" dirty="0"/>
              <a:t> or using LAPS (Local Administrator Password Solution) to prevent easy extraction of credentials from memory.</a:t>
            </a:r>
          </a:p>
          <a:p>
            <a:endParaRPr lang="en-IN" dirty="0"/>
          </a:p>
        </p:txBody>
      </p:sp>
      <p:sp>
        <p:nvSpPr>
          <p:cNvPr id="4" name="Google Shape;174;p24">
            <a:extLst>
              <a:ext uri="{FF2B5EF4-FFF2-40B4-BE49-F238E27FC236}">
                <a16:creationId xmlns:a16="http://schemas.microsoft.com/office/drawing/2014/main" id="{6BDF52ED-8A6C-DC9C-20E0-FEF8986D060D}"/>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278684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D2D264-B888-2D51-7ABE-F0E5C8E46D81}"/>
              </a:ext>
            </a:extLst>
          </p:cNvPr>
          <p:cNvSpPr>
            <a:spLocks noGrp="1"/>
          </p:cNvSpPr>
          <p:nvPr>
            <p:ph type="body" idx="1"/>
          </p:nvPr>
        </p:nvSpPr>
        <p:spPr/>
        <p:txBody>
          <a:bodyPr>
            <a:normAutofit fontScale="70000" lnSpcReduction="20000"/>
          </a:bodyPr>
          <a:lstStyle/>
          <a:p>
            <a:pPr marL="114300" indent="0">
              <a:buNone/>
            </a:pPr>
            <a:r>
              <a:rPr lang="en-IN" b="1" dirty="0"/>
              <a:t>The Anatomy of Service Exploitation</a:t>
            </a:r>
            <a:endParaRPr lang="en-IN" dirty="0"/>
          </a:p>
          <a:p>
            <a:pPr marL="114300" indent="0">
              <a:buNone/>
            </a:pPr>
            <a:r>
              <a:rPr lang="en-IN" dirty="0"/>
              <a:t>Exploitation does not happen in a vacuum. It follows a structured lifecycle to ensure the tester understands </a:t>
            </a:r>
            <a:r>
              <a:rPr lang="en-IN" i="1" dirty="0"/>
              <a:t>why</a:t>
            </a:r>
            <a:r>
              <a:rPr lang="en-IN" dirty="0"/>
              <a:t> a system is vulnerable before attempting to interact with it.</a:t>
            </a:r>
          </a:p>
          <a:p>
            <a:pPr marL="114300" indent="0">
              <a:buNone/>
            </a:pPr>
            <a:r>
              <a:rPr lang="en-IN" b="1" dirty="0"/>
              <a:t>1. Enumeration and Banner Grabbing</a:t>
            </a:r>
            <a:endParaRPr lang="en-IN" dirty="0"/>
          </a:p>
          <a:p>
            <a:r>
              <a:rPr lang="en-IN" dirty="0"/>
              <a:t>Before any exploit is launched, you must confirm what is running.</a:t>
            </a:r>
          </a:p>
          <a:p>
            <a:pPr lvl="0"/>
            <a:r>
              <a:rPr lang="en-IN" b="1" dirty="0"/>
              <a:t>Port Scanning:</a:t>
            </a:r>
            <a:r>
              <a:rPr lang="en-IN" dirty="0"/>
              <a:t> Using tools like </a:t>
            </a:r>
            <a:r>
              <a:rPr lang="en-IN" dirty="0" err="1"/>
              <a:t>nmap</a:t>
            </a:r>
            <a:r>
              <a:rPr lang="en-IN" dirty="0"/>
              <a:t>, you identify which ports are open (e.g., 21 for FTP, 22 for SSH, 445 for SMB).</a:t>
            </a:r>
          </a:p>
          <a:p>
            <a:pPr lvl="0"/>
            <a:r>
              <a:rPr lang="en-IN" b="1" dirty="0"/>
              <a:t>Service Versioning:</a:t>
            </a:r>
            <a:r>
              <a:rPr lang="en-IN" dirty="0"/>
              <a:t> Services often send a "banner" when connected to, revealing the software and version. </a:t>
            </a:r>
          </a:p>
          <a:p>
            <a:pPr lvl="0"/>
            <a:r>
              <a:rPr lang="en-IN" b="1" dirty="0"/>
              <a:t>Vulnerability Mapping:</a:t>
            </a:r>
            <a:r>
              <a:rPr lang="en-IN" dirty="0"/>
              <a:t> Once the version is identified, you check it against databases (like the National Vulnerability Database) to find known vulnerabilities (CVEs) or common misconfigurations (like default credentials).</a:t>
            </a:r>
          </a:p>
        </p:txBody>
      </p:sp>
      <p:sp>
        <p:nvSpPr>
          <p:cNvPr id="4" name="Google Shape;182;p25">
            <a:extLst>
              <a:ext uri="{FF2B5EF4-FFF2-40B4-BE49-F238E27FC236}">
                <a16:creationId xmlns:a16="http://schemas.microsoft.com/office/drawing/2014/main" id="{4B5C4162-25D8-1834-7C68-67548A16FE4C}"/>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lvl="0" algn="ctr"/>
            <a:r>
              <a:rPr lang="en-IN" sz="3600" dirty="0">
                <a:solidFill>
                  <a:schemeClr val="bg1"/>
                </a:solidFill>
              </a:rPr>
              <a:t>Exploiting common network services </a:t>
            </a:r>
            <a:endParaRPr lang="en-US" sz="3600" b="1" i="0" u="none" strike="noStrike" cap="none" dirty="0">
              <a:solidFill>
                <a:schemeClr val="bg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014059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6F2F85-DED2-22DF-7116-B611E7676E36}"/>
              </a:ext>
            </a:extLst>
          </p:cNvPr>
          <p:cNvSpPr>
            <a:spLocks noGrp="1"/>
          </p:cNvSpPr>
          <p:nvPr>
            <p:ph type="body" idx="1"/>
          </p:nvPr>
        </p:nvSpPr>
        <p:spPr/>
        <p:txBody>
          <a:bodyPr/>
          <a:lstStyle/>
          <a:p>
            <a:pPr>
              <a:buNone/>
            </a:pPr>
            <a:r>
              <a:rPr lang="en-IN" sz="2000" b="1" dirty="0">
                <a:latin typeface="Times New Roman" panose="02020603050405020304" pitchFamily="18" charset="0"/>
                <a:ea typeface="Times New Roman" panose="02020603050405020304" pitchFamily="18" charset="0"/>
              </a:rPr>
              <a:t>2. Common Exploitation Vectors</a:t>
            </a:r>
            <a:endParaRPr lang="en-IN" sz="2000" dirty="0">
              <a:latin typeface="Times New Roman" panose="02020603050405020304" pitchFamily="18" charset="0"/>
              <a:ea typeface="Times New Roman" panose="02020603050405020304" pitchFamily="18" charset="0"/>
            </a:endParaRPr>
          </a:p>
          <a:p>
            <a:pPr>
              <a:buNone/>
            </a:pPr>
            <a:r>
              <a:rPr lang="en-IN" sz="2000" dirty="0">
                <a:latin typeface="Times New Roman" panose="02020603050405020304" pitchFamily="18" charset="0"/>
                <a:ea typeface="Times New Roman" panose="02020603050405020304" pitchFamily="18" charset="0"/>
              </a:rPr>
              <a:t>Vulnerabilities in these services generally fall into three categories:</a:t>
            </a:r>
          </a:p>
          <a:p>
            <a:endParaRPr lang="en-IN" dirty="0"/>
          </a:p>
        </p:txBody>
      </p:sp>
      <p:sp>
        <p:nvSpPr>
          <p:cNvPr id="4" name="Google Shape;189;p26">
            <a:extLst>
              <a:ext uri="{FF2B5EF4-FFF2-40B4-BE49-F238E27FC236}">
                <a16:creationId xmlns:a16="http://schemas.microsoft.com/office/drawing/2014/main" id="{8F43467B-69AE-7CD9-98DE-4AF712E434A1}"/>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graphicFrame>
        <p:nvGraphicFramePr>
          <p:cNvPr id="2" name="Table 1">
            <a:extLst>
              <a:ext uri="{FF2B5EF4-FFF2-40B4-BE49-F238E27FC236}">
                <a16:creationId xmlns:a16="http://schemas.microsoft.com/office/drawing/2014/main" id="{C071B194-C0C1-0345-07D9-7AAD80A034D5}"/>
              </a:ext>
            </a:extLst>
          </p:cNvPr>
          <p:cNvGraphicFramePr>
            <a:graphicFrameLocks noGrp="1"/>
          </p:cNvGraphicFramePr>
          <p:nvPr/>
        </p:nvGraphicFramePr>
        <p:xfrm>
          <a:off x="628650" y="3443795"/>
          <a:ext cx="7886700" cy="1706372"/>
        </p:xfrm>
        <a:graphic>
          <a:graphicData uri="http://schemas.openxmlformats.org/drawingml/2006/table">
            <a:tbl>
              <a:tblPr firstRow="1" firstCol="1" bandRow="1">
                <a:tableStyleId>{D3BA4600-CF29-4966-8986-3B1AA4679568}</a:tableStyleId>
              </a:tblPr>
              <a:tblGrid>
                <a:gridCol w="2628900">
                  <a:extLst>
                    <a:ext uri="{9D8B030D-6E8A-4147-A177-3AD203B41FA5}">
                      <a16:colId xmlns:a16="http://schemas.microsoft.com/office/drawing/2014/main" val="3995995236"/>
                    </a:ext>
                  </a:extLst>
                </a:gridCol>
                <a:gridCol w="2628900">
                  <a:extLst>
                    <a:ext uri="{9D8B030D-6E8A-4147-A177-3AD203B41FA5}">
                      <a16:colId xmlns:a16="http://schemas.microsoft.com/office/drawing/2014/main" val="908113767"/>
                    </a:ext>
                  </a:extLst>
                </a:gridCol>
                <a:gridCol w="2628900">
                  <a:extLst>
                    <a:ext uri="{9D8B030D-6E8A-4147-A177-3AD203B41FA5}">
                      <a16:colId xmlns:a16="http://schemas.microsoft.com/office/drawing/2014/main" val="4107638517"/>
                    </a:ext>
                  </a:extLst>
                </a:gridCol>
              </a:tblGrid>
              <a:tr h="0">
                <a:tc>
                  <a:txBody>
                    <a:bodyPr/>
                    <a:lstStyle/>
                    <a:p>
                      <a:pPr>
                        <a:lnSpc>
                          <a:spcPct val="107000"/>
                        </a:lnSpc>
                        <a:buNone/>
                      </a:pPr>
                      <a:r>
                        <a:rPr lang="en-IN" sz="1000">
                          <a:effectLst/>
                        </a:rPr>
                        <a:t>Category</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Description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Example</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1410460842"/>
                  </a:ext>
                </a:extLst>
              </a:tr>
              <a:tr h="0">
                <a:tc>
                  <a:txBody>
                    <a:bodyPr/>
                    <a:lstStyle/>
                    <a:p>
                      <a:pPr>
                        <a:lnSpc>
                          <a:spcPct val="107000"/>
                        </a:lnSpc>
                        <a:buNone/>
                      </a:pPr>
                      <a:r>
                        <a:rPr lang="en-IN" sz="1000">
                          <a:effectLst/>
                        </a:rPr>
                        <a:t>Authentication Issues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Weak, default, or missing credentials.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Brute-forcing an FTP server using common default passwords.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3655851586"/>
                  </a:ext>
                </a:extLst>
              </a:tr>
              <a:tr h="0">
                <a:tc>
                  <a:txBody>
                    <a:bodyPr/>
                    <a:lstStyle/>
                    <a:p>
                      <a:pPr>
                        <a:lnSpc>
                          <a:spcPct val="107000"/>
                        </a:lnSpc>
                        <a:buNone/>
                      </a:pPr>
                      <a:r>
                        <a:rPr lang="en-IN" sz="1000">
                          <a:effectLst/>
                        </a:rPr>
                        <a:t>Software Vulnerabilities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Unpatched bugs in the service code.</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Exploiting a buffer overflow in an outdated SMB service version.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3517815641"/>
                  </a:ext>
                </a:extLst>
              </a:tr>
              <a:tr h="0">
                <a:tc>
                  <a:txBody>
                    <a:bodyPr/>
                    <a:lstStyle/>
                    <a:p>
                      <a:pPr>
                        <a:lnSpc>
                          <a:spcPct val="107000"/>
                        </a:lnSpc>
                        <a:buNone/>
                      </a:pPr>
                      <a:r>
                        <a:rPr lang="en-IN" sz="1000">
                          <a:effectLst/>
                        </a:rPr>
                        <a:t>Misconfigurations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a:effectLst/>
                        </a:rPr>
                        <a:t>Insecure settings enabled by default.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tc>
                  <a:txBody>
                    <a:bodyPr/>
                    <a:lstStyle/>
                    <a:p>
                      <a:pPr>
                        <a:lnSpc>
                          <a:spcPct val="107000"/>
                        </a:lnSpc>
                        <a:buNone/>
                      </a:pPr>
                      <a:r>
                        <a:rPr lang="en-IN" sz="1000" dirty="0">
                          <a:effectLst/>
                        </a:rPr>
                        <a:t>Allowing "Anonymous" login on an FTP share or enabling "Null Sessions" on SMB.</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14300" marR="114300" marT="76200" marB="76200" anchor="ctr"/>
                </a:tc>
                <a:extLst>
                  <a:ext uri="{0D108BD9-81ED-4DB2-BD59-A6C34878D82A}">
                    <a16:rowId xmlns:a16="http://schemas.microsoft.com/office/drawing/2014/main" val="2389291494"/>
                  </a:ext>
                </a:extLst>
              </a:tr>
            </a:tbl>
          </a:graphicData>
        </a:graphic>
      </p:graphicFrame>
    </p:spTree>
    <p:extLst>
      <p:ext uri="{BB962C8B-B14F-4D97-AF65-F5344CB8AC3E}">
        <p14:creationId xmlns:p14="http://schemas.microsoft.com/office/powerpoint/2010/main" val="3774228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1F36E74-F76A-AF45-B4B5-42545CC66AF1}"/>
              </a:ext>
            </a:extLst>
          </p:cNvPr>
          <p:cNvSpPr>
            <a:spLocks noGrp="1"/>
          </p:cNvSpPr>
          <p:nvPr>
            <p:ph type="body" idx="1"/>
          </p:nvPr>
        </p:nvSpPr>
        <p:spPr/>
        <p:txBody>
          <a:bodyPr>
            <a:normAutofit fontScale="40000" lnSpcReduction="20000"/>
          </a:bodyPr>
          <a:lstStyle/>
          <a:p>
            <a:pPr marL="114300" indent="0">
              <a:buNone/>
            </a:pPr>
            <a:r>
              <a:rPr lang="en-IN" b="1" dirty="0"/>
              <a:t>Understanding the Mechanism: Three Common Examples</a:t>
            </a:r>
            <a:endParaRPr lang="en-IN" dirty="0"/>
          </a:p>
          <a:p>
            <a:pPr marL="114300" indent="0">
              <a:buNone/>
            </a:pPr>
            <a:r>
              <a:rPr lang="en-IN" b="1" dirty="0"/>
              <a:t>SMB (Server Message Block - Port 445)</a:t>
            </a:r>
            <a:endParaRPr lang="en-IN" dirty="0"/>
          </a:p>
          <a:p>
            <a:r>
              <a:rPr lang="en-IN" dirty="0"/>
              <a:t>SMB is a primary target due to its complexity. </a:t>
            </a:r>
          </a:p>
          <a:p>
            <a:pPr lvl="0"/>
            <a:r>
              <a:rPr lang="en-IN" b="1" dirty="0"/>
              <a:t>The Risk:</a:t>
            </a:r>
            <a:r>
              <a:rPr lang="en-IN" dirty="0"/>
              <a:t> Misconfigurations (like SMB signing disabled) or critical remote code execution (RCE) flaws like MS17-010 (</a:t>
            </a:r>
            <a:r>
              <a:rPr lang="en-IN" dirty="0" err="1"/>
              <a:t>EternalBlue</a:t>
            </a:r>
            <a:r>
              <a:rPr lang="en-IN" dirty="0"/>
              <a:t>).</a:t>
            </a:r>
          </a:p>
          <a:p>
            <a:pPr lvl="0"/>
            <a:r>
              <a:rPr lang="en-IN" b="1" dirty="0"/>
              <a:t>The Exploit:</a:t>
            </a:r>
            <a:r>
              <a:rPr lang="en-IN" dirty="0"/>
              <a:t> An attacker sends specially crafted packets to the SMB service, triggering memory corruption that allows them to execute arbitrary commands, often with SYSTEM level privileges.</a:t>
            </a:r>
          </a:p>
          <a:p>
            <a:pPr marL="114300" indent="0">
              <a:buNone/>
            </a:pPr>
            <a:r>
              <a:rPr lang="en-IN" b="1" dirty="0"/>
              <a:t>FTP (File Transfer Protocol - Port 21)</a:t>
            </a:r>
            <a:endParaRPr lang="en-IN" dirty="0"/>
          </a:p>
          <a:p>
            <a:r>
              <a:rPr lang="en-IN" dirty="0"/>
              <a:t>FTP is often exploited due to its legacy design. </a:t>
            </a:r>
          </a:p>
          <a:p>
            <a:pPr lvl="0"/>
            <a:r>
              <a:rPr lang="en-IN" b="1" dirty="0"/>
              <a:t>The Risk:</a:t>
            </a:r>
            <a:r>
              <a:rPr lang="en-IN" dirty="0"/>
              <a:t> Many FTP implementations support cleartext authentication or anonymous access. </a:t>
            </a:r>
          </a:p>
          <a:p>
            <a:pPr lvl="0"/>
            <a:r>
              <a:rPr lang="en-IN" b="1" dirty="0"/>
              <a:t>The Exploit:</a:t>
            </a:r>
            <a:r>
              <a:rPr lang="en-IN" dirty="0"/>
              <a:t> If authentication is not encrypted, traffic can be intercepted via a Man-in-the-Middle (MitM) attack. If anonymous access is enabled, it may allow unauthorized file uploads/downloads, potentially leading to the placement of malicious files (like backdoors) on the server. </a:t>
            </a:r>
          </a:p>
          <a:p>
            <a:pPr marL="114300" indent="0">
              <a:buNone/>
            </a:pPr>
            <a:r>
              <a:rPr lang="en-IN" b="1" dirty="0"/>
              <a:t>SSH (Secure Shell - Port 22)</a:t>
            </a:r>
            <a:endParaRPr lang="en-IN" dirty="0"/>
          </a:p>
          <a:p>
            <a:r>
              <a:rPr lang="en-IN" dirty="0"/>
              <a:t>SSH is generally secure, but it is a frequent target for credential-based attacks.</a:t>
            </a:r>
          </a:p>
          <a:p>
            <a:pPr lvl="0"/>
            <a:r>
              <a:rPr lang="en-IN" b="1" dirty="0"/>
              <a:t>The Risk:</a:t>
            </a:r>
            <a:r>
              <a:rPr lang="en-IN" dirty="0"/>
              <a:t> Brute-force attacks or the use of stolen private keys. </a:t>
            </a:r>
          </a:p>
          <a:p>
            <a:pPr lvl="0"/>
            <a:r>
              <a:rPr lang="en-IN" b="1" dirty="0"/>
              <a:t>The Exploit:</a:t>
            </a:r>
            <a:r>
              <a:rPr lang="en-IN" dirty="0"/>
              <a:t> If the service is exposed to the internet, automated bots will constantly attempt to log in using dictionary lists of common passwords. If successful, the attacker gains a command-line interface. </a:t>
            </a:r>
          </a:p>
          <a:p>
            <a:endParaRPr lang="en-IN" sz="2000" dirty="0"/>
          </a:p>
        </p:txBody>
      </p:sp>
      <p:sp>
        <p:nvSpPr>
          <p:cNvPr id="4" name="Google Shape;197;p27">
            <a:extLst>
              <a:ext uri="{FF2B5EF4-FFF2-40B4-BE49-F238E27FC236}">
                <a16:creationId xmlns:a16="http://schemas.microsoft.com/office/drawing/2014/main" id="{2C66A2F3-A090-A47F-53A6-6BF23F5F951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1379878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C555F8-6942-EE51-9971-71F4E1358E91}"/>
              </a:ext>
            </a:extLst>
          </p:cNvPr>
          <p:cNvSpPr>
            <a:spLocks noGrp="1"/>
          </p:cNvSpPr>
          <p:nvPr>
            <p:ph type="body" idx="1"/>
          </p:nvPr>
        </p:nvSpPr>
        <p:spPr/>
        <p:txBody>
          <a:bodyPr>
            <a:normAutofit fontScale="70000" lnSpcReduction="20000"/>
          </a:bodyPr>
          <a:lstStyle/>
          <a:p>
            <a:pPr marL="114300" indent="0">
              <a:buNone/>
            </a:pPr>
            <a:r>
              <a:rPr lang="en-IN" b="1" dirty="0"/>
              <a:t>Defensive Countermeasures</a:t>
            </a:r>
            <a:endParaRPr lang="en-IN" dirty="0"/>
          </a:p>
          <a:p>
            <a:pPr marL="114300" indent="0">
              <a:buNone/>
            </a:pPr>
            <a:r>
              <a:rPr lang="en-IN" dirty="0"/>
              <a:t>The goal of penetration testing is to help organizations build better defences. Identifying these service-level risks leads to the implementation of the following: </a:t>
            </a:r>
          </a:p>
          <a:p>
            <a:pPr lvl="0"/>
            <a:r>
              <a:rPr lang="en-IN" b="1" dirty="0"/>
              <a:t>Patch Management:</a:t>
            </a:r>
            <a:r>
              <a:rPr lang="en-IN" dirty="0"/>
              <a:t> The single most effective </a:t>
            </a:r>
            <a:r>
              <a:rPr lang="en-IN" dirty="0" err="1"/>
              <a:t>defense</a:t>
            </a:r>
            <a:r>
              <a:rPr lang="en-IN" dirty="0"/>
              <a:t> against software-based service exploits.</a:t>
            </a:r>
          </a:p>
          <a:p>
            <a:pPr lvl="0"/>
            <a:r>
              <a:rPr lang="en-IN" b="1" dirty="0"/>
              <a:t>Least Privilege:</a:t>
            </a:r>
            <a:r>
              <a:rPr lang="en-IN" dirty="0"/>
              <a:t> Ensuring services run with the minimum necessary permissions so that if the service is compromised, the damage is contained.</a:t>
            </a:r>
          </a:p>
          <a:p>
            <a:pPr lvl="0"/>
            <a:r>
              <a:rPr lang="en-IN" b="1" dirty="0"/>
              <a:t>Network Segmentation:</a:t>
            </a:r>
            <a:r>
              <a:rPr lang="en-IN" dirty="0"/>
              <a:t> Placing sensitive services (like database servers) in restricted network segments so they cannot be accessed directly from the internet or unauthorized internal zones.</a:t>
            </a:r>
          </a:p>
          <a:p>
            <a:pPr lvl="0"/>
            <a:r>
              <a:rPr lang="en-IN" b="1" dirty="0"/>
              <a:t>Hardening:</a:t>
            </a:r>
            <a:r>
              <a:rPr lang="en-IN" dirty="0"/>
              <a:t> Disabling unnecessary features (e.g., anonymous FTP, guest accounts) and changing default configurations (e.g., changing default ports, enforcing strong password policies, and requiring MFA).</a:t>
            </a:r>
          </a:p>
          <a:p>
            <a:endParaRPr lang="en-IN" dirty="0"/>
          </a:p>
        </p:txBody>
      </p:sp>
      <p:sp>
        <p:nvSpPr>
          <p:cNvPr id="4" name="Google Shape;204;p28">
            <a:extLst>
              <a:ext uri="{FF2B5EF4-FFF2-40B4-BE49-F238E27FC236}">
                <a16:creationId xmlns:a16="http://schemas.microsoft.com/office/drawing/2014/main" id="{B33C7690-7F34-AC2D-0EBE-39237A4F9475}"/>
              </a:ext>
            </a:extLst>
          </p:cNvPr>
          <p:cNvSpPr>
            <a:spLocks noGrp="1"/>
          </p:cNvSpPr>
          <p:nvPr>
            <p:ph type="title"/>
          </p:nvPr>
        </p:nvSpPr>
        <p:spPr>
          <a:xfrm>
            <a:off x="628650" y="935038"/>
            <a:ext cx="7886700" cy="117792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i="0" u="none" strike="noStrike" cap="none" dirty="0">
                <a:solidFill>
                  <a:schemeClr val="lt1"/>
                </a:solidFill>
                <a:latin typeface="Calibri" panose="020F0502020204030204"/>
                <a:ea typeface="Calibri" panose="020F0502020204030204"/>
                <a:cs typeface="Calibri" panose="020F0502020204030204"/>
                <a:sym typeface="Calibri" panose="020F0502020204030204"/>
              </a:rPr>
              <a:t>Contd...</a:t>
            </a:r>
          </a:p>
        </p:txBody>
      </p:sp>
    </p:spTree>
    <p:extLst>
      <p:ext uri="{BB962C8B-B14F-4D97-AF65-F5344CB8AC3E}">
        <p14:creationId xmlns:p14="http://schemas.microsoft.com/office/powerpoint/2010/main" val="282285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152400" lvl="0">
              <a:lnSpc>
                <a:spcPct val="150000"/>
              </a:lnSpc>
              <a:buClr>
                <a:schemeClr val="dk1"/>
              </a:buClr>
              <a:buSzPts val="1200"/>
            </a:pPr>
            <a:r>
              <a:rPr lang="en-US" sz="1200" b="1" i="0" u="none" strike="noStrike" cap="none" dirty="0">
                <a:solidFill>
                  <a:schemeClr val="dk1"/>
                </a:solidFill>
                <a:latin typeface="Arial"/>
                <a:ea typeface="Arial"/>
                <a:cs typeface="Arial"/>
                <a:sym typeface="Arial"/>
              </a:rPr>
              <a:t>Book Reference</a:t>
            </a:r>
          </a:p>
          <a:p>
            <a:pPr marL="381000" lvl="0" indent="-228600">
              <a:lnSpc>
                <a:spcPct val="150000"/>
              </a:lnSpc>
              <a:buClr>
                <a:schemeClr val="dk1"/>
              </a:buClr>
              <a:buSzPts val="1200"/>
              <a:buAutoNum type="arabicPeriod"/>
            </a:pPr>
            <a:r>
              <a:rPr lang="en-IN" sz="1200" dirty="0"/>
              <a:t>Metasploit: The Penetration Tester's Guide David Kennedy, Jim O'Gorman, Devon Kearns, Mati Aharoni (</a:t>
            </a:r>
            <a:r>
              <a:rPr lang="en-IN" sz="1200" dirty="0" err="1"/>
              <a:t>TextBook</a:t>
            </a:r>
            <a:r>
              <a:rPr lang="en-IN" sz="1200" dirty="0"/>
              <a:t>) </a:t>
            </a:r>
          </a:p>
          <a:p>
            <a:pPr marL="381000" lvl="0" indent="-228600">
              <a:lnSpc>
                <a:spcPct val="150000"/>
              </a:lnSpc>
              <a:buClr>
                <a:schemeClr val="dk1"/>
              </a:buClr>
              <a:buSzPts val="1200"/>
              <a:buAutoNum type="arabicPeriod"/>
            </a:pPr>
            <a:r>
              <a:rPr lang="en-IN" sz="1200" dirty="0"/>
              <a:t>Hacking: The Art of Exploitation Jon Erickson </a:t>
            </a:r>
          </a:p>
          <a:p>
            <a:pPr marL="381000" lvl="0" indent="-228600">
              <a:lnSpc>
                <a:spcPct val="150000"/>
              </a:lnSpc>
              <a:buClr>
                <a:schemeClr val="dk1"/>
              </a:buClr>
              <a:buSzPts val="1200"/>
              <a:buAutoNum type="arabicPeriod"/>
            </a:pPr>
            <a:r>
              <a:rPr lang="en-IN" sz="1200" dirty="0"/>
              <a:t> Network Security Essentials William Stallings </a:t>
            </a:r>
          </a:p>
          <a:p>
            <a:pPr marL="381000" lvl="0" indent="-228600">
              <a:lnSpc>
                <a:spcPct val="150000"/>
              </a:lnSpc>
              <a:buClr>
                <a:schemeClr val="dk1"/>
              </a:buClr>
              <a:buSzPts val="1200"/>
              <a:buAutoNum type="arabicPeriod"/>
            </a:pPr>
            <a:r>
              <a:rPr lang="en-IN" sz="1200" dirty="0"/>
              <a:t>Metasploit Penetration Testing Cookbook </a:t>
            </a:r>
            <a:r>
              <a:rPr lang="en-IN" sz="1200" dirty="0" err="1"/>
              <a:t>Packt</a:t>
            </a:r>
            <a:r>
              <a:rPr lang="en-IN" sz="1200" dirty="0"/>
              <a:t> Publishing </a:t>
            </a:r>
          </a:p>
          <a:p>
            <a:pPr marL="381000" lvl="0" indent="-228600">
              <a:lnSpc>
                <a:spcPct val="150000"/>
              </a:lnSpc>
              <a:buClr>
                <a:schemeClr val="dk1"/>
              </a:buClr>
              <a:buSzPts val="1200"/>
              <a:buAutoNum type="arabicPeriod"/>
            </a:pPr>
            <a:r>
              <a:rPr lang="en-IN" sz="1200" dirty="0"/>
              <a:t>Metasploit Revealed - Secrets of the Expert </a:t>
            </a:r>
            <a:r>
              <a:rPr lang="en-IN" sz="1200" dirty="0" err="1"/>
              <a:t>Pentester</a:t>
            </a:r>
            <a:r>
              <a:rPr lang="en-IN" sz="1200" dirty="0"/>
              <a:t> - Build your </a:t>
            </a:r>
            <a:r>
              <a:rPr lang="en-IN" sz="1200" dirty="0" err="1"/>
              <a:t>Defense</a:t>
            </a:r>
            <a:r>
              <a:rPr lang="en-IN" sz="1200" dirty="0"/>
              <a:t> against Complex Attacks </a:t>
            </a:r>
            <a:r>
              <a:rPr lang="en-IN" sz="1200" dirty="0" err="1"/>
              <a:t>Packt</a:t>
            </a:r>
            <a:r>
              <a:rPr lang="en-IN" sz="1200" dirty="0"/>
              <a:t> Publishing.</a:t>
            </a:r>
            <a:endParaRPr sz="1200" b="0" i="0" u="none" strike="noStrike" cap="none" dirty="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TotalTime>
  <Words>1843</Words>
  <Application>Microsoft Office PowerPoint</Application>
  <PresentationFormat>On-screen Show (4:3)</PresentationFormat>
  <Paragraphs>136</Paragraphs>
  <Slides>15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Noto Sans Symbols</vt:lpstr>
      <vt:lpstr>Times New Roman</vt:lpstr>
      <vt:lpstr>Office Theme</vt:lpstr>
      <vt:lpstr>PowerPoint Presentation</vt:lpstr>
      <vt:lpstr>PowerPoint Presentation</vt:lpstr>
      <vt:lpstr>  Contd.. </vt:lpstr>
      <vt:lpstr>Contd..</vt:lpstr>
      <vt:lpstr> Contd..</vt:lpstr>
      <vt:lpstr>Exploiting a Windows machine</vt:lpstr>
      <vt:lpstr>Contd..</vt:lpstr>
      <vt:lpstr>Contd...</vt:lpstr>
      <vt:lpstr>Contd...</vt:lpstr>
      <vt:lpstr>Exploiting common network services </vt:lpstr>
      <vt:lpstr>Contd...</vt:lpstr>
      <vt:lpstr>Contd...</vt:lpstr>
      <vt:lpstr>Contd...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Gowtham Arunagiri</cp:lastModifiedBy>
  <cp:revision>16</cp:revision>
  <dcterms:created xsi:type="dcterms:W3CDTF">2024-12-13T07:18:04Z</dcterms:created>
  <dcterms:modified xsi:type="dcterms:W3CDTF">2026-08-11T07:26:13Z</dcterms:modified>
</cp:coreProperties>
</file>