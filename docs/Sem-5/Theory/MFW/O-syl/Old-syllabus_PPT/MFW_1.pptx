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y="6858000" cx="9144000"/>
  <p:notesSz cx="6858000" cy="9144000"/>
  <p:embeddedFontLst>
    <p:embeddedFont>
      <p:font typeface="Roboto Mono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3" roundtripDataSignature="AMtx7mjaRI7t6QugM0n4J6FXvEdUptzl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55F65B-2654-4296-87EA-2D569F51DFE9}">
  <a:tblStyle styleId="{7B55F65B-2654-4296-87EA-2D569F51DFE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customschemas.google.com/relationships/presentationmetadata" Target="metadata"/><Relationship Id="rId72" Type="http://schemas.openxmlformats.org/officeDocument/2006/relationships/font" Target="fonts/RobotoMono-bold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RobotoMono-italic.fntdata"/><Relationship Id="rId70" Type="http://schemas.openxmlformats.org/officeDocument/2006/relationships/font" Target="fonts/RobotoMono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obotoMono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a7388b958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fa7388b958_0_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a7388b958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fa7388b958_0_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a7388b958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fa7388b958_0_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a7388b958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fa7388b958_0_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a7388b958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fa7388b958_0_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a7388b958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fa7388b958_0_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a7388b958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fa7388b958_0_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a7388b958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a7388b958_0_5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a7388b958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a7388b958_0_5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a7388b958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fa7388b958_0_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a7388b958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a7388b958_0_6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7388b958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a7388b958_0_7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a7388b958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a7388b958_0_8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a7388b958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fa7388b958_0_8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a7388b958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a7388b958_0_9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a7388b958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a7388b958_0_9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a7388b958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a7388b958_0_10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a7388b958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a7388b958_0_1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a7388b958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a7388b958_0_1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a7388b958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fa7388b958_0_1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a7388b958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fa7388b958_0_1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a7388b958_0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fa7388b958_0_1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a7388b958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fa7388b958_0_1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a7388b958_0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a7388b958_0_1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a7388b958_0_1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fa7388b958_0_1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a7388b958_0_1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a7388b958_0_17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a7388b958_0_1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fa7388b958_0_18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a7388b958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fa7388b958_0_19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a7388b958_0_1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fa7388b958_0_19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a7388b958_0_2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fa7388b958_0_20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a7388b958_0_2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fa7388b958_0_20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a7388b958_0_2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fa7388b958_0_2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a7388b958_0_2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fa7388b958_0_2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a7388b958_0_2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fa7388b958_0_2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a7388b958_0_2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fa7388b958_0_2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a7388b958_0_2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fa7388b958_0_2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a7388b958_0_2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fa7388b958_0_2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a7388b958_0_2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a7388b958_0_26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a7388b958_0_2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fa7388b958_0_2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a7388b958_0_2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fa7388b958_0_27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a7388b958_0_2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fa7388b958_0_28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a7388b958_0_2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fa7388b958_0_29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a7388b958_0_2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fa7388b958_0_29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a7388b958_0_3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fa7388b958_0_30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a7388b958_0_3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fa7388b958_0_30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a7388b958_0_3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fa7388b958_0_3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a7388b958_0_3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fa7388b958_0_3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a7388b958_0_3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fa7388b958_0_3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fa7388b958_0_3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fa7388b958_0_3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a7388b958_0_3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fa7388b958_0_3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a7388b958_0_3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fa7388b958_0_3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a7388b958_0_3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fa7388b958_0_36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a7388b958_0_3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fa7388b958_0_3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a7388b958_0_3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fa7388b958_0_37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a7388b958_0_3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fa7388b958_0_38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a7388b958_0_3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fa7388b958_0_39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a7388b958_0_3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fa7388b958_0_39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a7388b958_0_4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fa7388b958_0_40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fa7388b958_0_4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fa7388b958_0_4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9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1"/>
          <p:cNvSpPr/>
          <p:nvPr/>
        </p:nvSpPr>
        <p:spPr>
          <a:xfrm>
            <a:off x="4" y="1955845"/>
            <a:ext cx="9143999" cy="1935817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01"/>
          <p:cNvSpPr/>
          <p:nvPr/>
        </p:nvSpPr>
        <p:spPr>
          <a:xfrm>
            <a:off x="603478" y="2256535"/>
            <a:ext cx="7887578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Engineering </a:t>
            </a:r>
            <a:br>
              <a:rPr b="1" lang="en-US" sz="4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03014601ES01</a:t>
            </a:r>
            <a:endParaRPr b="1" sz="4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1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755" y="250378"/>
            <a:ext cx="8438496" cy="69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 Layout">
  <p:cSld name="Index Layou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102"/>
          <p:cNvGrpSpPr/>
          <p:nvPr/>
        </p:nvGrpSpPr>
        <p:grpSpPr>
          <a:xfrm>
            <a:off x="445191" y="0"/>
            <a:ext cx="8698811" cy="6857999"/>
            <a:chOff x="-4801433" y="-1782234"/>
            <a:chExt cx="18084927" cy="14257864"/>
          </a:xfrm>
        </p:grpSpPr>
        <p:sp>
          <p:nvSpPr>
            <p:cNvPr id="18" name="Google Shape;18;p102"/>
            <p:cNvSpPr/>
            <p:nvPr/>
          </p:nvSpPr>
          <p:spPr>
            <a:xfrm>
              <a:off x="-4801433" y="1790698"/>
              <a:ext cx="12600815" cy="983098"/>
            </a:xfrm>
            <a:custGeom>
              <a:rect b="b" l="l" r="r" t="t"/>
              <a:pathLst>
                <a:path extrusionOk="0" h="660400" w="461010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02"/>
            <p:cNvSpPr/>
            <p:nvPr/>
          </p:nvSpPr>
          <p:spPr>
            <a:xfrm>
              <a:off x="8339276" y="-1782234"/>
              <a:ext cx="4944218" cy="14257864"/>
            </a:xfrm>
            <a:custGeom>
              <a:rect b="b" l="l" r="r" t="t"/>
              <a:pathLst>
                <a:path extrusionOk="0" h="10693400" w="238760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" name="Google Shape;20;p1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45166" y="253736"/>
            <a:ext cx="2161851" cy="86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755" y="253736"/>
            <a:ext cx="4597617" cy="691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3"/>
          <p:cNvSpPr/>
          <p:nvPr/>
        </p:nvSpPr>
        <p:spPr>
          <a:xfrm>
            <a:off x="1" y="6493764"/>
            <a:ext cx="9143999" cy="419100"/>
          </a:xfrm>
          <a:custGeom>
            <a:rect b="b" l="l" r="r" t="t"/>
            <a:pathLst>
              <a:path extrusionOk="0" h="393700" w="75565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1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755" y="250378"/>
            <a:ext cx="8438496" cy="69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slide Layout">
  <p:cSld name="Endslide Layou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Layout">
  <p:cSld name="Content Layou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5"/>
          <p:cNvSpPr/>
          <p:nvPr/>
        </p:nvSpPr>
        <p:spPr>
          <a:xfrm>
            <a:off x="1" y="6493764"/>
            <a:ext cx="9143999" cy="419100"/>
          </a:xfrm>
          <a:custGeom>
            <a:rect b="b" l="l" r="r" t="t"/>
            <a:pathLst>
              <a:path extrusionOk="0" h="393700" w="75565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05"/>
          <p:cNvSpPr/>
          <p:nvPr/>
        </p:nvSpPr>
        <p:spPr>
          <a:xfrm>
            <a:off x="344873" y="3245670"/>
            <a:ext cx="2761065" cy="4030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8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755" y="250378"/>
            <a:ext cx="8438496" cy="69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0"/>
          <p:cNvSpPr txBox="1"/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0"/>
          <p:cNvSpPr txBox="1"/>
          <p:nvPr>
            <p:ph idx="1" type="body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"/>
          <p:cNvSpPr/>
          <p:nvPr/>
        </p:nvSpPr>
        <p:spPr>
          <a:xfrm>
            <a:off x="4" y="1955845"/>
            <a:ext cx="9143365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152087" y="2223870"/>
            <a:ext cx="8839200" cy="21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Metasploit Frame work</a:t>
            </a:r>
            <a:endParaRPr b="1"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303105324</a:t>
            </a:r>
            <a:endParaRPr b="1"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342741" y="5601409"/>
            <a:ext cx="38328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 Bibungsarth Islary</a:t>
            </a:r>
            <a:br>
              <a:rPr b="1" lang="en-US" sz="105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 (Cyber Security 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 txBox="1"/>
          <p:nvPr/>
        </p:nvSpPr>
        <p:spPr>
          <a:xfrm>
            <a:off x="509733" y="1758619"/>
            <a:ext cx="607422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509733" y="2189506"/>
            <a:ext cx="5960100" cy="3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Multiple Communication Channels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Meterpreter Transports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Pivoting &amp; Port Forwarding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Meterpreter Anti-Forensics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Desktop &amp; Keystroke Sniffing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Meterpreter Resource Scripts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Timeout &amp; Sleep Control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Windows Registry Interaction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Meterpreter API &amp; Mixins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VNC Injection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Remote Desktop (RDP)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Meterpreter Detection &amp; DFIR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354577" y="1023576"/>
            <a:ext cx="18473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0" name="Google Shape;50;p3"/>
          <p:cNvSpPr txBox="1"/>
          <p:nvPr/>
        </p:nvSpPr>
        <p:spPr>
          <a:xfrm>
            <a:off x="446942" y="1131297"/>
            <a:ext cx="8254500" cy="52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MULTIPLE COMMUNICATION CHANNELS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Meterpreter Communication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Meterpreter requires a communication channel between the target and the Metasploit infrastructure.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Basic concept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Target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Meterpreter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Transport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Network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Handler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Communication channel determines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How the session communicates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Which protocol is used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How the connection behaves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How resilient the session is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a7388b958_0_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g3fa7388b958_0_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7" name="Google Shape;57;g3fa7388b958_0_1"/>
          <p:cNvSpPr txBox="1"/>
          <p:nvPr/>
        </p:nvSpPr>
        <p:spPr>
          <a:xfrm>
            <a:off x="446942" y="1131297"/>
            <a:ext cx="8254500" cy="51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Multiple Communication Channels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Multiple communication channels can be configured for a Meterpreter session.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Why?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Increase connection reliability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Handle network restrictions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Provide transport flexibility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Support authorized red-team scenarios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Maintain communication if one path becomes unavailable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Key terminology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Primary Transport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Currently active communication mechanism.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Transport List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Available communication mechanisms associated with the session.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Transport Failover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Moving to another configured transport when the current one becomes unavailable.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The reference PPT specifically describes Meterpreter's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transports</a:t>
            </a:r>
            <a:r>
              <a:rPr lang="en-US" sz="1100">
                <a:solidFill>
                  <a:schemeClr val="dk1"/>
                </a:solidFill>
              </a:rPr>
              <a:t> functionality for managing these channels.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a7388b958_0_8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g3fa7388b958_0_8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4" name="Google Shape;64;g3fa7388b958_0_8"/>
          <p:cNvSpPr txBox="1"/>
          <p:nvPr/>
        </p:nvSpPr>
        <p:spPr>
          <a:xfrm>
            <a:off x="446942" y="1131297"/>
            <a:ext cx="8254500" cy="48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Communication Channel Architecture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Meterpreter Session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    	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+----------+----------+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|              |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TCP/HTTP    HTTPS   SMB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|	            |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+----------+----------+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                 Network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Important idea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Different transports have different: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Protocol characteristics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Visibility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requirements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Performance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Security implications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a7388b958_0_1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g3fa7388b958_0_1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1" name="Google Shape;71;g3fa7388b958_0_15"/>
          <p:cNvSpPr txBox="1"/>
          <p:nvPr/>
        </p:nvSpPr>
        <p:spPr>
          <a:xfrm>
            <a:off x="446942" y="1131297"/>
            <a:ext cx="82545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Transport Management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The reference PPT describes the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transports</a:t>
            </a:r>
            <a:r>
              <a:rPr lang="en-US" sz="1100">
                <a:solidFill>
                  <a:schemeClr val="dk1"/>
                </a:solidFill>
              </a:rPr>
              <a:t> functionality as the mechanism for managing Meterpreter communication channels.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Main operations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View configured transports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Add a transport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Remove a transport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Switch between transports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Configure transport behavior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Conceptual workflow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Current Transport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Failure / Change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Alternative Transport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Session Communication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For classroom practice, demonstrate this only within an isolated lab.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a7388b958_0_2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g3fa7388b958_0_2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8" name="Google Shape;78;g3fa7388b958_0_22"/>
          <p:cNvSpPr txBox="1"/>
          <p:nvPr/>
        </p:nvSpPr>
        <p:spPr>
          <a:xfrm>
            <a:off x="446942" y="1131297"/>
            <a:ext cx="8254500" cy="3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METERPRETER TRANSPORTS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What is a Meterpreter Transport?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</a:t>
            </a:r>
            <a:r>
              <a:rPr b="1" lang="en-US" sz="1100">
                <a:solidFill>
                  <a:schemeClr val="dk1"/>
                </a:solidFill>
              </a:rPr>
              <a:t>transport</a:t>
            </a:r>
            <a:r>
              <a:rPr lang="en-US" sz="1100">
                <a:solidFill>
                  <a:schemeClr val="dk1"/>
                </a:solidFill>
              </a:rPr>
              <a:t> is the underlying communication mechanism through which the Meterpreter payload communicates with its handler.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Think of it as: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Payload = functionality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Transport = communication mechanism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Common transport families discussed in the reference material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TCP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HTTP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HTTPS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SMB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a7388b958_0_2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g3fa7388b958_0_2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5" name="Google Shape;85;g3fa7388b958_0_29"/>
          <p:cNvSpPr txBox="1"/>
          <p:nvPr/>
        </p:nvSpPr>
        <p:spPr>
          <a:xfrm>
            <a:off x="446942" y="1131297"/>
            <a:ext cx="8254500" cy="4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TCP Transport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TCP-based communication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Provides direct TCP communication between the session and handler.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Characteristics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Low protocol overhead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Fast communication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Relatively simple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Useful in controlled environments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Security perspective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Raw or unusual TCP connections can be identified through: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Firewall logs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NetFlow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IDS/IPS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EDR network telemetry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a7388b958_0_36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g3fa7388b958_0_36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2" name="Google Shape;92;g3fa7388b958_0_36"/>
          <p:cNvSpPr txBox="1"/>
          <p:nvPr/>
        </p:nvSpPr>
        <p:spPr>
          <a:xfrm>
            <a:off x="446942" y="1131297"/>
            <a:ext cx="8254500" cy="3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HTTP Transport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HTTP transport uses web communication characteristics.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Characteristics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Uses HTTP communication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Can operate through environments where web traffic is permitted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Produces HTTP-related network telemetry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Security perspective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Defenders should examine: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Destination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URL patterns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User-Agent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Request frequency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Process generating the traffic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a7388b958_0_4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g3fa7388b958_0_4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9" name="Google Shape;99;g3fa7388b958_0_43"/>
          <p:cNvSpPr txBox="1"/>
          <p:nvPr/>
        </p:nvSpPr>
        <p:spPr>
          <a:xfrm>
            <a:off x="446942" y="1131297"/>
            <a:ext cx="8254500" cy="42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HTTPS Transport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HTTPS adds TLS protection to the communication channel.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Advantages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Encrypts network content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Protects confidentiality of communication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Resembles normal encrypted web traffic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Important security point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Encryption does not make communication invisible.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Defenders can still examine: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Source/destination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Timing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Frequency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TLS metadata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Certificate information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Process generating the traffic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a7388b958_0_5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g3fa7388b958_0_5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6" name="Google Shape;106;g3fa7388b958_0_50"/>
          <p:cNvSpPr txBox="1"/>
          <p:nvPr/>
        </p:nvSpPr>
        <p:spPr>
          <a:xfrm>
            <a:off x="446942" y="1131297"/>
            <a:ext cx="8254500" cy="3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SMB Transport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SMB</a:t>
            </a:r>
            <a:r>
              <a:rPr lang="en-US" sz="1100">
                <a:solidFill>
                  <a:schemeClr val="dk1"/>
                </a:solidFill>
              </a:rPr>
              <a:t> is commonly used in Windows environments and can operate through named-pipe mechanisms.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Characteristics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Useful in internal Windows environments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Associated with SMB communication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Can support internal session communication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Security relevance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SMB is important in: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Lateral movement investigations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Internal network monitoring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Windows attack detection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a7388b958_0_57"/>
          <p:cNvSpPr/>
          <p:nvPr/>
        </p:nvSpPr>
        <p:spPr>
          <a:xfrm>
            <a:off x="354510" y="1023575"/>
            <a:ext cx="61494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Transport Comparison</a:t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g3fa7388b958_0_5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113" name="Google Shape;113;g3fa7388b958_0_57"/>
          <p:cNvGraphicFramePr/>
          <p:nvPr/>
        </p:nvGraphicFramePr>
        <p:xfrm>
          <a:off x="354575" y="187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{7B55F65B-2654-4296-87EA-2D569F51DFE9}</a:tableStyleId>
              </a:tblPr>
              <a:tblGrid>
                <a:gridCol w="996750"/>
                <a:gridCol w="1638000"/>
                <a:gridCol w="2022975"/>
                <a:gridCol w="2505075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Transport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Protocol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Main Characteristic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Security Visibility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TCP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TCP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Direct communication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High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HTTP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HTTP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Web-based communication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Moderate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HTTPS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HTTP + TLS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Encrypted communication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Content visibility reduced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SMB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SMB / Named Pipe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Windows internal communication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Important for internal monitoring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a7388b958_0_6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g3fa7388b958_0_6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0" name="Google Shape;120;g3fa7388b958_0_63"/>
          <p:cNvSpPr txBox="1"/>
          <p:nvPr/>
        </p:nvSpPr>
        <p:spPr>
          <a:xfrm>
            <a:off x="446942" y="1131297"/>
            <a:ext cx="8254500" cy="53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Dynamic Transport Switching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 major capability discussed in the reference PPT is </a:t>
            </a:r>
            <a:r>
              <a:rPr b="1" lang="en-US" sz="1100">
                <a:solidFill>
                  <a:schemeClr val="dk1"/>
                </a:solidFill>
              </a:rPr>
              <a:t>dynamic transport switching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Transport 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X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Unavailable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Transport B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Session continues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Security significance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This demonstrates why defenders should not rely on blocking only one: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Port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Protocol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Destination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Instead, monitor the </a:t>
            </a:r>
            <a:r>
              <a:rPr b="1" lang="en-US" sz="1100">
                <a:solidFill>
                  <a:schemeClr val="dk1"/>
                </a:solidFill>
              </a:rPr>
              <a:t>endpoint + network behavior together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a7388b958_0_6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g3fa7388b958_0_6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7" name="Google Shape;127;g3fa7388b958_0_69"/>
          <p:cNvSpPr txBox="1"/>
          <p:nvPr/>
        </p:nvSpPr>
        <p:spPr>
          <a:xfrm>
            <a:off x="446942" y="1131297"/>
            <a:ext cx="8254500" cy="55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PIVOTING &amp; PORT FORWARDING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Pivoting Concept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Pivoting</a:t>
            </a:r>
            <a:r>
              <a:rPr lang="en-US" sz="1100">
                <a:solidFill>
                  <a:schemeClr val="dk1"/>
                </a:solidFill>
              </a:rPr>
              <a:t> allows an already-accessible system to provide a path toward another network or system.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Tester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Compromised Host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Internal Network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+---- Host 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+---- Host B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+---- Host 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Why pivot?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The tester may not have direct connectivity to internal systems.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a7388b958_0_7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g3fa7388b958_0_7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4" name="Google Shape;134;g3fa7388b958_0_75"/>
          <p:cNvSpPr txBox="1"/>
          <p:nvPr/>
        </p:nvSpPr>
        <p:spPr>
          <a:xfrm>
            <a:off x="446942" y="1131297"/>
            <a:ext cx="8254500" cy="4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Pivoting vs Multiple Transports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These concepts should not be confused.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Multiple transports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Concerned with: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How the Meterpreter session communicates.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Pivoting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Concerned with: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How traffic reaches another network/system through an existing foothold.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Simple distinction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Transport = communication path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Pivot = network reachability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The reference PPT explicitly distinguishes the use of pivoting to reach internal network segments from simply creating another Internet communication channel.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a7388b958_0_8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g3fa7388b958_0_8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1" name="Google Shape;141;g3fa7388b958_0_81"/>
          <p:cNvSpPr txBox="1"/>
          <p:nvPr/>
        </p:nvSpPr>
        <p:spPr>
          <a:xfrm>
            <a:off x="446942" y="1131297"/>
            <a:ext cx="8254500" cy="3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Port Forwarding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Port forwarding maps traffic from one location to another through an established communication path.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Local Machine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Local Port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Meterpreter Tunnel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Internal Target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Target Service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a7388b958_0_8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g3fa7388b958_0_8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8" name="Google Shape;148;g3fa7388b958_0_87"/>
          <p:cNvSpPr txBox="1"/>
          <p:nvPr/>
        </p:nvSpPr>
        <p:spPr>
          <a:xfrm>
            <a:off x="446942" y="1131297"/>
            <a:ext cx="8254500" cy="23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Security relevance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Port forwarding can make an otherwise inaccessible internal service reachable through an existing session.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Detection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Monitor: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Unexpected listening ports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Unusual local connections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Internal service access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path changes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a7388b958_0_9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g3fa7388b958_0_9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5" name="Google Shape;155;g3fa7388b958_0_93"/>
          <p:cNvSpPr txBox="1"/>
          <p:nvPr/>
        </p:nvSpPr>
        <p:spPr>
          <a:xfrm>
            <a:off x="446942" y="1131297"/>
            <a:ext cx="8254500" cy="3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METERPRETER ANTI-FORENSICS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Meterpreter Anti-Forensics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Meterpreter is designed for post-exploitation operations and can perform many operations in memory.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Anti-forensic concept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Attempts to: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Reduce disk artifacts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Minimize evidence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Complicate investigation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Avoid unnecessary file creation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Reduce operational footprint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a7388b958_0_9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g3fa7388b958_0_9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2" name="Google Shape;162;g3fa7388b958_0_99"/>
          <p:cNvSpPr txBox="1"/>
          <p:nvPr/>
        </p:nvSpPr>
        <p:spPr>
          <a:xfrm>
            <a:off x="446942" y="1131297"/>
            <a:ext cx="8254500" cy="3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Meterpreter Forensic Trail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Even when activity occurs primarily in memory, investigators can find evidence.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Possible evidence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Process injection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Suspicious memory regions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connections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Process behavior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Authentication events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Event logs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EDR telemetry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Important principle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Fileless ≠ invisible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a7388b958_0_10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g3fa7388b958_0_10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9" name="Google Shape;169;g3fa7388b958_0_105"/>
          <p:cNvSpPr txBox="1"/>
          <p:nvPr/>
        </p:nvSpPr>
        <p:spPr>
          <a:xfrm>
            <a:off x="446942" y="1131297"/>
            <a:ext cx="8254500" cy="49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Process Injection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Process injection involves placing or executing code within another process.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Process A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|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| Injection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Process B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|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Injected Code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DFIR relevance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Investigators can examine: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Process relationships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Memory regions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Remote-thread behavior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Cross-process access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Unusual loaded modules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a7388b958_0_11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g3fa7388b958_0_11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6" name="Google Shape;176;g3fa7388b958_0_111"/>
          <p:cNvSpPr txBox="1"/>
          <p:nvPr/>
        </p:nvSpPr>
        <p:spPr>
          <a:xfrm>
            <a:off x="446942" y="1131297"/>
            <a:ext cx="8254500" cy="4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Anti-Forensics and Event Logs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Attackers may attempt to clear or alter logs.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But log clearing itself can become evidence.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For example, Windows Security Event Log clearing can generate: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Event ID 1102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SOC perspective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Instead of hiding the event: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Log Cleared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can become: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High-Priority Security Alert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The reference PPT specifically highlights Event ID 1102 as an important detection signal.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a7388b958_0_11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g3fa7388b958_0_11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3" name="Google Shape;183;g3fa7388b958_0_117"/>
          <p:cNvSpPr txBox="1"/>
          <p:nvPr/>
        </p:nvSpPr>
        <p:spPr>
          <a:xfrm>
            <a:off x="446942" y="1131297"/>
            <a:ext cx="8254500" cy="3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OPSEC in Authorized Testing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OPSEC = Operational Security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During professional assessments, testers should minimize unnecessary impact and activity.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Good practice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Run only required tests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Follow rules of engagement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Avoid unnecessary modifications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Document actions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Preserve evidence when required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Clean up authorized changes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Important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 professional penetration test is </a:t>
            </a:r>
            <a:r>
              <a:rPr b="1" lang="en-US" sz="1100">
                <a:solidFill>
                  <a:schemeClr val="dk1"/>
                </a:solidFill>
              </a:rPr>
              <a:t>not a competition to leave zero evidence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a7388b958_0_12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g3fa7388b958_0_12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0" name="Google Shape;190;g3fa7388b958_0_123"/>
          <p:cNvSpPr txBox="1"/>
          <p:nvPr/>
        </p:nvSpPr>
        <p:spPr>
          <a:xfrm>
            <a:off x="446942" y="1131297"/>
            <a:ext cx="8254500" cy="50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Anti-Forensics Detection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Sysmon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Useful events include: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Process creation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Process access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connections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Memory Forensics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Can help identify: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Injected code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Suspicious memory regions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Unusual processes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SIEM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Can correlate: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Log clearing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Process activity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connections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 accounts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a7388b958_0_12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g3fa7388b958_0_12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7" name="Google Shape;197;g3fa7388b958_0_129"/>
          <p:cNvSpPr txBox="1"/>
          <p:nvPr/>
        </p:nvSpPr>
        <p:spPr>
          <a:xfrm>
            <a:off x="446942" y="1131297"/>
            <a:ext cx="8254500" cy="43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DESKTOP &amp; KEYSTROKE SNIFFING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Desktop Interaction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Meterpreter provides functionality for interacting with a graphical desktop.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Examples discussed in the reference PPT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Screenshot capture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Real-time screen sharing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User-interface control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Security impact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Desktop access can expose: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Documents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Applications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Credentials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Sensitive information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 activity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a7388b958_0_13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g3fa7388b958_0_13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4" name="Google Shape;204;g3fa7388b958_0_135"/>
          <p:cNvSpPr txBox="1"/>
          <p:nvPr/>
        </p:nvSpPr>
        <p:spPr>
          <a:xfrm>
            <a:off x="446942" y="1131297"/>
            <a:ext cx="8254500" cy="3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get-desktop Concept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The </a:t>
            </a:r>
            <a:r>
              <a:rPr b="1" lang="en-US" sz="1100">
                <a:solidFill>
                  <a:schemeClr val="dk1"/>
                </a:solidFill>
              </a:rPr>
              <a:t>get-desktop</a:t>
            </a:r>
            <a:r>
              <a:rPr lang="en-US" sz="1100">
                <a:solidFill>
                  <a:schemeClr val="dk1"/>
                </a:solidFill>
              </a:rPr>
              <a:t> functionality relates to obtaining information about the desktop context associated with the Meterpreter session.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Important concepts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Desktop/session context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Logged-in user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GUI environment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Interactive session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Why it matters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The same technical foothold can have very different capabilities depending on: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 context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Session type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Privileges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Desktop availability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a7388b958_0_14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g3fa7388b958_0_14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1" name="Google Shape;211;g3fa7388b958_0_141"/>
          <p:cNvSpPr txBox="1"/>
          <p:nvPr/>
        </p:nvSpPr>
        <p:spPr>
          <a:xfrm>
            <a:off x="446942" y="1131297"/>
            <a:ext cx="8254500" cy="3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User Interface Control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Meterpreter's UI-related functionality can interact with keyboard/mouse input in supported environments.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Security implications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Potentially allows an attacker to: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Observe user activity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Interfere with interaction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Demonstrate impact of GUI-level compromise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Defensive perspective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Unexpected GUI-control behavior should be investigated in combination with: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Process activity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 context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EDR telemetry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connections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a7388b958_0_14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g3fa7388b958_0_14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8" name="Google Shape;218;g3fa7388b958_0_147"/>
          <p:cNvSpPr txBox="1"/>
          <p:nvPr/>
        </p:nvSpPr>
        <p:spPr>
          <a:xfrm>
            <a:off x="446942" y="1131297"/>
            <a:ext cx="8254500" cy="30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Keystroke Sniffing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Keystroke sniffing / keylogging</a:t>
            </a:r>
            <a:r>
              <a:rPr lang="en-US" sz="1100">
                <a:solidFill>
                  <a:schemeClr val="dk1"/>
                </a:solidFill>
              </a:rPr>
              <a:t> records keyboard input.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Potentially exposed information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Usernames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Passwords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Commands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Messages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Confidential data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Security impact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It attacks the </a:t>
            </a:r>
            <a:r>
              <a:rPr b="1" lang="en-US" sz="1100">
                <a:solidFill>
                  <a:schemeClr val="dk1"/>
                </a:solidFill>
              </a:rPr>
              <a:t>credential-use process</a:t>
            </a:r>
            <a:r>
              <a:rPr lang="en-US" sz="1100">
                <a:solidFill>
                  <a:schemeClr val="dk1"/>
                </a:solidFill>
              </a:rPr>
              <a:t>, rather than merely attacking stored credentials.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a7388b958_0_17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g3fa7388b958_0_17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5" name="Google Shape;225;g3fa7388b958_0_172"/>
          <p:cNvSpPr txBox="1"/>
          <p:nvPr/>
        </p:nvSpPr>
        <p:spPr>
          <a:xfrm>
            <a:off x="446942" y="1131297"/>
            <a:ext cx="8254500" cy="49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Keyscan Workflow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reference PPT identifies three major stages: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Start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Begin collecting keyboard input.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Dump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Retrieve collected keystrokes.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Stop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Terminate collection.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Conceptually: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Start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Capture Input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Collect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Retrieve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Stop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a7388b958_0_17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g3fa7388b958_0_17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2" name="Google Shape;232;g3fa7388b958_0_179"/>
          <p:cNvSpPr txBox="1"/>
          <p:nvPr/>
        </p:nvSpPr>
        <p:spPr>
          <a:xfrm>
            <a:off x="446942" y="1131297"/>
            <a:ext cx="8254500" cy="49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Keylogging Detection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Possible detection mechanisms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API monitoring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Suspicious input-hooking behavior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Behavioral detection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Unexpected input capture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Frequent screen capture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Memory analysis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Suspicious keylogging components in process memory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Defensive controls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EDR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Application control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Least privilege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Endpoint integrity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Credential protection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The reference PPT specifically discusses API hooking, behavioral analysis and memory scanning.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a7388b958_0_18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g3fa7388b958_0_18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9" name="Google Shape;239;g3fa7388b958_0_185"/>
          <p:cNvSpPr txBox="1"/>
          <p:nvPr/>
        </p:nvSpPr>
        <p:spPr>
          <a:xfrm>
            <a:off x="446942" y="1131297"/>
            <a:ext cx="8254500" cy="26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RESOURCE SCRIPTS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Meterpreter Resource Scripts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</a:t>
            </a:r>
            <a:r>
              <a:rPr b="1" lang="en-US" sz="1100">
                <a:solidFill>
                  <a:schemeClr val="dk1"/>
                </a:solidFill>
              </a:rPr>
              <a:t>resource script</a:t>
            </a:r>
            <a:r>
              <a:rPr lang="en-US" sz="1100">
                <a:solidFill>
                  <a:schemeClr val="dk1"/>
                </a:solidFill>
              </a:rPr>
              <a:t> is a text file containing a sequence of Metasploit/Meterpreter commands.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Purpose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Automate repetitive operations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Standardize testing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Improve consistency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Reproduce lab workflows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a7388b958_0_19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g3fa7388b958_0_19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6" name="Google Shape;246;g3fa7388b958_0_191"/>
          <p:cNvSpPr txBox="1"/>
          <p:nvPr/>
        </p:nvSpPr>
        <p:spPr>
          <a:xfrm>
            <a:off x="446942" y="1131297"/>
            <a:ext cx="8254500" cy="42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Resource Script Structure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Conceptually: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Resource File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+--- Command 1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+--- Command 2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+--- Command 3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+--- Command 4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Meterpreter Session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Typical educational workflow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System information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User/context information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information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Security checks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Evidence collection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a7388b958_0_19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g3fa7388b958_0_19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3" name="Google Shape;253;g3fa7388b958_0_197"/>
          <p:cNvSpPr txBox="1"/>
          <p:nvPr/>
        </p:nvSpPr>
        <p:spPr>
          <a:xfrm>
            <a:off x="446942" y="1131297"/>
            <a:ext cx="8254500" cy="3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Resource Script Execution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reference PPT describes using the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</a:t>
            </a:r>
            <a:r>
              <a:rPr lang="en-US" sz="1100">
                <a:solidFill>
                  <a:schemeClr val="dk1"/>
                </a:solidFill>
              </a:rPr>
              <a:t> mechanism to execute a predefined script in an active session.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Advantages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Repeatability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Speed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Consistency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Reduced manual error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Important security concern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Automation can also scale malicious behavior.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Therefore: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Detect sequences of behavior, not only individual commands.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a7388b958_0_20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g3fa7388b958_0_20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0" name="Google Shape;260;g3fa7388b958_0_203"/>
          <p:cNvSpPr txBox="1"/>
          <p:nvPr/>
        </p:nvSpPr>
        <p:spPr>
          <a:xfrm>
            <a:off x="446942" y="1131297"/>
            <a:ext cx="8254500" cy="3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AutoRunScript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reference PPT also discusses </a:t>
            </a:r>
            <a:r>
              <a:rPr b="1" lang="en-US" sz="1100">
                <a:solidFill>
                  <a:schemeClr val="dk1"/>
                </a:solidFill>
              </a:rPr>
              <a:t>AutoRunScript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predefined script can be configured to execute automatically after a session becomes available.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Security significance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Automation can: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Reduce manual interaction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Immediately perform predefined actions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Standardize post-session workflows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Detection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Monitor unusual automated sequences immediately following session establishment.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a7388b958_0_20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g3fa7388b958_0_20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7" name="Google Shape;267;g3fa7388b958_0_209"/>
          <p:cNvSpPr txBox="1"/>
          <p:nvPr/>
        </p:nvSpPr>
        <p:spPr>
          <a:xfrm>
            <a:off x="446942" y="1131297"/>
            <a:ext cx="8254500" cy="26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TIMEOUT &amp; SLEEP CONTROL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Timeout Control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Timeout control determines how a session handles communication delays and connection-related conditions.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Main objectives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Connection reliability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Session stability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Handling network delays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Reconnection behavior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a7388b958_0_21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g3fa7388b958_0_21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4" name="Google Shape;274;g3fa7388b958_0_215"/>
          <p:cNvSpPr txBox="1"/>
          <p:nvPr/>
        </p:nvSpPr>
        <p:spPr>
          <a:xfrm>
            <a:off x="446942" y="1131297"/>
            <a:ext cx="8254500" cy="48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Sleep Control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Sleep control determines periods during which the session remains inactive between communication/activity cycles.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Active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Sleep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Communication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Sleep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Communication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Security relevance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Communication intervals can influence: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noise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Responsiveness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Detectability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Traffic patterns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a7388b958_0_22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g3fa7388b958_0_22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1" name="Google Shape;281;g3fa7388b958_0_221"/>
          <p:cNvSpPr txBox="1"/>
          <p:nvPr/>
        </p:nvSpPr>
        <p:spPr>
          <a:xfrm>
            <a:off x="446942" y="1131297"/>
            <a:ext cx="82545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Timeout vs Sleep Control</a:t>
            </a:r>
            <a:endParaRPr b="1" sz="1700">
              <a:solidFill>
                <a:schemeClr val="dk1"/>
              </a:solidFill>
            </a:endParaRPr>
          </a:p>
        </p:txBody>
      </p:sp>
      <p:graphicFrame>
        <p:nvGraphicFramePr>
          <p:cNvPr id="282" name="Google Shape;282;g3fa7388b958_0_221"/>
          <p:cNvGraphicFramePr/>
          <p:nvPr/>
        </p:nvGraphicFramePr>
        <p:xfrm>
          <a:off x="815650" y="178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{7B55F65B-2654-4296-87EA-2D569F51DFE9}</a:tableStyleId>
              </a:tblPr>
              <a:tblGrid>
                <a:gridCol w="1341900"/>
                <a:gridCol w="2733500"/>
                <a:gridCol w="2559550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Feature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Timeout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Sleep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Main purpose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Connection/session handling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Activity timing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Concern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Reliability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Communication frequency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Effect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Wait/failure behavior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Inactivity interval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Detection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Connection anomalies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Periodic traffic patterns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a7388b958_0_22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g3fa7388b958_0_22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9" name="Google Shape;289;g3fa7388b958_0_227"/>
          <p:cNvSpPr txBox="1"/>
          <p:nvPr/>
        </p:nvSpPr>
        <p:spPr>
          <a:xfrm>
            <a:off x="446942" y="1131297"/>
            <a:ext cx="8254500" cy="4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WINDOWS REGISTRY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Windows Registry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Windows Registry stores configuration information used by Windows and applications.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Major root keys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HKLM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HKCU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HKCR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HKU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HKCC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Information may include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Software configuration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 settings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System settings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Startup configuration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Security-related configuration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a7388b958_0_23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g3fa7388b958_0_23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6" name="Google Shape;296;g3fa7388b958_0_233"/>
          <p:cNvSpPr txBox="1"/>
          <p:nvPr/>
        </p:nvSpPr>
        <p:spPr>
          <a:xfrm>
            <a:off x="446942" y="1131297"/>
            <a:ext cx="8254500" cy="20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Meterpreter Registry Interaction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Meterpreter provides registry interaction capabilities.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Common operations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Enumerate registry keys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Enumerate values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Query values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Modify values where permissions permit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a7388b958_0_23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g3fa7388b958_0_23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3" name="Google Shape;303;g3fa7388b958_0_239"/>
          <p:cNvSpPr txBox="1"/>
          <p:nvPr/>
        </p:nvSpPr>
        <p:spPr>
          <a:xfrm>
            <a:off x="446942" y="1131297"/>
            <a:ext cx="8254500" cy="3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Registry Permissions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Registry access depends on the security context of the session.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Important factors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Current user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Administrator privileges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SYSTEM privileges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Registry key permissions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Architecture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Important concept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Access ≠ unrestricted access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The compromised session still operates within an applicable security context.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a7388b958_0_26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g3fa7388b958_0_26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10" name="Google Shape;310;g3fa7388b958_0_260"/>
          <p:cNvSpPr txBox="1"/>
          <p:nvPr/>
        </p:nvSpPr>
        <p:spPr>
          <a:xfrm>
            <a:off x="446942" y="1131297"/>
            <a:ext cx="8254500" cy="3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Registry Redirection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On 64-bit Windows systems, 32-bit applications can encounter </a:t>
            </a:r>
            <a:r>
              <a:rPr b="1" lang="en-US" sz="1100">
                <a:solidFill>
                  <a:schemeClr val="dk1"/>
                </a:solidFill>
              </a:rPr>
              <a:t>registry redirection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32-bit Application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Registry Access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Windows Registry View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location observed by a process may differ depending on: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Operating-system architecture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Process architecture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Registry redirection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a7388b958_0_266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g3fa7388b958_0_266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17" name="Google Shape;317;g3fa7388b958_0_266"/>
          <p:cNvSpPr txBox="1"/>
          <p:nvPr/>
        </p:nvSpPr>
        <p:spPr>
          <a:xfrm>
            <a:off x="446942" y="1131297"/>
            <a:ext cx="8254500" cy="4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Registry as a Persistence Artifact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Certain registry locations can be associated with programs that execute during startup or user logon.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DFIR importance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Investigators can examine: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Registry modifications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Startup-related entries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Modification timestamps where available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Associated executable paths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 context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Security lesson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Registry modification can be both: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An attack technique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and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A forensic artifact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a7388b958_0_27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g3fa7388b958_0_27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24" name="Google Shape;324;g3fa7388b958_0_272"/>
          <p:cNvSpPr txBox="1"/>
          <p:nvPr/>
        </p:nvSpPr>
        <p:spPr>
          <a:xfrm>
            <a:off x="446942" y="1131297"/>
            <a:ext cx="8254500" cy="45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METERPRETER API &amp; MIXINS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Meterpreter API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Meterpreter API provides communication between the Metasploit client and Meterpreter server components.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Architecture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Metasploit 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| Requests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Meterpreter Server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Target System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a7388b958_0_278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g3fa7388b958_0_278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1" name="Google Shape;331;g3fa7388b958_0_278"/>
          <p:cNvSpPr txBox="1"/>
          <p:nvPr/>
        </p:nvSpPr>
        <p:spPr>
          <a:xfrm>
            <a:off x="446942" y="1131297"/>
            <a:ext cx="8254500" cy="50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Meterpreter Server and Client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Client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Runs with the Metasploit framework.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Responsible for: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 interaction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Sending requests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Receiving responses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Managing sessions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Server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Runs within the target environment.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Responsible for: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Receiving requests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Executing functionality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Returning results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Important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The terms </a:t>
            </a:r>
            <a:r>
              <a:rPr b="1" lang="en-US" sz="1100">
                <a:solidFill>
                  <a:schemeClr val="dk1"/>
                </a:solidFill>
              </a:rPr>
              <a:t>client/server here describe Meterpreter architecture</a:t>
            </a:r>
            <a:r>
              <a:rPr lang="en-US" sz="1100">
                <a:solidFill>
                  <a:schemeClr val="dk1"/>
                </a:solidFill>
              </a:rPr>
              <a:t>, not necessarily the direction of the network connection.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a7388b958_0_284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g3fa7388b958_0_284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8" name="Google Shape;338;g3fa7388b958_0_284"/>
          <p:cNvSpPr txBox="1"/>
          <p:nvPr/>
        </p:nvSpPr>
        <p:spPr>
          <a:xfrm>
            <a:off x="446942" y="1131297"/>
            <a:ext cx="82545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TLV Protocol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Meterpreter uses a structured </a:t>
            </a:r>
            <a:r>
              <a:rPr b="1" lang="en-US" sz="1100">
                <a:solidFill>
                  <a:schemeClr val="dk1"/>
                </a:solidFill>
              </a:rPr>
              <a:t>TLV model</a:t>
            </a:r>
            <a:r>
              <a:rPr lang="en-U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TLV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T = Type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L = Length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V = Value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Type | Length | Value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This allows information to be structured and exchanged between components.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a7388b958_0_29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g3fa7388b958_0_29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5" name="Google Shape;345;g3fa7388b958_0_290"/>
          <p:cNvSpPr txBox="1"/>
          <p:nvPr/>
        </p:nvSpPr>
        <p:spPr>
          <a:xfrm>
            <a:off x="446942" y="1131297"/>
            <a:ext cx="82545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Meterpreter Extensions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Meterpreter's core is designed to be modular.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Meterpreter Core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+--- Extension 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+--- Extension B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+--- Extension 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Additional Capabilities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Benefits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Modular functionality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Reduced core complexity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Extensibility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Reusable components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a7388b958_0_296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g3fa7388b958_0_296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2" name="Google Shape;352;g3fa7388b958_0_296"/>
          <p:cNvSpPr txBox="1"/>
          <p:nvPr/>
        </p:nvSpPr>
        <p:spPr>
          <a:xfrm>
            <a:off x="446942" y="1131297"/>
            <a:ext cx="8254500" cy="28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Meterpreter Mixins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Mixins</a:t>
            </a:r>
            <a:r>
              <a:rPr lang="en-US" sz="1100">
                <a:solidFill>
                  <a:schemeClr val="dk1"/>
                </a:solidFill>
              </a:rPr>
              <a:t> belong primarily to the Metasploit Framework's Ruby development architecture.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Purpose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They provide reusable methods to module developers.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Benefits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Code reuse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Standardized functionality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Abstraction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Cross-session handling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a7388b958_0_30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g3fa7388b958_0_30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9" name="Google Shape;359;g3fa7388b958_0_302"/>
          <p:cNvSpPr txBox="1"/>
          <p:nvPr/>
        </p:nvSpPr>
        <p:spPr>
          <a:xfrm>
            <a:off x="446942" y="1131297"/>
            <a:ext cx="8254500" cy="39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Post-Exploitation Mixins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reference PPT identifies examples such as: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Msf::Post::Common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Provides common post-exploitation utilities.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Msf::Post::Windows::Priv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Provides standardized privilege-related functionality.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Msf::Post::File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Abstracts file-system operations.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Key idea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Mixins allow developers to write modules against </a:t>
            </a:r>
            <a:r>
              <a:rPr b="1" lang="en-US" sz="1100">
                <a:solidFill>
                  <a:schemeClr val="dk1"/>
                </a:solidFill>
              </a:rPr>
              <a:t>common abstractions instead of rebuilding platform-specific functionality repeatedly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a7388b958_0_308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g3fa7388b958_0_308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66" name="Google Shape;366;g3fa7388b958_0_308"/>
          <p:cNvSpPr txBox="1"/>
          <p:nvPr/>
        </p:nvSpPr>
        <p:spPr>
          <a:xfrm>
            <a:off x="446942" y="1131297"/>
            <a:ext cx="8254500" cy="43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VNC INJECTION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What is VNC Injection?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VNC Injection</a:t>
            </a:r>
            <a:r>
              <a:rPr lang="en-US" sz="1100">
                <a:solidFill>
                  <a:schemeClr val="dk1"/>
                </a:solidFill>
              </a:rPr>
              <a:t> is a post-exploitation technique in which a VNC server component is introduced into a running target process to provide graphical interaction.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Concept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Meterpreter Session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Target Process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VNC Component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Graphical Desktop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a7388b958_0_314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" name="Google Shape;372;g3fa7388b958_0_314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73" name="Google Shape;373;g3fa7388b958_0_314"/>
          <p:cNvSpPr txBox="1"/>
          <p:nvPr/>
        </p:nvSpPr>
        <p:spPr>
          <a:xfrm>
            <a:off x="446942" y="1131297"/>
            <a:ext cx="8254500" cy="3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VNC Injection and Process Injection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VNC injection may involve: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Cross-process memory operations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Code loading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Remote thread execution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Desktop/graphics interaction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Security perspective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This creates detectable behavioral indicators.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Potential signals include: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Executable memory allocation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Cross-process memory writes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Remote thread creation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Unexpected network behavior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a7388b958_0_32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9" name="Google Shape;379;g3fa7388b958_0_32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80" name="Google Shape;380;g3fa7388b958_0_320"/>
          <p:cNvSpPr txBox="1"/>
          <p:nvPr/>
        </p:nvSpPr>
        <p:spPr>
          <a:xfrm>
            <a:off x="446942" y="1131297"/>
            <a:ext cx="8254500" cy="50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VNC Detection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Endpoint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Look for: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Cross-process injection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Suspicious memory allocation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Unexpected threads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Unusual process behavior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Network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Look for: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Unexpected VNC-related connections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New listening behavior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Unusual screen-data traffic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Memory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Look for: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Injected threads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Unbacked executable memory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Suspicious modules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a7388b958_0_326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g3fa7388b958_0_326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87" name="Google Shape;387;g3fa7388b958_0_326"/>
          <p:cNvSpPr txBox="1"/>
          <p:nvPr/>
        </p:nvSpPr>
        <p:spPr>
          <a:xfrm>
            <a:off x="446942" y="1131297"/>
            <a:ext cx="8254500" cy="49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REMOTE DESKTOP / RDP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Remote Desktop Protocol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RDP</a:t>
            </a:r>
            <a:r>
              <a:rPr lang="en-US" sz="1100">
                <a:solidFill>
                  <a:schemeClr val="dk1"/>
                </a:solidFill>
              </a:rPr>
              <a:t> provides graphical remote access to Windows systems.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Architecture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Remote Client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Network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RDP Service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Windows Desktop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Default RDP service port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TCP 3389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fa7388b958_0_33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g3fa7388b958_0_33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94" name="Google Shape;394;g3fa7388b958_0_332"/>
          <p:cNvSpPr txBox="1"/>
          <p:nvPr/>
        </p:nvSpPr>
        <p:spPr>
          <a:xfrm>
            <a:off x="446942" y="1131297"/>
            <a:ext cx="8254500" cy="19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Enabling Remote Desktop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In an authorized assessment, RDP enablement demonstrates how an existing foothold can be converted into remote graphical access.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 reference PPT describes three important areas: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Registry configuration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Windows Firewall configuration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User/account permissions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a7388b958_0_338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g3fa7388b958_0_338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01" name="Google Shape;401;g3fa7388b958_0_338"/>
          <p:cNvSpPr txBox="1"/>
          <p:nvPr/>
        </p:nvSpPr>
        <p:spPr>
          <a:xfrm>
            <a:off x="446942" y="1131297"/>
            <a:ext cx="8254500" cy="3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RDP Registry Configuration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Windows maintains configuration related to whether Remote Desktop connections are permitted.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Security-relevant location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Terminal Server configuration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DFIR significance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change that enables RDP can become an investigation artifact.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Monitor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Registry modifications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Configuration changes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Process responsible for modification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a7388b958_0_344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g3fa7388b958_0_344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08" name="Google Shape;408;g3fa7388b958_0_344"/>
          <p:cNvSpPr txBox="1"/>
          <p:nvPr/>
        </p:nvSpPr>
        <p:spPr>
          <a:xfrm>
            <a:off x="446942" y="1131297"/>
            <a:ext cx="8254500" cy="28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RDP Firewall Configuration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Enabling RDP may require appropriate firewall configuration.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Security consequence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firewall rule permitting RDP increases the reachable attack surface.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Defender should monitor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New firewall rules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Changes to existing rules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TCP 3389 exposure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Source networks allowed to connect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a7388b958_0_36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4" name="Google Shape;414;g3fa7388b958_0_36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15" name="Google Shape;415;g3fa7388b958_0_365"/>
          <p:cNvSpPr txBox="1"/>
          <p:nvPr/>
        </p:nvSpPr>
        <p:spPr>
          <a:xfrm>
            <a:off x="446942" y="1131297"/>
            <a:ext cx="8254500" cy="25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Network Level Authentication</a:t>
            </a:r>
            <a:endParaRPr b="1"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NLA = Network Level Authentication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NLA requires authentication before a full Remote Desktop session is established.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Security benefit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It helps reduce exposure to certain pre-authentication attack scenarios.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Recommendation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Keep NLA enabled where appropriate and supported.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a7388b958_0_37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1" name="Google Shape;421;g3fa7388b958_0_37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22" name="Google Shape;422;g3fa7388b958_0_372"/>
          <p:cNvSpPr txBox="1"/>
          <p:nvPr/>
        </p:nvSpPr>
        <p:spPr>
          <a:xfrm>
            <a:off x="446942" y="1131297"/>
            <a:ext cx="8254500" cy="50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RDP Detection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SOC monitoring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Monitor: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Successful RDP logins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Failed authentication attempts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Source IP addresses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Privileged accounts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Unusual login times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New RDP configuration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Correlation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Registry Change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+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Firewall Change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+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RDP Login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+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Unusual Source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High-Priority Investigation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a7388b958_0_37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8" name="Google Shape;428;g3fa7388b958_0_37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29" name="Google Shape;429;g3fa7388b958_0_379"/>
          <p:cNvSpPr txBox="1"/>
          <p:nvPr/>
        </p:nvSpPr>
        <p:spPr>
          <a:xfrm>
            <a:off x="446942" y="1131297"/>
            <a:ext cx="8254500" cy="5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Meterpreter Detection Strategy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There is no single "Meterpreter signature" that guarantees detection.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Use multiple telemetry sources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Endpoint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Process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Memory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DLL/module behavior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Process injection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Network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Connections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Periodicity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Destinations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Protocol behavior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Authentication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Source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Time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Privilege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Configuration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Registry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Firewall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Services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a7388b958_0_38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g3fa7388b958_0_38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36" name="Google Shape;436;g3fa7388b958_0_385"/>
          <p:cNvSpPr txBox="1"/>
          <p:nvPr/>
        </p:nvSpPr>
        <p:spPr>
          <a:xfrm>
            <a:off x="446942" y="1131297"/>
            <a:ext cx="8254500" cy="45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SOC Correlation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Example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Suspicious Process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Unexpected Network Connection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Registry Modification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Unusual Login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Potential Post-Exploitation Activity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Important principle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Correlation increases confidence.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single unusual event may be legitimate.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Several related events occurring together are much more significant.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a7388b958_0_39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2" name="Google Shape;442;g3fa7388b958_0_39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43" name="Google Shape;443;g3fa7388b958_0_391"/>
          <p:cNvSpPr txBox="1"/>
          <p:nvPr/>
        </p:nvSpPr>
        <p:spPr>
          <a:xfrm>
            <a:off x="446942" y="1131297"/>
            <a:ext cx="8254500" cy="52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DFIR Investigation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When investigating suspected Meterpreter/post-exploitation activity: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1. Identify initial access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How did the session originate?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2. Identify execution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Which process executed?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3. Identify communication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Where did the endpoint communicate?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4. Identify privileges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Which user/security context was involved?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5. Identify actions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What happened after session establishment?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6. Build timeline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Correlate all evidence sources.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a7388b958_0_39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9" name="Google Shape;449;g3fa7388b958_0_39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50" name="Google Shape;450;g3fa7388b958_0_397"/>
          <p:cNvSpPr txBox="1"/>
          <p:nvPr/>
        </p:nvSpPr>
        <p:spPr>
          <a:xfrm>
            <a:off x="446942" y="1131297"/>
            <a:ext cx="8254500" cy="51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Evidence Sources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Endpoint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Windows Event Logs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Sysmon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EDR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Process telemetry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Memory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Network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Firewall logs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IDS/IPS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NetFlow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Packet captures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DNS logs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System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Registry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File system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Services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Authentication records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Tools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Wireshark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Sysmon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Volatility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Wazuh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Splunk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ELK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a7388b958_0_408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6" name="Google Shape;456;g3fa7388b958_0_408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57" name="Google Shape;457;g3fa7388b958_0_408"/>
          <p:cNvSpPr txBox="1"/>
          <p:nvPr/>
        </p:nvSpPr>
        <p:spPr>
          <a:xfrm>
            <a:off x="446942" y="1131297"/>
            <a:ext cx="8254500" cy="37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Case Study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Scenario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 Windows workstation generates: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Unusual process execution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Outbound network connection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Registry modification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Unexpected RDP configuration change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Remote login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Student questions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Which event occurred first?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What is the likely attack sequence?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Which events are strong indicators?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What telemetry confirms the activity?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What security control could have stopped it?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a7388b958_0_41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3" name="Google Shape;463;g3fa7388b958_0_41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64" name="Google Shape;464;g3fa7388b958_0_415"/>
          <p:cNvSpPr txBox="1"/>
          <p:nvPr/>
        </p:nvSpPr>
        <p:spPr>
          <a:xfrm>
            <a:off x="446942" y="1131297"/>
            <a:ext cx="8254500" cy="54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Complete Meterpreter-2 Concept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	  Meterpreter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		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┌──────────┼──────────┐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           		↓	        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Communication     System            Automation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|        	         Access 	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           		 ↓              	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Transports	     Registry	           Resource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Pivoting      	      Desktop	            Scripts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	        Input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		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		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	Remote Access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VNC / RDP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	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    ↓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Detection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┌─────────┼─────────┐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		           ↓	     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EDR	        SIEM	           DFIR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2024-12-13T07:18:04Z</dcterms:created>
  <dc:creator>Administrator</dc:creator>
</cp:coreProperties>
</file>