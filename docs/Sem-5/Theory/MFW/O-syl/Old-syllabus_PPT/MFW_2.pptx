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</p:sldIdLst>
  <p:sldSz cy="6858000" cx="9144000"/>
  <p:notesSz cx="6858000" cy="9144000"/>
  <p:embeddedFontLst>
    <p:embeddedFont>
      <p:font typeface="Roboto Mono"/>
      <p:regular r:id="rId64"/>
      <p:bold r:id="rId65"/>
      <p:italic r:id="rId66"/>
      <p:boldItalic r:id="rId6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ECD46BF-445C-41D8-8BF8-35ADF1E2A820}">
  <a:tblStyle styleId="{0ECD46BF-445C-41D8-8BF8-35ADF1E2A82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font" Target="fonts/RobotoMono-regular.fntdata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font" Target="fonts/RobotoMono-italic.fntdata"/><Relationship Id="rId21" Type="http://schemas.openxmlformats.org/officeDocument/2006/relationships/slide" Target="slides/slide16.xml"/><Relationship Id="rId65" Type="http://schemas.openxmlformats.org/officeDocument/2006/relationships/font" Target="fonts/RobotoMono-bold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7" Type="http://schemas.openxmlformats.org/officeDocument/2006/relationships/font" Target="fonts/RobotoMono-boldItalic.fntdata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" name="Google Shape;33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" name="Google Shape;40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" name="Google Shape;46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" name="Google Shape;53;p6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h4fc3a69a0b392790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" name="Google Shape;61;h4fc3a69a0b392790_0_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h4fc3a69a0b392790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" name="Google Shape;68;h4fc3a69a0b392790_0_1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h4fc3a69a0b392790_0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" name="Google Shape;75;h4fc3a69a0b392790_0_1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h4fc3a69a0b392790_0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" name="Google Shape;82;h4fc3a69a0b392790_0_2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h4fc3a69a0b392790_0_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" name="Google Shape;89;h4fc3a69a0b392790_0_2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h4fc3a69a0b392790_0_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" name="Google Shape;97;h4fc3a69a0b392790_0_3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h4fc3a69a0b392790_0_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" name="Google Shape;104;h4fc3a69a0b392790_0_4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h4fc3a69a0b392790_0_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" name="Google Shape;111;h4fc3a69a0b392790_0_4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h4fc3a69a0b392790_0_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h4fc3a69a0b392790_0_5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h4fc3a69a0b392790_0_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" name="Google Shape;125;h4fc3a69a0b392790_0_5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h4fc3a69a0b392790_0_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h4fc3a69a0b392790_0_6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h4fc3a69a0b392790_0_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" name="Google Shape;140;h4fc3a69a0b392790_0_7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h4fc3a69a0b392790_0_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" name="Google Shape;147;h4fc3a69a0b392790_0_7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h4fc3a69a0b392790_0_8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" name="Google Shape;154;h4fc3a69a0b392790_0_8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h4fc3a69a0b392790_0_8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h4fc3a69a0b392790_0_8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h4fc3a69a0b392790_0_9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" name="Google Shape;168;h4fc3a69a0b392790_0_9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h4fc3a69a0b392790_0_1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h4fc3a69a0b392790_0_12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h4fc3a69a0b392790_0_1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h4fc3a69a0b392790_0_13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h4fc3a69a0b392790_0_1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9" name="Google Shape;189;h4fc3a69a0b392790_0_13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h4fc3a69a0b392790_0_1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h4fc3a69a0b392790_0_14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h4fc3a69a0b392790_0_1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3" name="Google Shape;203;h4fc3a69a0b392790_0_15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h4fc3a69a0b392790_0_1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2" name="Google Shape;212;h4fc3a69a0b392790_0_15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h4fc3a69a0b392790_0_1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9" name="Google Shape;219;h4fc3a69a0b392790_0_16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h4fc3a69a0b392790_0_1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7" name="Google Shape;227;h4fc3a69a0b392790_0_16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h4fc3a69a0b392790_0_1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4" name="Google Shape;234;h4fc3a69a0b392790_0_17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h4fc3a69a0b392790_0_18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1" name="Google Shape;241;h4fc3a69a0b392790_0_18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h4fc3a69a0b392790_0_1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9" name="Google Shape;249;h4fc3a69a0b392790_0_18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h4fc3a69a0b392790_0_1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6" name="Google Shape;256;h4fc3a69a0b392790_0_19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h4fc3a69a0b392790_0_1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3" name="Google Shape;263;h4fc3a69a0b392790_0_19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h4fc3a69a0b392790_0_20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0" name="Google Shape;270;h4fc3a69a0b392790_0_20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h4fc3a69a0b392790_0_2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7" name="Google Shape;277;h4fc3a69a0b392790_0_21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h4fc3a69a0b392790_0_2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4" name="Google Shape;284;h4fc3a69a0b392790_0_21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h4fc3a69a0b392790_0_2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1" name="Google Shape;291;h4fc3a69a0b392790_0_22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h4fc3a69a0b392790_0_2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9" name="Google Shape;299;h4fc3a69a0b392790_0_22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h4fc3a69a0b392790_0_2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6" name="Google Shape;306;h4fc3a69a0b392790_0_23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h4fc3a69a0b392790_0_2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3" name="Google Shape;313;h4fc3a69a0b392790_0_24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h4fc3a69a0b392790_0_2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0" name="Google Shape;320;h4fc3a69a0b392790_0_24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h4fc3a69a0b392790_0_2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7" name="Google Shape;327;h4fc3a69a0b392790_0_28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h4fc3a69a0b392790_0_2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5" name="Google Shape;335;h4fc3a69a0b392790_0_28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h4fc3a69a0b392790_0_29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2" name="Google Shape;342;h4fc3a69a0b392790_0_29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h4fc3a69a0b392790_0_29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9" name="Google Shape;349;h4fc3a69a0b392790_0_29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h4fc3a69a0b392790_0_30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6" name="Google Shape;356;h4fc3a69a0b392790_0_30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h4fc3a69a0b392790_0_3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3" name="Google Shape;363;h4fc3a69a0b392790_0_31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h4fc3a69a0b392790_0_3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0" name="Google Shape;370;h4fc3a69a0b392790_0_31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h4fc3a69a0b392790_0_3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7" name="Google Shape;377;h4fc3a69a0b392790_0_32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h4fc3a69a0b392790_0_3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4" name="Google Shape;384;h4fc3a69a0b392790_0_32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h4fc3a69a0b392790_0_3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1" name="Google Shape;391;h4fc3a69a0b392790_0_33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h4fc3a69a0b392790_0_3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8" name="Google Shape;398;h4fc3a69a0b392790_0_35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h4fc3a69a0b392790_0_3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5" name="Google Shape;405;h4fc3a69a0b392790_0_36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h4fc3a69a0b392790_0_3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2" name="Google Shape;412;h4fc3a69a0b392790_0_36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h4fc3a69a0b392790_0_3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9" name="Google Shape;419;h4fc3a69a0b392790_0_37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h4fc3a69a0b392790_0_3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6" name="Google Shape;426;h4fc3a69a0b392790_0_38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h4fc3a69a0b392790_0_38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3" name="Google Shape;433;h4fc3a69a0b392790_0_38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1" name="Google Shape;441;p6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/>
          <p:nvPr/>
        </p:nvSpPr>
        <p:spPr>
          <a:xfrm>
            <a:off x="4" y="1955845"/>
            <a:ext cx="9143999" cy="1935817"/>
          </a:xfrm>
          <a:custGeom>
            <a:rect b="b" l="l" r="r" t="t"/>
            <a:pathLst>
              <a:path extrusionOk="0" h="2628900" w="7556500">
                <a:moveTo>
                  <a:pt x="0" y="2628900"/>
                </a:moveTo>
                <a:lnTo>
                  <a:pt x="0" y="0"/>
                </a:lnTo>
                <a:lnTo>
                  <a:pt x="7556500" y="0"/>
                </a:lnTo>
                <a:lnTo>
                  <a:pt x="7556500" y="2628900"/>
                </a:lnTo>
                <a:lnTo>
                  <a:pt x="0" y="2628900"/>
                </a:lnTo>
                <a:close/>
              </a:path>
            </a:pathLst>
          </a:custGeom>
          <a:solidFill>
            <a:srgbClr val="1F48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</a:pPr>
            <a:r>
              <a:t/>
            </a:r>
            <a:endParaRPr b="0" i="0" sz="8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603478" y="2256535"/>
            <a:ext cx="7887578" cy="13388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Prompt Engineering </a:t>
            </a:r>
            <a:br>
              <a:rPr b="1" i="0" lang="en-US" sz="4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03014601ES01</a:t>
            </a:r>
            <a:endParaRPr b="1" i="0" sz="40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15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52755" y="250378"/>
            <a:ext cx="8438496" cy="6951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dex Layout">
  <p:cSld name="Index Layou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oogle Shape;17;p3"/>
          <p:cNvGrpSpPr/>
          <p:nvPr/>
        </p:nvGrpSpPr>
        <p:grpSpPr>
          <a:xfrm>
            <a:off x="445191" y="0"/>
            <a:ext cx="8698811" cy="6857999"/>
            <a:chOff x="-4801433" y="-1782234"/>
            <a:chExt cx="18084927" cy="14257864"/>
          </a:xfrm>
        </p:grpSpPr>
        <p:sp>
          <p:nvSpPr>
            <p:cNvPr id="18" name="Google Shape;18;p3"/>
            <p:cNvSpPr/>
            <p:nvPr/>
          </p:nvSpPr>
          <p:spPr>
            <a:xfrm>
              <a:off x="-4801433" y="1790698"/>
              <a:ext cx="12600815" cy="983098"/>
            </a:xfrm>
            <a:custGeom>
              <a:rect b="b" l="l" r="r" t="t"/>
              <a:pathLst>
                <a:path extrusionOk="0" h="660400" w="4610100">
                  <a:moveTo>
                    <a:pt x="0" y="660400"/>
                  </a:moveTo>
                  <a:lnTo>
                    <a:pt x="4610100" y="660400"/>
                  </a:lnTo>
                  <a:lnTo>
                    <a:pt x="4610100" y="0"/>
                  </a:lnTo>
                  <a:lnTo>
                    <a:pt x="0" y="0"/>
                  </a:lnTo>
                  <a:lnTo>
                    <a:pt x="0" y="66040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65"/>
                <a:buFont typeface="Arial"/>
                <a:buNone/>
              </a:pPr>
              <a:r>
                <a:t/>
              </a:r>
              <a:endParaRPr b="0" i="0" sz="86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9;p3"/>
            <p:cNvSpPr/>
            <p:nvPr/>
          </p:nvSpPr>
          <p:spPr>
            <a:xfrm>
              <a:off x="8339276" y="-1782234"/>
              <a:ext cx="4944218" cy="14257864"/>
            </a:xfrm>
            <a:custGeom>
              <a:rect b="b" l="l" r="r" t="t"/>
              <a:pathLst>
                <a:path extrusionOk="0" h="10693400" w="2387600">
                  <a:moveTo>
                    <a:pt x="0" y="0"/>
                  </a:moveTo>
                  <a:lnTo>
                    <a:pt x="2387600" y="0"/>
                  </a:lnTo>
                  <a:lnTo>
                    <a:pt x="2387600" y="10693400"/>
                  </a:lnTo>
                  <a:lnTo>
                    <a:pt x="0" y="10693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487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65"/>
                <a:buFont typeface="Arial"/>
                <a:buNone/>
              </a:pPr>
              <a:r>
                <a:t/>
              </a:r>
              <a:endParaRPr b="0" i="0" sz="86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0" name="Google Shape;20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645166" y="253736"/>
            <a:ext cx="2161851" cy="86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2755" y="253736"/>
            <a:ext cx="4597617" cy="6918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1" y="6493764"/>
            <a:ext cx="9143999" cy="419100"/>
          </a:xfrm>
          <a:custGeom>
            <a:rect b="b" l="l" r="r" t="t"/>
            <a:pathLst>
              <a:path extrusionOk="0" h="393700" w="75565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</a:pPr>
            <a:r>
              <a:t/>
            </a:r>
            <a:endParaRPr b="0" i="0" sz="8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" name="Google Shape;24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52755" y="250378"/>
            <a:ext cx="8438496" cy="6951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slide Layout">
  <p:cSld name="Endslide Layou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Layout">
  <p:cSld name="Content Layou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1" y="6493764"/>
            <a:ext cx="9143999" cy="419100"/>
          </a:xfrm>
          <a:custGeom>
            <a:rect b="b" l="l" r="r" t="t"/>
            <a:pathLst>
              <a:path extrusionOk="0" h="393700" w="755650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</a:pPr>
            <a:r>
              <a:t/>
            </a:r>
            <a:endParaRPr b="0" i="0" sz="8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6"/>
          <p:cNvSpPr/>
          <p:nvPr/>
        </p:nvSpPr>
        <p:spPr>
          <a:xfrm>
            <a:off x="344873" y="3245670"/>
            <a:ext cx="2761065" cy="4030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4"/>
              <a:buFont typeface="Arial"/>
              <a:buNone/>
            </a:pPr>
            <a:r>
              <a:rPr b="1" i="0" lang="en-US" sz="115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b="0" i="0" lang="en-US" sz="86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8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" name="Google Shape;30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52755" y="250378"/>
            <a:ext cx="8438496" cy="6951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28650" y="934578"/>
            <a:ext cx="7886700" cy="1178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28650" y="2249992"/>
            <a:ext cx="7886700" cy="40956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/>
          <p:nvPr/>
        </p:nvSpPr>
        <p:spPr>
          <a:xfrm>
            <a:off x="4" y="1955845"/>
            <a:ext cx="9143365" cy="1938814"/>
          </a:xfrm>
          <a:custGeom>
            <a:rect b="b" l="l" r="r" t="t"/>
            <a:pathLst>
              <a:path extrusionOk="0" h="2628900" w="7556500">
                <a:moveTo>
                  <a:pt x="0" y="2628900"/>
                </a:moveTo>
                <a:lnTo>
                  <a:pt x="0" y="0"/>
                </a:lnTo>
                <a:lnTo>
                  <a:pt x="7556500" y="0"/>
                </a:lnTo>
                <a:lnTo>
                  <a:pt x="7556500" y="2628900"/>
                </a:lnTo>
                <a:lnTo>
                  <a:pt x="0" y="2628900"/>
                </a:lnTo>
                <a:close/>
              </a:path>
            </a:pathLst>
          </a:custGeom>
          <a:solidFill>
            <a:srgbClr val="1F48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/>
              <a:buNone/>
            </a:pPr>
            <a:r>
              <a:t/>
            </a:r>
            <a:endParaRPr b="0" i="0" sz="8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7"/>
          <p:cNvSpPr/>
          <p:nvPr/>
        </p:nvSpPr>
        <p:spPr>
          <a:xfrm>
            <a:off x="152087" y="2223870"/>
            <a:ext cx="8839200" cy="21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Metasploit Frame work</a:t>
            </a:r>
            <a:endParaRPr b="1" i="0" sz="4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303105324</a:t>
            </a:r>
            <a:endParaRPr b="1" i="0" sz="4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7"/>
          <p:cNvSpPr/>
          <p:nvPr/>
        </p:nvSpPr>
        <p:spPr>
          <a:xfrm>
            <a:off x="342741" y="5601409"/>
            <a:ext cx="3832829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Mr Bibungsarth Islary</a:t>
            </a:r>
            <a:br>
              <a:rPr b="1" i="0" lang="en-US" sz="105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Assistant Professor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CSE (Cyber Security 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/>
        </p:nvSpPr>
        <p:spPr>
          <a:xfrm>
            <a:off x="509733" y="1758619"/>
            <a:ext cx="6074228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Content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8"/>
          <p:cNvSpPr txBox="1"/>
          <p:nvPr/>
        </p:nvSpPr>
        <p:spPr>
          <a:xfrm>
            <a:off x="509733" y="2189506"/>
            <a:ext cx="5960100" cy="42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b="1" lang="en-US" sz="1100">
                <a:solidFill>
                  <a:schemeClr val="dk1"/>
                </a:solidFill>
              </a:rPr>
              <a:t>Server-Side Exploitation Fundamentals</a:t>
            </a:r>
            <a:endParaRPr b="1" sz="11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b="1" lang="en-US" sz="1100">
                <a:solidFill>
                  <a:schemeClr val="dk1"/>
                </a:solidFill>
              </a:rPr>
              <a:t>Exploitation Methodology</a:t>
            </a:r>
            <a:endParaRPr b="1" sz="11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b="1" lang="en-US" sz="1100">
                <a:solidFill>
                  <a:schemeClr val="dk1"/>
                </a:solidFill>
              </a:rPr>
              <a:t>Metasploit Exploitation Architecture</a:t>
            </a:r>
            <a:endParaRPr b="1" sz="11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b="1" lang="en-US" sz="1100">
                <a:solidFill>
                  <a:schemeClr val="dk1"/>
                </a:solidFill>
              </a:rPr>
              <a:t>Exploiting a Linux Server</a:t>
            </a:r>
            <a:endParaRPr b="1" sz="11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b="1" lang="en-US" sz="1100">
                <a:solidFill>
                  <a:schemeClr val="dk1"/>
                </a:solidFill>
              </a:rPr>
              <a:t>Linux Privilege Context</a:t>
            </a:r>
            <a:endParaRPr b="1" sz="11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b="1" lang="en-US" sz="1100">
                <a:solidFill>
                  <a:schemeClr val="dk1"/>
                </a:solidFill>
              </a:rPr>
              <a:t>Exploiting a Windows Machine</a:t>
            </a:r>
            <a:endParaRPr b="1" sz="11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b="1" lang="en-US" sz="1100">
                <a:solidFill>
                  <a:schemeClr val="dk1"/>
                </a:solidFill>
              </a:rPr>
              <a:t>Windows Services and Attack Surface</a:t>
            </a:r>
            <a:endParaRPr b="1" sz="11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b="1" lang="en-US" sz="1100">
                <a:solidFill>
                  <a:schemeClr val="dk1"/>
                </a:solidFill>
              </a:rPr>
              <a:t>Exploiting Common Services</a:t>
            </a:r>
            <a:endParaRPr b="1" sz="11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b="1" lang="en-US" sz="1100">
                <a:solidFill>
                  <a:schemeClr val="dk1"/>
                </a:solidFill>
              </a:rPr>
              <a:t>Payloads and Handlers</a:t>
            </a:r>
            <a:endParaRPr b="1" sz="11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b="1" lang="en-US" sz="1100">
                <a:solidFill>
                  <a:schemeClr val="dk1"/>
                </a:solidFill>
              </a:rPr>
              <a:t>Sessions and Post-Exploitation</a:t>
            </a:r>
            <a:endParaRPr b="1" sz="11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b="1" lang="en-US" sz="1100">
                <a:solidFill>
                  <a:schemeClr val="dk1"/>
                </a:solidFill>
              </a:rPr>
              <a:t>Failed Exploitation and Troubleshooting</a:t>
            </a:r>
            <a:endParaRPr b="1" sz="11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b="1" lang="en-US" sz="1100">
                <a:solidFill>
                  <a:schemeClr val="dk1"/>
                </a:solidFill>
              </a:rPr>
              <a:t>Attack Path and Attack Graph</a:t>
            </a:r>
            <a:endParaRPr b="1" sz="11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b="1" lang="en-US" sz="1100">
                <a:solidFill>
                  <a:schemeClr val="dk1"/>
                </a:solidFill>
              </a:rPr>
              <a:t>Detection and DFIR</a:t>
            </a:r>
            <a:endParaRPr b="1" sz="11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b="1" lang="en-US" sz="1100">
                <a:solidFill>
                  <a:schemeClr val="dk1"/>
                </a:solidFill>
              </a:rPr>
              <a:t>Case Studies</a:t>
            </a:r>
            <a:endParaRPr b="1" sz="11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b="1" lang="en-US" sz="1100">
                <a:solidFill>
                  <a:schemeClr val="dk1"/>
                </a:solidFill>
              </a:rPr>
              <a:t>Practical Exercises</a:t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" name="Google Shape;49;p9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50" name="Google Shape;50;p9"/>
          <p:cNvSpPr txBox="1"/>
          <p:nvPr/>
        </p:nvSpPr>
        <p:spPr>
          <a:xfrm>
            <a:off x="446942" y="1131297"/>
            <a:ext cx="8254500" cy="45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dk1"/>
                </a:solidFill>
              </a:rPr>
              <a:t>Server-Side Exploitation</a:t>
            </a:r>
            <a:endParaRPr b="1" sz="2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Server-side exploitation is the process of taking advantage of a vulnerability in a service or application running on a server.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Basic concept</a:t>
            </a:r>
            <a:endParaRPr b="1" sz="11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Attacker</a:t>
            </a:r>
            <a:endParaRPr sz="11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↓</a:t>
            </a:r>
            <a:endParaRPr sz="11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Network</a:t>
            </a:r>
            <a:endParaRPr sz="11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↓</a:t>
            </a:r>
            <a:endParaRPr sz="11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Server</a:t>
            </a:r>
            <a:endParaRPr sz="11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↓</a:t>
            </a:r>
            <a:endParaRPr sz="11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Vulnerable Service</a:t>
            </a:r>
            <a:endParaRPr sz="11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↓</a:t>
            </a:r>
            <a:endParaRPr sz="11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Vulnerability</a:t>
            </a:r>
            <a:endParaRPr sz="11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↓</a:t>
            </a:r>
            <a:endParaRPr sz="11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Code / Command Execution</a:t>
            </a:r>
            <a:endParaRPr sz="11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↓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Session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Main objective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Gain unauthorized execution or access within an authorized security assessment.</a:t>
            </a:r>
            <a:endParaRPr b="1"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" name="Google Shape;56;p10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57" name="Google Shape;57;p10"/>
          <p:cNvSpPr txBox="1"/>
          <p:nvPr/>
        </p:nvSpPr>
        <p:spPr>
          <a:xfrm>
            <a:off x="296667" y="1023572"/>
            <a:ext cx="8254500" cy="3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Server Attack Surface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A server may expose multiple services.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Examples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HTTP / HTTPS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FTP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SSH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SMB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RDP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DNS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SMTP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Databases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Remote administration services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</p:txBody>
      </p:sp>
      <p:sp>
        <p:nvSpPr>
          <p:cNvPr id="58" name="Google Shape;58;p10"/>
          <p:cNvSpPr txBox="1"/>
          <p:nvPr/>
        </p:nvSpPr>
        <p:spPr>
          <a:xfrm>
            <a:off x="4301571" y="1472375"/>
            <a:ext cx="4321500" cy="29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Important idea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Every exposed service represents a potential attack surface.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        SERVER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                |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  +---------+---------+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  |             |           |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 HTTP   SMB    SSH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  |             |           |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WebApp  Files  Remote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           Sharing   Access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1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" name="Google Shape;64;p11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65" name="Google Shape;65;p11"/>
          <p:cNvSpPr txBox="1"/>
          <p:nvPr/>
        </p:nvSpPr>
        <p:spPr>
          <a:xfrm>
            <a:off x="296667" y="1023572"/>
            <a:ext cx="8254500" cy="54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Exploitation Chain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Server exploitation usually follows a sequence.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Reconnaissance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  ↓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Service Discovery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  ↓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Version Identification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  ↓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Vulnerability Identification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  ↓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Exploit Selection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  ↓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Target Configuration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  ↓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Exploit Attempt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  ↓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Session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  ↓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Post-Exploitation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Evidence / Reporting</a:t>
            </a:r>
            <a:endParaRPr b="1"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2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" name="Google Shape;71;p12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72" name="Google Shape;72;p12"/>
          <p:cNvSpPr txBox="1"/>
          <p:nvPr/>
        </p:nvSpPr>
        <p:spPr>
          <a:xfrm>
            <a:off x="296667" y="1023572"/>
            <a:ext cx="8254500" cy="49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Metasploit Exploitation Architecture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        Metasploit Framework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                |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    +-----------+-----------+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    |          	 |              |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 Exploit  Payload   Auxiliary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    |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  Target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    |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 Handler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    |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 Session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Major components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Exploit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Payload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Handler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Target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Session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Auxiliary modules</a:t>
            </a:r>
            <a:endParaRPr b="1"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8" name="Google Shape;78;p13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79" name="Google Shape;79;p13"/>
          <p:cNvSpPr txBox="1"/>
          <p:nvPr/>
        </p:nvSpPr>
        <p:spPr>
          <a:xfrm>
            <a:off x="296667" y="1023572"/>
            <a:ext cx="8254500" cy="43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Exploit Module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An exploit module contains the logic required to take advantage of a specific vulnerability.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Concept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Vulnerable Service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Vulnerability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Exploit Module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Target System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Exploit module may depend on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Product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Version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Operating system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Architecture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Target configuration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Vulnerability conditions</a:t>
            </a:r>
            <a:endParaRPr b="1"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4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" name="Google Shape;85;p14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86" name="Google Shape;86;p14"/>
          <p:cNvSpPr txBox="1"/>
          <p:nvPr/>
        </p:nvSpPr>
        <p:spPr>
          <a:xfrm>
            <a:off x="296667" y="1023572"/>
            <a:ext cx="8254500" cy="44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Payload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A payload defines what happens after successful exploitation.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Examples of objectives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Command execution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Interactive session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Meterpreter session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Exploit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Successful Execution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Payload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Session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Important distinction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Exploit = How access is obtained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Payload = What executes after access</a:t>
            </a:r>
            <a:endParaRPr b="1"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" name="Google Shape;92;p15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graphicFrame>
        <p:nvGraphicFramePr>
          <p:cNvPr id="93" name="Google Shape;93;p15"/>
          <p:cNvGraphicFramePr/>
          <p:nvPr/>
        </p:nvGraphicFramePr>
        <p:xfrm>
          <a:off x="354575" y="1901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{0ECD46BF-445C-41D8-8BF8-35ADF1E2A820}</a:tableStyleId>
              </a:tblPr>
              <a:tblGrid>
                <a:gridCol w="1857375"/>
                <a:gridCol w="2524125"/>
              </a:tblGrid>
              <a:tr h="228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Exploit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Payload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Targets vulnerability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Defines post-exploitation behavior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Gains execution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Executes functionality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Depends on vulnerability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Depends on target compatibility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Often target-specific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May have multiple options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94" name="Google Shape;94;p15"/>
          <p:cNvSpPr txBox="1"/>
          <p:nvPr/>
        </p:nvSpPr>
        <p:spPr>
          <a:xfrm>
            <a:off x="354575" y="1023575"/>
            <a:ext cx="3000000" cy="52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US" sz="2300"/>
              <a:t>Exploit vs Payload</a:t>
            </a:r>
            <a:endParaRPr b="1" sz="2300"/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b="1" sz="2300"/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b="1" sz="2300"/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b="1" sz="2300"/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b="1" sz="2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/>
              <a:t>Example</a:t>
            </a:r>
            <a:endParaRPr b="1"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/>
              <a:t>Vulnerability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      ↓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Exploit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      ↓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Payload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      ↓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Meterpreter Session</a:t>
            </a: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" name="Google Shape;100;p16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01" name="Google Shape;101;p16"/>
          <p:cNvSpPr txBox="1"/>
          <p:nvPr/>
        </p:nvSpPr>
        <p:spPr>
          <a:xfrm>
            <a:off x="296667" y="1023572"/>
            <a:ext cx="8254500" cy="43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Handler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A handler waits for and manages incoming connections from a payload.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Target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|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| Payload Connection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Metasploit Handler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Session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Handler configuration may include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Local host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Local port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Payload type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Communication method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Security perspective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Unexpected outbound connections can be important detection signals.</a:t>
            </a:r>
            <a:endParaRPr b="1"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" name="Google Shape;107;p17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08" name="Google Shape;108;p17"/>
          <p:cNvSpPr txBox="1"/>
          <p:nvPr/>
        </p:nvSpPr>
        <p:spPr>
          <a:xfrm>
            <a:off x="296667" y="1023572"/>
            <a:ext cx="8254500" cy="41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Basic Exploitation Workflow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search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use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info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show options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set required options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check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run / exploit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session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Important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Each step provides information before the next action.</a:t>
            </a:r>
            <a:endParaRPr b="1"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4" name="Google Shape;114;p18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15" name="Google Shape;115;p18"/>
          <p:cNvSpPr txBox="1"/>
          <p:nvPr/>
        </p:nvSpPr>
        <p:spPr>
          <a:xfrm>
            <a:off x="296667" y="1023572"/>
            <a:ext cx="8254500" cy="46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Module Discovery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Metasploit contains modules for different vulnerabilities and services.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Conceptual workflow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Service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Product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Version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Vulnerability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Metasploit Module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Useful commands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search &lt;keyword&gt;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info &lt;module&gt;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Example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search type:exploit platform:linux</a:t>
            </a:r>
            <a:endParaRPr b="1"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1" name="Google Shape;121;p19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22" name="Google Shape;122;p19"/>
          <p:cNvSpPr txBox="1"/>
          <p:nvPr/>
        </p:nvSpPr>
        <p:spPr>
          <a:xfrm>
            <a:off x="296667" y="1023572"/>
            <a:ext cx="8254500" cy="34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Information Before Exploitation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Before running an exploit, determine: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Target IP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Open ports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Running services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Service versions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Operating system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Architecture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Vulnerability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Exploit compatibility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Required options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Principle</a:t>
            </a:r>
            <a:endParaRPr b="1" sz="1100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Do not exploit what you have not understood.</a:t>
            </a:r>
            <a:endParaRPr b="1"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" name="Google Shape;128;p20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29" name="Google Shape;129;p20"/>
          <p:cNvSpPr txBox="1"/>
          <p:nvPr/>
        </p:nvSpPr>
        <p:spPr>
          <a:xfrm>
            <a:off x="296667" y="1023572"/>
            <a:ext cx="8254500" cy="4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Linux Server Exploitation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Linux servers commonly expose: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SSH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FTP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HTTP/HTTPS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SMB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DNS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Databases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Custom applications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Attacker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Linux Server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Exposed Service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Vulnerability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Exploit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Shell / Session</a:t>
            </a:r>
            <a:endParaRPr b="1"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5" name="Google Shape;135;p21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graphicFrame>
        <p:nvGraphicFramePr>
          <p:cNvPr id="136" name="Google Shape;136;p21"/>
          <p:cNvGraphicFramePr/>
          <p:nvPr/>
        </p:nvGraphicFramePr>
        <p:xfrm>
          <a:off x="411950" y="1914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{0ECD46BF-445C-41D8-8BF8-35ADF1E2A820}</a:tableStyleId>
              </a:tblPr>
              <a:tblGrid>
                <a:gridCol w="1114425"/>
                <a:gridCol w="2962275"/>
              </a:tblGrid>
              <a:tr h="228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Component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Possible Attack Surface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Authentication / configuration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FTP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Service vulnerabilities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HTTP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Web applications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SMB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File sharing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Database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Authentication / software vulnerabilities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Custom service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Application-specific vulnerabilities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37" name="Google Shape;137;p21"/>
          <p:cNvSpPr txBox="1"/>
          <p:nvPr/>
        </p:nvSpPr>
        <p:spPr>
          <a:xfrm>
            <a:off x="261300" y="841550"/>
            <a:ext cx="8882700" cy="49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US" sz="2300"/>
              <a:t>Linux Server Attack Surface</a:t>
            </a:r>
            <a:endParaRPr b="1" sz="2300"/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b="1" sz="2300"/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b="1" sz="2300"/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b="1" sz="2300"/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b="1" sz="2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/>
              <a:t>The operating system is not necessarily the vulnerability. The </a:t>
            </a:r>
            <a:r>
              <a:rPr b="1" lang="en-US" sz="1100"/>
              <a:t>service running on it</a:t>
            </a:r>
            <a:r>
              <a:rPr lang="en-US" sz="1100"/>
              <a:t> may be the entry point.</a:t>
            </a:r>
            <a:endParaRPr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3" name="Google Shape;143;p22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44" name="Google Shape;144;p22"/>
          <p:cNvSpPr txBox="1"/>
          <p:nvPr/>
        </p:nvSpPr>
        <p:spPr>
          <a:xfrm>
            <a:off x="296667" y="1023572"/>
            <a:ext cx="8254500" cy="38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Linux Exploitation Workflow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Discover Linux Host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Identify Services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Identify Versions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Research Vulnerability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Select Exploit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Select Payload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Configure Target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Exploit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Verify Session</a:t>
            </a:r>
            <a:endParaRPr b="1"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0" name="Google Shape;150;p23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51" name="Google Shape;151;p23"/>
          <p:cNvSpPr txBox="1"/>
          <p:nvPr/>
        </p:nvSpPr>
        <p:spPr>
          <a:xfrm>
            <a:off x="296667" y="1023572"/>
            <a:ext cx="8254500" cy="37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Linux Service Enumeration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Service enumeration attempts to identify what the server exposes.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Questions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Which ports are open?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Which services are running?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What versions are installed?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Is authentication required?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Is the service remotely accessible?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Does the service have a known vulnerability?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Example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Port 21  → FTP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Port 22  → SSH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Port 80  → HTTP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Port 443 → HTTPS</a:t>
            </a:r>
            <a:endParaRPr b="1"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4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7" name="Google Shape;157;p24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58" name="Google Shape;158;p24"/>
          <p:cNvSpPr txBox="1"/>
          <p:nvPr/>
        </p:nvSpPr>
        <p:spPr>
          <a:xfrm>
            <a:off x="296667" y="1023572"/>
            <a:ext cx="8254500" cy="45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FTP Server Exploitation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FTP commonly operates on: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TCP 21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Potential security issues: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Weak authentication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Anonymous access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Misconfiguration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Vulnerable FTP software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Outdated service versions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Attacker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FTP : 21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Vulnerable FTP Service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Exploit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Session</a:t>
            </a:r>
            <a:endParaRPr b="1"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4" name="Google Shape;164;p25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65" name="Google Shape;165;p25"/>
          <p:cNvSpPr txBox="1"/>
          <p:nvPr/>
        </p:nvSpPr>
        <p:spPr>
          <a:xfrm>
            <a:off x="296667" y="1023572"/>
            <a:ext cx="8254500" cy="38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SSH Service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SSH provides remote administration.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Default port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TCP 22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Security considerations: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Authentication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Password policy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Key management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Configuration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Software version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User privileges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Important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SSH itself is not automatically vulnerable simply because it is exposed.</a:t>
            </a:r>
            <a:endParaRPr b="1"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6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1" name="Google Shape;171;p26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72" name="Google Shape;172;p26"/>
          <p:cNvSpPr txBox="1"/>
          <p:nvPr/>
        </p:nvSpPr>
        <p:spPr>
          <a:xfrm>
            <a:off x="296667" y="1023572"/>
            <a:ext cx="8254500" cy="45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Linux Web Server Exploitation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Web services are common entry points.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Browser / Attacker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HTTP / HTTPS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Web Server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Application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Vulnerability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 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Code Execution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Possible weaknesses: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Outdated software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Vulnerable web application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Improper input validation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File handling vulnerabilities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Authentication weaknesses</a:t>
            </a:r>
            <a:endParaRPr b="1"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7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8" name="Google Shape;178;p27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79" name="Google Shape;179;p27"/>
          <p:cNvSpPr txBox="1"/>
          <p:nvPr/>
        </p:nvSpPr>
        <p:spPr>
          <a:xfrm>
            <a:off x="296667" y="1023572"/>
            <a:ext cx="8254500" cy="54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dk1"/>
                </a:solidFill>
              </a:rPr>
              <a:t>Linux Payload Selection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Payload selection depends on: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Target OS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Architecture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Available network path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Required session type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Exploit compatibility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Linux Target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↓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Architecture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↓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Compatible Payload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↓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Execution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↓</a:t>
            </a:r>
            <a:endParaRPr sz="11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Session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A correct exploit with an incompatible payload may still fail.</a:t>
            </a:r>
            <a:endParaRPr b="1"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8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5" name="Google Shape;185;p28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86" name="Google Shape;186;p28"/>
          <p:cNvSpPr txBox="1"/>
          <p:nvPr/>
        </p:nvSpPr>
        <p:spPr>
          <a:xfrm>
            <a:off x="296667" y="1023572"/>
            <a:ext cx="8254500" cy="3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dk1"/>
                </a:solidFill>
              </a:rPr>
              <a:t>Linux Session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After successful exploitation, verify the obtained context.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Important questions: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Which user am I?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What operating system is running?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What privileges are available?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What network interfaces exist?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What services are accessible?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Example concepts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getuid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sysinfo</a:t>
            </a:r>
            <a:endParaRPr b="1"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9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2" name="Google Shape;192;p29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93" name="Google Shape;193;p29"/>
          <p:cNvSpPr txBox="1"/>
          <p:nvPr/>
        </p:nvSpPr>
        <p:spPr>
          <a:xfrm>
            <a:off x="296667" y="1023572"/>
            <a:ext cx="8254500" cy="39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dk1"/>
                </a:solidFill>
              </a:rPr>
              <a:t>Linux Privilege Context</a:t>
            </a:r>
            <a:endParaRPr b="1" sz="2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A successful exploit does not necessarily mean root access.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Exploit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↓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Low-Privilege User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↓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Privilege Escalation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↓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Root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Security principle</a:t>
            </a:r>
            <a:endParaRPr b="1"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Initial access ≠ administrative control</a:t>
            </a:r>
            <a:endParaRPr b="1"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0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9" name="Google Shape;199;p30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200" name="Google Shape;200;p30"/>
          <p:cNvSpPr txBox="1"/>
          <p:nvPr/>
        </p:nvSpPr>
        <p:spPr>
          <a:xfrm>
            <a:off x="296667" y="1023572"/>
            <a:ext cx="8254500" cy="30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dk1"/>
                </a:solidFill>
              </a:rPr>
              <a:t>Linux Post-Exploitation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Once a session exists, an authorized tester may examine: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User context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System information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Network configuration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Running processes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Services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File permissions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Security configuration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Objective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Understand the impact of the compromise.</a:t>
            </a:r>
            <a:endParaRPr b="1"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1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6" name="Google Shape;206;p31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207" name="Google Shape;207;p31"/>
          <p:cNvSpPr txBox="1"/>
          <p:nvPr/>
        </p:nvSpPr>
        <p:spPr>
          <a:xfrm>
            <a:off x="296667" y="1023572"/>
            <a:ext cx="8254500" cy="22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Linux Exploitation Case Study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Scenario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A Linux server exposes: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22/tcp → SSH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80/tcp → HTTP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HTTP identifies an outdated vulnerable application.</a:t>
            </a:r>
            <a:endParaRPr b="1" sz="2300">
              <a:solidFill>
                <a:schemeClr val="dk1"/>
              </a:solidFill>
            </a:endParaRPr>
          </a:p>
        </p:txBody>
      </p:sp>
      <p:sp>
        <p:nvSpPr>
          <p:cNvPr id="208" name="Google Shape;208;p31"/>
          <p:cNvSpPr txBox="1"/>
          <p:nvPr/>
        </p:nvSpPr>
        <p:spPr>
          <a:xfrm>
            <a:off x="4615777" y="1608275"/>
            <a:ext cx="4362600" cy="47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Attack path</a:t>
            </a:r>
            <a:endParaRPr b="1"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Internet / Lab Network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↓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TCP 80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↓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Web Application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↓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Known Vulnerability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↓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Exploit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↓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Payload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Low-Privilege Session.</a:t>
            </a:r>
            <a:endParaRPr b="1" sz="2300">
              <a:solidFill>
                <a:schemeClr val="dk1"/>
              </a:solidFill>
            </a:endParaRPr>
          </a:p>
        </p:txBody>
      </p:sp>
      <p:sp>
        <p:nvSpPr>
          <p:cNvPr id="209" name="Google Shape;209;p31"/>
          <p:cNvSpPr txBox="1"/>
          <p:nvPr/>
        </p:nvSpPr>
        <p:spPr>
          <a:xfrm>
            <a:off x="354577" y="3402775"/>
            <a:ext cx="43626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T</a:t>
            </a:r>
            <a:r>
              <a:rPr b="1" lang="en-US" sz="1100">
                <a:solidFill>
                  <a:schemeClr val="dk1"/>
                </a:solidFill>
              </a:rPr>
              <a:t>ask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Identify the attack path and possible defensive controls.</a:t>
            </a:r>
            <a:endParaRPr b="1"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2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5" name="Google Shape;215;p32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216" name="Google Shape;216;p32"/>
          <p:cNvSpPr txBox="1"/>
          <p:nvPr/>
        </p:nvSpPr>
        <p:spPr>
          <a:xfrm>
            <a:off x="296667" y="1023572"/>
            <a:ext cx="8254500" cy="49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dk1"/>
                </a:solidFill>
              </a:rPr>
              <a:t>Windows Machine Exploitation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Windows systems commonly expose: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SMB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RDP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HTTP/HTTPS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WinRM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FTP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Remote administration services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Attacker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↓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Windows Host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↓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Exposed Service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↓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Vulnerability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↓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Exploit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↓</a:t>
            </a:r>
            <a:endParaRPr sz="11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6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Session</a:t>
            </a:r>
            <a:endParaRPr b="1"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3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2" name="Google Shape;222;p33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graphicFrame>
        <p:nvGraphicFramePr>
          <p:cNvPr id="223" name="Google Shape;223;p33"/>
          <p:cNvGraphicFramePr/>
          <p:nvPr/>
        </p:nvGraphicFramePr>
        <p:xfrm>
          <a:off x="439300" y="2013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{0ECD46BF-445C-41D8-8BF8-35ADF1E2A820}</a:tableStyleId>
              </a:tblPr>
              <a:tblGrid>
                <a:gridCol w="1206550"/>
                <a:gridCol w="2218500"/>
              </a:tblGrid>
              <a:tr h="228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Service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Common Port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SMB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445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RDP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3389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HTTP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80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HTTPS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443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WinRM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5985/5986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FTP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24" name="Google Shape;224;p33"/>
          <p:cNvSpPr txBox="1"/>
          <p:nvPr/>
        </p:nvSpPr>
        <p:spPr>
          <a:xfrm>
            <a:off x="354575" y="598325"/>
            <a:ext cx="6055200" cy="52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US" sz="2300"/>
              <a:t>Windows Attack Surface</a:t>
            </a:r>
            <a:br>
              <a:rPr b="1" lang="en-US" sz="2300"/>
            </a:br>
            <a:br>
              <a:rPr b="1" lang="en-US" sz="2300"/>
            </a:br>
            <a:br>
              <a:rPr b="1" lang="en-US" sz="2300"/>
            </a:br>
            <a:br>
              <a:rPr b="1" lang="en-US" sz="2300"/>
            </a:br>
            <a:br>
              <a:rPr b="1" lang="en-US" sz="2300"/>
            </a:br>
            <a:br>
              <a:rPr b="1" lang="en-US" sz="2300"/>
            </a:br>
            <a:br>
              <a:rPr b="1" lang="en-US" sz="2300"/>
            </a:br>
            <a:br>
              <a:rPr b="1" lang="en-US" sz="2300"/>
            </a:br>
            <a:endParaRPr b="1" sz="2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/>
              <a:t>Important</a:t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/>
              <a:t>Port numbers identify services but do not prove that a service is vulnerable.</a:t>
            </a:r>
            <a:endParaRPr sz="11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4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0" name="Google Shape;230;p34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231" name="Google Shape;231;p34"/>
          <p:cNvSpPr txBox="1"/>
          <p:nvPr/>
        </p:nvSpPr>
        <p:spPr>
          <a:xfrm>
            <a:off x="296667" y="1023572"/>
            <a:ext cx="8254500" cy="48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dk1"/>
                </a:solidFill>
              </a:rPr>
              <a:t>Windows Exploitation Workflow</a:t>
            </a:r>
            <a:endParaRPr b="1" sz="2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Host Discovery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↓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Port Enumeration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↓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Service Identification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↓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Version Detection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↓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Vulnerability Analysis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↓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Exploit Selection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↓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Payload Selection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↓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Execution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↓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6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Session</a:t>
            </a:r>
            <a:endParaRPr b="1"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5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7" name="Google Shape;237;p35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238" name="Google Shape;238;p35"/>
          <p:cNvSpPr txBox="1"/>
          <p:nvPr/>
        </p:nvSpPr>
        <p:spPr>
          <a:xfrm>
            <a:off x="296667" y="1023572"/>
            <a:ext cx="8254500" cy="54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dk1"/>
                </a:solidFill>
              </a:rPr>
              <a:t>SMB Service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SMB is widely used for Windows file and resource sharing.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Common port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TCP 445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Security relevance: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File sharing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Authentication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Remote service interaction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Lateral movement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Vulnerable implementations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Client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↓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SMB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↓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Windows Server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    Shared Resources</a:t>
            </a:r>
            <a:endParaRPr b="1"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6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4" name="Google Shape;244;p36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245" name="Google Shape;245;p36"/>
          <p:cNvSpPr txBox="1"/>
          <p:nvPr/>
        </p:nvSpPr>
        <p:spPr>
          <a:xfrm>
            <a:off x="3971571" y="1474400"/>
            <a:ext cx="4214400" cy="17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Defensive perspective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Monitor: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SMB connections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Unusual source hosts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Authentication failures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Remote service activity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Suspicious process creation</a:t>
            </a:r>
            <a:endParaRPr b="1" sz="2300">
              <a:solidFill>
                <a:schemeClr val="dk1"/>
              </a:solidFill>
            </a:endParaRPr>
          </a:p>
        </p:txBody>
      </p:sp>
      <p:sp>
        <p:nvSpPr>
          <p:cNvPr id="246" name="Google Shape;246;p36"/>
          <p:cNvSpPr txBox="1"/>
          <p:nvPr/>
        </p:nvSpPr>
        <p:spPr>
          <a:xfrm>
            <a:off x="449067" y="1175972"/>
            <a:ext cx="8254500" cy="53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dk1"/>
                </a:solidFill>
              </a:rPr>
              <a:t>SMB Exploitation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Potential attack chain: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SMB Discovery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↓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Version Identification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↓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Vulnerability Identification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↓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Exploit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↓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Code Execution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↓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Payload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↓</a:t>
            </a:r>
            <a:endParaRPr sz="11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Session</a:t>
            </a:r>
            <a:endParaRPr b="1"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7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2" name="Google Shape;252;p37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253" name="Google Shape;253;p37"/>
          <p:cNvSpPr txBox="1"/>
          <p:nvPr/>
        </p:nvSpPr>
        <p:spPr>
          <a:xfrm>
            <a:off x="296667" y="1023572"/>
            <a:ext cx="8254500" cy="48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dk1"/>
                </a:solidFill>
              </a:rPr>
              <a:t>Remote Desktop Protocol</a:t>
            </a:r>
            <a:endParaRPr b="1" sz="2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RDP provides graphical remote access to Windows systems.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Default port</a:t>
            </a:r>
            <a:endParaRPr b="1"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TCP 3389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Architecture: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Remote Client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↓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Network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↓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RDP Service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↓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Windows Desktop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8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9" name="Google Shape;259;p38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260" name="Google Shape;260;p38"/>
          <p:cNvSpPr txBox="1"/>
          <p:nvPr/>
        </p:nvSpPr>
        <p:spPr>
          <a:xfrm>
            <a:off x="296667" y="1023572"/>
            <a:ext cx="8254500" cy="36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dk1"/>
                </a:solidFill>
              </a:rPr>
              <a:t>RDP Security Considerations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Potential risks: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Weak credentials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Exposed RDP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Missing security controls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Outdated implementations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Excessive privileges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Defensive controls: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Network restrictions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Strong authentication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NLA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MFA where available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Account lockout policies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Monitoring</a:t>
            </a:r>
            <a:endParaRPr b="1"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9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6" name="Google Shape;266;p39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267" name="Google Shape;267;p39"/>
          <p:cNvSpPr txBox="1"/>
          <p:nvPr/>
        </p:nvSpPr>
        <p:spPr>
          <a:xfrm>
            <a:off x="296667" y="1023572"/>
            <a:ext cx="8254500" cy="47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dk1"/>
                </a:solidFill>
              </a:rPr>
              <a:t>Windows Payload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A Windows payload must match the target environment.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Consider: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Windows version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Architecture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Exploit compatibility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Network connectivity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Session requirements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Windows Vulnerability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↓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Compatible Exploit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↓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Compatible Payload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↓</a:t>
            </a:r>
            <a:endParaRPr sz="11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Session</a:t>
            </a:r>
            <a:endParaRPr b="1"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0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3" name="Google Shape;273;p40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274" name="Google Shape;274;p40"/>
          <p:cNvSpPr txBox="1"/>
          <p:nvPr/>
        </p:nvSpPr>
        <p:spPr>
          <a:xfrm>
            <a:off x="296667" y="1023572"/>
            <a:ext cx="8254500" cy="54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dk1"/>
                </a:solidFill>
              </a:rPr>
              <a:t>Windows Session Verification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After obtaining a session, determine: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Current user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System information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Privilege level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Process context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Network configuration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Conceptual commands: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getuid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sysinfo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Question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Is the session running as: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Standard User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or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Administrator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or</a:t>
            </a:r>
            <a:endParaRPr sz="11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SYSTEM</a:t>
            </a:r>
            <a:endParaRPr b="1"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1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0" name="Google Shape;280;p41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281" name="Google Shape;281;p41"/>
          <p:cNvSpPr txBox="1"/>
          <p:nvPr/>
        </p:nvSpPr>
        <p:spPr>
          <a:xfrm>
            <a:off x="296667" y="1023572"/>
            <a:ext cx="8254500" cy="36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dk1"/>
                </a:solidFill>
              </a:rPr>
              <a:t>Windows Privilege Context</a:t>
            </a:r>
            <a:endParaRPr b="1" sz="2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Initial Exploit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↓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User Context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↓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Privilege Escalation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↓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Administrator / SYSTEM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Important</a:t>
            </a:r>
            <a:endParaRPr b="1"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The impact of exploitation depends heavily on the security context obtained.</a:t>
            </a:r>
            <a:endParaRPr b="1"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2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7" name="Google Shape;287;p42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288" name="Google Shape;288;p42"/>
          <p:cNvSpPr txBox="1"/>
          <p:nvPr/>
        </p:nvSpPr>
        <p:spPr>
          <a:xfrm>
            <a:off x="296667" y="1023572"/>
            <a:ext cx="8254500" cy="55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Common Service Exploitation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Common server services include: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FTP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SSH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SMB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HTTP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HTTPS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RDP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Databases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Methodology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Service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Version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Vulnerability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Exploit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Payload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6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Session</a:t>
            </a:r>
            <a:endParaRPr b="1"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3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4" name="Google Shape;294;p43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295" name="Google Shape;295;p43"/>
          <p:cNvSpPr txBox="1"/>
          <p:nvPr/>
        </p:nvSpPr>
        <p:spPr>
          <a:xfrm>
            <a:off x="296667" y="1023572"/>
            <a:ext cx="8254500" cy="53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dk1"/>
                </a:solidFill>
              </a:rPr>
              <a:t>Service-Based Exploitation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The service becomes the attack entry point.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Target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|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+--- FTP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|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+--- SSH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|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+--- SMB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|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+--- HTTP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|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+--- RDP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|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+--- Database</a:t>
            </a:r>
            <a:endParaRPr b="1" sz="2300">
              <a:solidFill>
                <a:schemeClr val="dk1"/>
              </a:solidFill>
            </a:endParaRPr>
          </a:p>
        </p:txBody>
      </p:sp>
      <p:sp>
        <p:nvSpPr>
          <p:cNvPr id="296" name="Google Shape;296;p43"/>
          <p:cNvSpPr txBox="1"/>
          <p:nvPr/>
        </p:nvSpPr>
        <p:spPr>
          <a:xfrm>
            <a:off x="4356220" y="2462700"/>
            <a:ext cx="2668500" cy="19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Each service has: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Protocol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Port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Authentication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Software implementation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Configuration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Vulnerabilities</a:t>
            </a:r>
            <a:endParaRPr b="1"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4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2" name="Google Shape;302;p44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303" name="Google Shape;303;p44"/>
          <p:cNvSpPr txBox="1"/>
          <p:nvPr/>
        </p:nvSpPr>
        <p:spPr>
          <a:xfrm>
            <a:off x="296667" y="1009911"/>
            <a:ext cx="8254500" cy="3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dk1"/>
                </a:solidFill>
              </a:rPr>
              <a:t>FTP Attack Surface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Potential weaknesses: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Anonymous access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Weak credentials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Vulnerable software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Poor permissions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Clear-text authentication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Misconfiguration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Detection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Monitor: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FTP connections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Authentication failures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Unusual source addresses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Large file transfers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Unexpected commands</a:t>
            </a:r>
            <a:endParaRPr b="1"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5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9" name="Google Shape;309;p45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310" name="Google Shape;310;p45"/>
          <p:cNvSpPr txBox="1"/>
          <p:nvPr/>
        </p:nvSpPr>
        <p:spPr>
          <a:xfrm>
            <a:off x="296667" y="1023572"/>
            <a:ext cx="8254500" cy="36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dk1"/>
                </a:solidFill>
              </a:rPr>
              <a:t>SSH Attack Surface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Potential concerns: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Weak authentication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Exposed service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Outdated implementation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Misconfigured accounts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Excessive privileges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Defensive controls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Key-based authentication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Strong passwords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Network restrictions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MFA where supported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Account monitoring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Patch management</a:t>
            </a:r>
            <a:endParaRPr b="1"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6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6" name="Google Shape;316;p46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317" name="Google Shape;317;p46"/>
          <p:cNvSpPr txBox="1"/>
          <p:nvPr/>
        </p:nvSpPr>
        <p:spPr>
          <a:xfrm>
            <a:off x="296667" y="1023572"/>
            <a:ext cx="82545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HTTP/HTTPS ATTACK SURFACE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Web servers expose applications to remote clients.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Potential weaknesses: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Vulnerable software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Authentication flaws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Input validation issues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File handling vulnerabilities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Misconfiguration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Outdated frameworks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HTTP Request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↓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Web Server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↓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Application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↓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Vulnerable Component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Execution / Data Exposure</a:t>
            </a:r>
            <a:endParaRPr b="1"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7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3" name="Google Shape;323;p47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324" name="Google Shape;324;p47"/>
          <p:cNvSpPr txBox="1"/>
          <p:nvPr/>
        </p:nvSpPr>
        <p:spPr>
          <a:xfrm>
            <a:off x="296667" y="1023572"/>
            <a:ext cx="8254500" cy="39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dk1"/>
                </a:solidFill>
              </a:rPr>
              <a:t>Database Services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Examples: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MySQL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PostgreSQL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MSSQL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Oracle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Security concerns: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Weak credentials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Exposed database ports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Misconfiguration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Vulnerable software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Excessive privileges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Important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A database service should generally not be directly exposed unnecessarily.</a:t>
            </a:r>
            <a:endParaRPr b="1"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8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0" name="Google Shape;330;p48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graphicFrame>
        <p:nvGraphicFramePr>
          <p:cNvPr id="331" name="Google Shape;331;p48"/>
          <p:cNvGraphicFramePr/>
          <p:nvPr/>
        </p:nvGraphicFramePr>
        <p:xfrm>
          <a:off x="354575" y="1928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{0ECD46BF-445C-41D8-8BF8-35ADF1E2A820}</a:tableStyleId>
              </a:tblPr>
              <a:tblGrid>
                <a:gridCol w="959675"/>
                <a:gridCol w="1332900"/>
                <a:gridCol w="4505125"/>
              </a:tblGrid>
              <a:tr h="228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Service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Typical Port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Main Security Concern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FTP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Authentication / vulnerable implementation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Authentication / configuration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HTTP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80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Web application vulnerabilities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HTTPS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443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Web application vulnerabilities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71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SMB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445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Remote service / file sharing vulnerabilities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RDP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3389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Remote access / authentication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Database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Various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Authentication / configuration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32" name="Google Shape;332;p48"/>
          <p:cNvSpPr txBox="1"/>
          <p:nvPr/>
        </p:nvSpPr>
        <p:spPr>
          <a:xfrm>
            <a:off x="236500" y="619000"/>
            <a:ext cx="5367300" cy="118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-US" sz="2300"/>
              <a:t>Service Comparison</a:t>
            </a:r>
            <a:endParaRPr b="1" sz="23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9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8" name="Google Shape;338;p49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339" name="Google Shape;339;p49"/>
          <p:cNvSpPr txBox="1"/>
          <p:nvPr/>
        </p:nvSpPr>
        <p:spPr>
          <a:xfrm>
            <a:off x="296667" y="1023572"/>
            <a:ext cx="82545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Finding a Metasploit Module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Use module discovery to identify possible modules.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search &lt;keyword&gt;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Examples: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search ftp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search smb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search apache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Goal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Find modules related to the identified service or vulnerability.</a:t>
            </a:r>
            <a:endParaRPr b="1"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0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5" name="Google Shape;345;p50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346" name="Google Shape;346;p50"/>
          <p:cNvSpPr txBox="1"/>
          <p:nvPr/>
        </p:nvSpPr>
        <p:spPr>
          <a:xfrm>
            <a:off x="296667" y="1023572"/>
            <a:ext cx="8254500" cy="3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Understanding a Module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Before using a module: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info &lt;module&gt;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Study: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Description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Vulnerability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References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Targets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Options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Payload compatibility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Principle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Understand the exploit before executing it.</a:t>
            </a:r>
            <a:endParaRPr b="1"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51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2" name="Google Shape;352;p51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353" name="Google Shape;353;p51"/>
          <p:cNvSpPr txBox="1"/>
          <p:nvPr/>
        </p:nvSpPr>
        <p:spPr>
          <a:xfrm>
            <a:off x="296667" y="1023572"/>
            <a:ext cx="8254500" cy="51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Module Configuration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show options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Important parameters may include: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RHOSTS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RPORT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LHOST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LPORT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Payload-specific options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Target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RHOSTS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Service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RPORT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2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9" name="Google Shape;359;p52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360" name="Google Shape;360;p52"/>
          <p:cNvSpPr txBox="1"/>
          <p:nvPr/>
        </p:nvSpPr>
        <p:spPr>
          <a:xfrm>
            <a:off x="296667" y="1023572"/>
            <a:ext cx="8254500" cy="53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Vulnerability Verification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Some modules support: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check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Conceptually: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Target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Check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Likely Vulnerable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OR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Not Vulnerable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OR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Unknown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Important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A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check</a:t>
            </a:r>
            <a:r>
              <a:rPr lang="en-US" sz="1100">
                <a:solidFill>
                  <a:schemeClr val="dk1"/>
                </a:solidFill>
              </a:rPr>
              <a:t> result is not always proof of exploitation success.</a:t>
            </a:r>
            <a:endParaRPr b="1"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3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6" name="Google Shape;366;p53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367" name="Google Shape;367;p53"/>
          <p:cNvSpPr txBox="1"/>
          <p:nvPr/>
        </p:nvSpPr>
        <p:spPr>
          <a:xfrm>
            <a:off x="296667" y="1023572"/>
            <a:ext cx="8254500" cy="46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Exploitation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After configuring the authorized lab target: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run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or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exploit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Possible outcomes: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Successful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Session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Failed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Troubleshooting</a:t>
            </a:r>
            <a:endParaRPr b="1"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4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3" name="Google Shape;373;p54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374" name="Google Shape;374;p54"/>
          <p:cNvSpPr txBox="1"/>
          <p:nvPr/>
        </p:nvSpPr>
        <p:spPr>
          <a:xfrm>
            <a:off x="296667" y="1023572"/>
            <a:ext cx="8254500" cy="52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Session Management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When a session is created: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sessions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A tester may: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List sessions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Interact with a session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Background a session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Close a session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Concept: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Exploit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Session ID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Interact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Post-Exploitation</a:t>
            </a:r>
            <a:endParaRPr b="1"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5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0" name="Google Shape;380;p55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381" name="Google Shape;381;p55"/>
          <p:cNvSpPr txBox="1"/>
          <p:nvPr/>
        </p:nvSpPr>
        <p:spPr>
          <a:xfrm>
            <a:off x="296667" y="1023572"/>
            <a:ext cx="8254500" cy="43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Session Verification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After exploitation, verify: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Identity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getuid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System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sysinfo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Then determine: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OS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Architecture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User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Privileges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Session type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Question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Did exploitation achieve the intended objective?</a:t>
            </a:r>
            <a:endParaRPr b="1"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6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7" name="Google Shape;387;p56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388" name="Google Shape;388;p56"/>
          <p:cNvSpPr txBox="1"/>
          <p:nvPr/>
        </p:nvSpPr>
        <p:spPr>
          <a:xfrm>
            <a:off x="296667" y="1023572"/>
            <a:ext cx="8254500" cy="52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Exploitation Failure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An exploit may fail because of: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Wrong target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Wrong version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Wrong target type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Incorrect options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Incompatible payload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Network connectivity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Firewall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Patched vulnerability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Architecture mismatch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Service unavailable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Exploit Failure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Check Assumptions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Verify Target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Verify Configuration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6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Verify Compatibility</a:t>
            </a:r>
            <a:endParaRPr b="1"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57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4" name="Google Shape;394;p57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395" name="Google Shape;395;p57"/>
          <p:cNvSpPr txBox="1"/>
          <p:nvPr/>
        </p:nvSpPr>
        <p:spPr>
          <a:xfrm>
            <a:off x="296667" y="1023572"/>
            <a:ext cx="8254500" cy="43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Troubleshooting Methodology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1. Is the host reachable?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2. Is the service running?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3. Is the expected port correct?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4. Is the version vulnerable?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5. Is the exploit appropriate?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6. Is the payload compatible?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7. Is the network path correct?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Do not randomly change exploit options. Identify the failed assumption.</a:t>
            </a:r>
            <a:endParaRPr b="1"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58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1" name="Google Shape;401;p58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402" name="Google Shape;402;p58"/>
          <p:cNvSpPr txBox="1"/>
          <p:nvPr/>
        </p:nvSpPr>
        <p:spPr>
          <a:xfrm>
            <a:off x="296667" y="1023572"/>
            <a:ext cx="8254500" cy="46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Exploitation Telemetry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Possible sequence: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Unusual Network Connection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+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Suspicious Service Activity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+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Unexpected Process Creation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+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Privilege Change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 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Potential Exploitation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SOC principle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Correlation increases confidence.</a:t>
            </a:r>
            <a:endParaRPr b="1"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59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8" name="Google Shape;408;p59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409" name="Google Shape;409;p59"/>
          <p:cNvSpPr txBox="1"/>
          <p:nvPr/>
        </p:nvSpPr>
        <p:spPr>
          <a:xfrm>
            <a:off x="296667" y="1023572"/>
            <a:ext cx="8254500" cy="37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dk1"/>
                </a:solidFill>
              </a:rPr>
              <a:t>Case Study: Linux Server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Scenario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A Linux server generates: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Unusual HTTP request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Unexpected process creation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Outbound connection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New user activity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Privilege change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Student questions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100">
                <a:solidFill>
                  <a:schemeClr val="dk1"/>
                </a:solidFill>
              </a:rPr>
              <a:t>What could be the initial access vector?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100">
                <a:solidFill>
                  <a:schemeClr val="dk1"/>
                </a:solidFill>
              </a:rPr>
              <a:t>Which event should occur first?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100">
                <a:solidFill>
                  <a:schemeClr val="dk1"/>
                </a:solidFill>
              </a:rPr>
              <a:t>What could indicate successful exploitation?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100">
                <a:solidFill>
                  <a:schemeClr val="dk1"/>
                </a:solidFill>
              </a:rPr>
              <a:t>What evidence should be collected?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100">
                <a:solidFill>
                  <a:schemeClr val="dk1"/>
                </a:solidFill>
              </a:rPr>
              <a:t>How would you build the attack timeline?</a:t>
            </a:r>
            <a:endParaRPr b="1"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60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5" name="Google Shape;415;p60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416" name="Google Shape;416;p60"/>
          <p:cNvSpPr txBox="1"/>
          <p:nvPr/>
        </p:nvSpPr>
        <p:spPr>
          <a:xfrm>
            <a:off x="296667" y="1023572"/>
            <a:ext cx="8254500" cy="37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dk1"/>
                </a:solidFill>
              </a:rPr>
              <a:t>Case Study: Windows Machine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Scenario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A Windows server generates: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Unusual SMB connection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Suspicious process creation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New outbound connection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Privilege change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Administrative activity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Student questions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100">
                <a:solidFill>
                  <a:schemeClr val="dk1"/>
                </a:solidFill>
              </a:rPr>
              <a:t>Identify the possible attack path.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100">
                <a:solidFill>
                  <a:schemeClr val="dk1"/>
                </a:solidFill>
              </a:rPr>
              <a:t>Which event could indicate initial access?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100">
                <a:solidFill>
                  <a:schemeClr val="dk1"/>
                </a:solidFill>
              </a:rPr>
              <a:t>Which event indicates post-exploitation?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100">
                <a:solidFill>
                  <a:schemeClr val="dk1"/>
                </a:solidFill>
              </a:rPr>
              <a:t>What endpoint telemetry is required?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100">
                <a:solidFill>
                  <a:schemeClr val="dk1"/>
                </a:solidFill>
              </a:rPr>
              <a:t>What network telemetry is required?</a:t>
            </a:r>
            <a:endParaRPr b="1"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61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2" name="Google Shape;422;p61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423" name="Google Shape;423;p61"/>
          <p:cNvSpPr txBox="1"/>
          <p:nvPr/>
        </p:nvSpPr>
        <p:spPr>
          <a:xfrm>
            <a:off x="296667" y="982588"/>
            <a:ext cx="8254500" cy="55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dk1"/>
                </a:solidFill>
              </a:rPr>
              <a:t>Linux Server Exploitation</a:t>
            </a:r>
            <a:endParaRPr b="1"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Understand the complete exploitation workflow against an intentionally vulnerable Linux machine.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Workflow</a:t>
            </a:r>
            <a:endParaRPr b="1"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Identify Service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↓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Identify Version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↓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Find Vulnerability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↓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Search Metasploit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↓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Analyze Module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↓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Configure Target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↓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Check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↓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Exploit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↓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6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Verify Session</a:t>
            </a:r>
            <a:endParaRPr b="1"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62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9" name="Google Shape;429;p62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430" name="Google Shape;430;p62"/>
          <p:cNvSpPr txBox="1"/>
          <p:nvPr/>
        </p:nvSpPr>
        <p:spPr>
          <a:xfrm>
            <a:off x="296667" y="1023572"/>
            <a:ext cx="8254500" cy="35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dk1"/>
                </a:solidFill>
              </a:rPr>
              <a:t>Windows Machine Exploitation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Understand exploitation of an intentionally vulnerable Windows machine.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Tasks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Identify exposed services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Identify service/version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Find applicable vulnerability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Select appropriate Metasploit module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Configure required options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Attempt exploitation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Verify obtained session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Identify privilege context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Post-Lab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Create an attack path diagram.</a:t>
            </a:r>
            <a:endParaRPr b="1"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63"/>
          <p:cNvSpPr/>
          <p:nvPr/>
        </p:nvSpPr>
        <p:spPr>
          <a:xfrm>
            <a:off x="354577" y="1023576"/>
            <a:ext cx="1848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6" name="Google Shape;436;p63"/>
          <p:cNvCxnSpPr/>
          <p:nvPr/>
        </p:nvCxnSpPr>
        <p:spPr>
          <a:xfrm>
            <a:off x="0" y="102357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437" name="Google Shape;437;p63"/>
          <p:cNvSpPr txBox="1"/>
          <p:nvPr/>
        </p:nvSpPr>
        <p:spPr>
          <a:xfrm>
            <a:off x="296667" y="1023572"/>
            <a:ext cx="82545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</a:rPr>
              <a:t>Common Service Exploitation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Objective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Compare exploitation opportunities across common services.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Services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FTP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SSH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HTTP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SMB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RDP</a:t>
            </a:r>
            <a:endParaRPr b="1" sz="2300">
              <a:solidFill>
                <a:schemeClr val="dk1"/>
              </a:solidFill>
            </a:endParaRPr>
          </a:p>
        </p:txBody>
      </p:sp>
      <p:sp>
        <p:nvSpPr>
          <p:cNvPr id="438" name="Google Shape;438;p63"/>
          <p:cNvSpPr txBox="1"/>
          <p:nvPr/>
        </p:nvSpPr>
        <p:spPr>
          <a:xfrm>
            <a:off x="5148578" y="2036650"/>
            <a:ext cx="3460800" cy="39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Student task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For each service identify: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Port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Service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Version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Potential Vulnerability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Possible Exploit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Expected Impact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↓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Detection Method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Final Deliverable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Create a </a:t>
            </a:r>
            <a:r>
              <a:rPr b="1" lang="en-US" sz="1100">
                <a:solidFill>
                  <a:schemeClr val="dk1"/>
                </a:solidFill>
              </a:rPr>
              <a:t>service-to-exploitation attack graph</a:t>
            </a:r>
            <a:r>
              <a:rPr lang="en-US" sz="1100">
                <a:solidFill>
                  <a:schemeClr val="dk1"/>
                </a:solidFill>
              </a:rPr>
              <a:t>.</a:t>
            </a:r>
            <a:endParaRPr b="1"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