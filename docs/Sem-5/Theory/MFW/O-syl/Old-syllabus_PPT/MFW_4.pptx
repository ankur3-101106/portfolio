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63715D-030E-4246-9C2A-87B70F435C16}">
  <a:tblStyle styleId="{3A63715D-030E-4246-9C2A-87B70F435C1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74df2052fccd1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h774df2052fccd15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774df2052fccd15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h774df2052fccd156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774df2052fccd15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h774df2052fccd156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774df2052fccd15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h774df2052fccd156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774df2052fccd15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h774df2052fccd156_0_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774df2052fccd156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h774df2052fccd156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774df2052fccd15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h774df2052fccd156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774df2052fccd156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h774df2052fccd156_0_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774df2052fccd156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h774df2052fccd156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774df2052fccd156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h774df2052fccd156_0_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774df2052fccd156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h774df2052fccd156_0_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774df2052fccd156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h774df2052fccd156_0_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774df2052fccd156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h774df2052fccd156_0_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74df2052fccd156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h774df2052fccd156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774df2052fccd156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h774df2052fccd156_0_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774df2052fccd156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h774df2052fccd156_0_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774df2052fccd156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h774df2052fccd156_0_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74df2052fccd156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h774df2052fccd156_0_10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74df2052fccd156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h774df2052fccd156_0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774df2052fccd156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h774df2052fccd156_0_1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774df2052fccd156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h774df2052fccd156_0_1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774df2052fccd156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h774df2052fccd156_0_1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774df2052fccd156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h774df2052fccd156_0_1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74df2052fccd156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h774df2052fccd156_0_1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774df2052fccd156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h774df2052fccd156_0_1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774df2052fccd156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h774df2052fccd156_0_1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774df2052fccd156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h774df2052fccd156_0_1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74df2052fccd156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h774df2052fccd156_0_1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774df2052fccd156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h774df2052fccd156_0_1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774df2052fccd156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h774df2052fccd156_0_1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774df2052fccd156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h774df2052fccd156_0_1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774df2052fccd156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h774df2052fccd156_0_1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774df2052fccd156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h774df2052fccd156_0_1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774df2052fccd156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h774df2052fccd156_0_1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774df2052fccd156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h774df2052fccd156_0_2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774df2052fccd156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h774df2052fccd156_0_2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774df2052fccd156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h774df2052fccd156_0_2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74df2052fccd156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h774df2052fccd156_0_2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774df2052fccd156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h774df2052fccd156_0_2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774df2052fccd156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h774df2052fccd156_0_2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774df2052fccd156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h774df2052fccd156_0_2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774df2052fccd156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h774df2052fccd156_0_2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774df2052fccd156_3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h774df2052fccd156_3_1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774df2052fccd156_3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h774df2052fccd156_3_1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774df2052fccd156_3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h774df2052fccd156_3_1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774df2052fccd156_3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h774df2052fccd156_3_1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4" y="1955845"/>
            <a:ext cx="9143999" cy="1935817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</a:t>
            </a:r>
            <a:b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03014601ES01</a:t>
            </a:r>
            <a:endParaRPr b="1" i="0" sz="4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Layout">
  <p:cSld name="Index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8" name="Google Shape;18;p3"/>
            <p:cNvSpPr/>
            <p:nvPr/>
          </p:nvSpPr>
          <p:spPr>
            <a:xfrm>
              <a:off x="-4801433" y="1790698"/>
              <a:ext cx="12600815" cy="983098"/>
            </a:xfrm>
            <a:custGeom>
              <a:rect b="b" l="l" r="r" t="t"/>
              <a:pathLst>
                <a:path extrusionOk="0" h="660400" w="46101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0" i="0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339276" y="-1782234"/>
              <a:ext cx="4944218" cy="14257864"/>
            </a:xfrm>
            <a:custGeom>
              <a:rect b="b" l="l" r="r" t="t"/>
              <a:pathLst>
                <a:path extrusionOk="0" h="10693400" w="23876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0" i="0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5166" y="253736"/>
            <a:ext cx="2161851" cy="8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755" y="253736"/>
            <a:ext cx="4597617" cy="69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slide Layout">
  <p:cSld name="Endslide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">
  <p:cSld name="Content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b="1" i="0" lang="en-US" sz="11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4" y="1955845"/>
            <a:ext cx="9143365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152087" y="2223870"/>
            <a:ext cx="8839200" cy="2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Metasploit Frame work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303105324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 Bibungsarth Islary</a:t>
            </a:r>
            <a:br>
              <a:rPr b="1" i="0" lang="en-US" sz="10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(Cyber Security 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509733" y="1758619"/>
            <a:ext cx="607422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509733" y="2189506"/>
            <a:ext cx="5960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Wireless Security Fundamentals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Wireless Attack Surface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Metasploit and Wireless Networks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Wireless Reconnaissance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Authentication and Association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Evil Twin Attack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Rogue Access Point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Karmetasploit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Wireless MITM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Traffic Interception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Credential Security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SMB Relay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Case Studies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0" name="Google Shape;50;p9"/>
          <p:cNvSpPr txBox="1"/>
          <p:nvPr/>
        </p:nvSpPr>
        <p:spPr>
          <a:xfrm>
            <a:off x="446942" y="1131297"/>
            <a:ext cx="8254500" cy="5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WIRELESS NETWORK PENETRATION TESTING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What is Wireless Penetration Testing?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Wireless penetration testing evaluates the security of Wi-Fi networks and connected clients.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Objectives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Identify wireless security weaknesses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Evaluate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Identify rogue access points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 client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Analyze network segmentation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Validate monitoring controls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Tester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Access Point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Internal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Important:</a:t>
            </a:r>
            <a:r>
              <a:rPr lang="en-US" sz="1100">
                <a:solidFill>
                  <a:schemeClr val="dk1"/>
                </a:solidFill>
              </a:rPr>
              <a:t> Testing should be performed only on an authorized wireless lab.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10"/>
          <p:cNvSpPr txBox="1"/>
          <p:nvPr/>
        </p:nvSpPr>
        <p:spPr>
          <a:xfrm>
            <a:off x="446942" y="1131297"/>
            <a:ext cx="8254500" cy="4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Attack Surface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Wi-Fi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+--------------+--------------+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      |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AP            Client     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      |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Configuration  Device   WPA/WPA2/WPA3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      |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+--------------+--------------+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  Internal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targets: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Access points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clients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mechanisms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Encryption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segmentation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Roaming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Management interfaces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4" name="Google Shape;64;p11"/>
          <p:cNvSpPr txBox="1"/>
          <p:nvPr/>
        </p:nvSpPr>
        <p:spPr>
          <a:xfrm>
            <a:off x="446942" y="1131297"/>
            <a:ext cx="82545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Communication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Basic communication: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⇅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Radio / Wireless Medium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⇅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Access Point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Unlike wired networks, wireless communication occurs through a shared radio medium.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An attacker may be able to observe wireless management and communication activity without physically connecting a cable.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1" name="Google Shape;71;p12"/>
          <p:cNvSpPr txBox="1"/>
          <p:nvPr/>
        </p:nvSpPr>
        <p:spPr>
          <a:xfrm>
            <a:off x="446942" y="1131297"/>
            <a:ext cx="8254500" cy="45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Components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Access Point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Provides wireless connectivity.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Station / Client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Device connecting to the AP.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Wireless Controller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May centrally manage multiple APs.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Authentication Infrastructure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May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PSK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802.1X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RADIUS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Client → AP → Authentication → Network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1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8" name="Google Shape;78;p13"/>
          <p:cNvSpPr txBox="1"/>
          <p:nvPr/>
        </p:nvSpPr>
        <p:spPr>
          <a:xfrm>
            <a:off x="446942" y="1131297"/>
            <a:ext cx="8254500" cy="4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Security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Common security models: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Open network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WPA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WPA2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WPA3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WPA/WPA2 Enterprise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802.1X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evolution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WPA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WPA2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WPA3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Wireless security depends on both </a:t>
            </a:r>
            <a:r>
              <a:rPr b="1" lang="en-US" sz="1100">
                <a:solidFill>
                  <a:schemeClr val="dk1"/>
                </a:solidFill>
              </a:rPr>
              <a:t>protocol security and configuration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1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5" name="Google Shape;85;p14"/>
          <p:cNvSpPr txBox="1"/>
          <p:nvPr/>
        </p:nvSpPr>
        <p:spPr>
          <a:xfrm>
            <a:off x="446942" y="1131297"/>
            <a:ext cx="8254500" cy="46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Testing Methodology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Scope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Reconnaissance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Identify APs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Identify Clients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Analyze Security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Controlled Attack Simulation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Observe 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Document Findings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Before testing Define</a:t>
            </a:r>
            <a:r>
              <a:rPr lang="en-U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Authorized SSIDs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Authorized devices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 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Testing time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Permitted techniques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2" name="Google Shape;92;p15"/>
          <p:cNvSpPr txBox="1"/>
          <p:nvPr/>
        </p:nvSpPr>
        <p:spPr>
          <a:xfrm>
            <a:off x="446942" y="1131297"/>
            <a:ext cx="82545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Metasploit and Wireless Networks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Metasploit is primarily an exploitation and security testing framework.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Wireless testing may involve Metasploit together with other wireless tools.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Recon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Assessment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Metasploit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Controlled Exploitation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 / Validation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Metasploit is not itself a complete wireless auditing platform.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" name="Google Shape;99;p16"/>
          <p:cNvSpPr txBox="1"/>
          <p:nvPr/>
        </p:nvSpPr>
        <p:spPr>
          <a:xfrm>
            <a:off x="446942" y="1131297"/>
            <a:ext cx="8254500" cy="3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Role of Metasploit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Metasploit can support: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Exploit development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Exploit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Payload handling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management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Post-exploitation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Auxiliary testing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Wireless testing may require additional components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Packet capture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Monitor mode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 emulation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frame analysis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6" name="Google Shape;106;p17"/>
          <p:cNvSpPr txBox="1"/>
          <p:nvPr/>
        </p:nvSpPr>
        <p:spPr>
          <a:xfrm>
            <a:off x="446942" y="1131297"/>
            <a:ext cx="82545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Reconnaissance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Identify: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BSSID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Channel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Encryption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Signal characteristics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Connected clients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Environment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Access Points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SSID / BSSID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Security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Attack Surface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3" name="Google Shape;113;p18"/>
          <p:cNvSpPr txBox="1"/>
          <p:nvPr/>
        </p:nvSpPr>
        <p:spPr>
          <a:xfrm>
            <a:off x="446942" y="1131297"/>
            <a:ext cx="82545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SSID vs BSSID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SSID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network name visible to users.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University-WiFi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BSSID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MAC address associated with a wireless AP/interface.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BSSID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Specific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Multiple APs can advertise the same SSID.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0" name="Google Shape;120;p19"/>
          <p:cNvSpPr txBox="1"/>
          <p:nvPr/>
        </p:nvSpPr>
        <p:spPr>
          <a:xfrm>
            <a:off x="446942" y="1131297"/>
            <a:ext cx="8254500" cy="4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Channels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Wireless networks operate on radio channels.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2.4 GHz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├── Channel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├── Channel 6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└── Channel 11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Other bands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5 GHz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6 GHz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Channel information helps identify: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Nearby APs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Overlapping networks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Rogue APs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interference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7" name="Google Shape;127;p20"/>
          <p:cNvSpPr txBox="1"/>
          <p:nvPr/>
        </p:nvSpPr>
        <p:spPr>
          <a:xfrm>
            <a:off x="446942" y="1131297"/>
            <a:ext cx="82545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Authentication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Two broad models: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Personal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Uses a shared secret / PSK.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→ AP → PSK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Enterprise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Uses centralized authentication such as 802.1X/RADIUS.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Client → AP → 802.1X → Authentication Server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4" name="Google Shape;134;p21"/>
          <p:cNvSpPr txBox="1"/>
          <p:nvPr/>
        </p:nvSpPr>
        <p:spPr>
          <a:xfrm>
            <a:off x="446942" y="1131297"/>
            <a:ext cx="82545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Evil Twin Attack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Evil Twin is a rogue access point designed to imitate a legitimate wireless network.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Legitimate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SSID: Campus-WiFi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SSID: Campus-WiFi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 victim may mistakenly connect to the rogue AP.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1" name="Google Shape;141;p22"/>
          <p:cNvSpPr txBox="1"/>
          <p:nvPr/>
        </p:nvSpPr>
        <p:spPr>
          <a:xfrm>
            <a:off x="446942" y="1131297"/>
            <a:ext cx="8254500" cy="30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Evil Twin Attack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Legitimate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+------+------+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|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Legitimate    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Wi-Fi         Same 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Trick a client into associating with the attacker-controlled network.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2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8" name="Google Shape;148;p23"/>
          <p:cNvSpPr txBox="1"/>
          <p:nvPr/>
        </p:nvSpPr>
        <p:spPr>
          <a:xfrm>
            <a:off x="446942" y="1131297"/>
            <a:ext cx="82545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Evil Twin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Identify Target 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Observe Wireless Environment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AP Appears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Selects / Associates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Attacker-Controlled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Traffic / Authentication Observation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MITM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Evil Twin attack abuses </a:t>
            </a:r>
            <a:r>
              <a:rPr b="1" lang="en-US" sz="1100">
                <a:solidFill>
                  <a:schemeClr val="dk1"/>
                </a:solidFill>
              </a:rPr>
              <a:t>trust in network identity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2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5" name="Google Shape;155;p24"/>
          <p:cNvSpPr txBox="1"/>
          <p:nvPr/>
        </p:nvSpPr>
        <p:spPr>
          <a:xfrm>
            <a:off x="446942" y="1131297"/>
            <a:ext cx="82545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Why Can Clients Connect?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Clients may make decisions based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Previous network profiles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Signal strength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selection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Roaming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Matching the SSID does not prove that the AP is legitimate.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2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62" name="Google Shape;162;p25"/>
          <p:cNvSpPr txBox="1"/>
          <p:nvPr/>
        </p:nvSpPr>
        <p:spPr>
          <a:xfrm>
            <a:off x="446942" y="1131297"/>
            <a:ext cx="825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Evil Twin vs Rogue AP</a:t>
            </a:r>
            <a:endParaRPr b="1" sz="2300">
              <a:solidFill>
                <a:schemeClr val="dk1"/>
              </a:solidFill>
            </a:endParaRPr>
          </a:p>
        </p:txBody>
      </p:sp>
      <p:graphicFrame>
        <p:nvGraphicFramePr>
          <p:cNvPr id="163" name="Google Shape;163;p25"/>
          <p:cNvGraphicFramePr/>
          <p:nvPr/>
        </p:nvGraphicFramePr>
        <p:xfrm>
          <a:off x="539375" y="177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{3A63715D-030E-4246-9C2A-87B70F435C16}</a:tableStyleId>
              </a:tblPr>
              <a:tblGrid>
                <a:gridCol w="3266175"/>
                <a:gridCol w="351935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Rogue AP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Evil Twin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Unauthorized 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Specifically imitates a legitimate AP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 use different SSID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Usually copies SSID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Can be accidental or malicious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Typically deliberate impersonation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 provide unauthorized access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Attempts to attract legitimate clients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2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0" name="Google Shape;170;p26"/>
          <p:cNvSpPr txBox="1"/>
          <p:nvPr/>
        </p:nvSpPr>
        <p:spPr>
          <a:xfrm>
            <a:off x="446942" y="1131297"/>
            <a:ext cx="82545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EVIL TWIN SECURITY IMPACT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consequences: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interception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Credential exposure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Phishing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Malware delivery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theft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reconnaissance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Victim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Internet / Internal Services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2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7" name="Google Shape;177;p27"/>
          <p:cNvSpPr txBox="1"/>
          <p:nvPr/>
        </p:nvSpPr>
        <p:spPr>
          <a:xfrm>
            <a:off x="446942" y="1131297"/>
            <a:ext cx="8254500" cy="4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Detecting an Evil Twin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Duplicate SSIDs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BSSID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AP 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Channel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differences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Signal anomalies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controller alerts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Same 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Different BSSID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Location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Rogue AP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2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84" name="Google Shape;184;p28"/>
          <p:cNvSpPr txBox="1"/>
          <p:nvPr/>
        </p:nvSpPr>
        <p:spPr>
          <a:xfrm>
            <a:off x="446942" y="1131297"/>
            <a:ext cx="82545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Defending Against Evil Twin Attacks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Controls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WPA2/WPA3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802.1X Enterprise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Certificate validation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intrusion detection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intrusion prevention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Client configuration policies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awareness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Users should not treat an SSID name alone as proof of network authenticity.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2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1" name="Google Shape;191;p29"/>
          <p:cNvSpPr txBox="1"/>
          <p:nvPr/>
        </p:nvSpPr>
        <p:spPr>
          <a:xfrm>
            <a:off x="446942" y="1131297"/>
            <a:ext cx="82545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Karmetasploit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Karmetasploit is a Metasploit-based framework/workflow historically associated with wireless client interaction and the </a:t>
            </a:r>
            <a:r>
              <a:rPr b="1" lang="en-US" sz="1100">
                <a:solidFill>
                  <a:schemeClr val="dk1"/>
                </a:solidFill>
              </a:rPr>
              <a:t>Karma attack concept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basic idea involves responding to wireless client requests in a controlled testing environment.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 Discovery / Probe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Interaction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Controlled Assessment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3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8" name="Google Shape;198;p30"/>
          <p:cNvSpPr txBox="1"/>
          <p:nvPr/>
        </p:nvSpPr>
        <p:spPr>
          <a:xfrm>
            <a:off x="446942" y="1131297"/>
            <a:ext cx="8254500" cy="3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KARMA ATTACK CONCEPT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client may search for networks it previously knows.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"Where is Network-X?"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AP responds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connects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weakness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client may trust a network based on its expected identity rather than cryptographically proving the AP's identity.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3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05" name="Google Shape;205;p31"/>
          <p:cNvSpPr txBox="1"/>
          <p:nvPr/>
        </p:nvSpPr>
        <p:spPr>
          <a:xfrm>
            <a:off x="446942" y="1131297"/>
            <a:ext cx="8254500" cy="4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Karmetasploit Architecture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Wireless Adapter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Rogue AP Logic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Karma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+---------+---------+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| 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Client              Metasploit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| 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+---------+---------+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Purpose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Study client behavior and wireless trust relationships in an authorized lab.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3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12" name="Google Shape;212;p32"/>
          <p:cNvSpPr txBox="1"/>
          <p:nvPr/>
        </p:nvSpPr>
        <p:spPr>
          <a:xfrm>
            <a:off x="446942" y="1131297"/>
            <a:ext cx="8254500" cy="50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Karmetasploit Configuration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controlled lab requires: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Compatible wireless adapter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Monitor/injection capability where required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Isolated test environment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Metasploit Framework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Defined test SSIDs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 workflow: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Adapter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Monitor / AP Setup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Karma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Metasploit Integration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Test Client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3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19" name="Google Shape;219;p33"/>
          <p:cNvSpPr txBox="1"/>
          <p:nvPr/>
        </p:nvSpPr>
        <p:spPr>
          <a:xfrm>
            <a:off x="446950" y="1131277"/>
            <a:ext cx="8254500" cy="5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Karma Configuration Logic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important concept is </a:t>
            </a:r>
            <a:r>
              <a:rPr b="1" lang="en-US" sz="1100">
                <a:solidFill>
                  <a:schemeClr val="dk1"/>
                </a:solidFill>
              </a:rPr>
              <a:t>client-driven network discovery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Test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Network Discovery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searches for known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Karma-style test environment responds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may attempt association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Test Environment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SSID the client 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AP responds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BSSID is presented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Whether the client associates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IP configuration it receives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network traffic follows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The objective of the lab is to understand the trust relationship, not to collect real credentials.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3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26" name="Google Shape;226;p34"/>
          <p:cNvSpPr txBox="1"/>
          <p:nvPr/>
        </p:nvSpPr>
        <p:spPr>
          <a:xfrm>
            <a:off x="446942" y="1131297"/>
            <a:ext cx="8254500" cy="3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Karmetasploit Workflow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Prepare Lab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Configure Wireless Interface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Configure 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Enable Karma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Start Metasploit Components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Connect Test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Observe Client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Collect Evidence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3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3" name="Google Shape;233;p35"/>
          <p:cNvSpPr txBox="1"/>
          <p:nvPr/>
        </p:nvSpPr>
        <p:spPr>
          <a:xfrm>
            <a:off x="446942" y="1131297"/>
            <a:ext cx="8254500" cy="21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Detecting Karma-Style Attacks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indicators: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AP responses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Duplicate SSIDs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Client association with unknown BSSID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Multiple SSIDs appearing unexpectedly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wireless management frames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network configuration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3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40" name="Google Shape;240;p36"/>
          <p:cNvSpPr txBox="1"/>
          <p:nvPr/>
        </p:nvSpPr>
        <p:spPr>
          <a:xfrm>
            <a:off x="446942" y="1131297"/>
            <a:ext cx="825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Man-in-the-Middle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wireless MITM attack attempts to place the attacker between a client and its intended destination.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 / 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Destination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objectives: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Observe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Modify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Redirect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Capture metadata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3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47" name="Google Shape;247;p37"/>
          <p:cNvSpPr txBox="1"/>
          <p:nvPr/>
        </p:nvSpPr>
        <p:spPr>
          <a:xfrm>
            <a:off x="446942" y="1131297"/>
            <a:ext cx="8254500" cy="25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Wireless MITM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Internet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Attacker Device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attacker controls the intermediate network path.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3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54" name="Google Shape;254;p38"/>
          <p:cNvSpPr txBox="1"/>
          <p:nvPr/>
        </p:nvSpPr>
        <p:spPr>
          <a:xfrm>
            <a:off x="446942" y="1131297"/>
            <a:ext cx="82545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WIRELESS MITM ATTACK CHAIN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Reconnaissance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AP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Association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Traffic Forwarding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Traffic Observation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Modification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 MITM attack becomes possible when the attacker can control or influence the communication path.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3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61" name="Google Shape;261;p39"/>
          <p:cNvSpPr txBox="1"/>
          <p:nvPr/>
        </p:nvSpPr>
        <p:spPr>
          <a:xfrm>
            <a:off x="446942" y="1131297"/>
            <a:ext cx="8254500" cy="3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WHAT CAN MITM REVEAL?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Depending on protocol security, an attacker may observe: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Source/destination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 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Metadata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Unencrypted HTTP content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Connection timing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volume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Strong encryption can protect: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Credentials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content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MITM does not automatically defeat TLS.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4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68" name="Google Shape;268;p40"/>
          <p:cNvSpPr txBox="1"/>
          <p:nvPr/>
        </p:nvSpPr>
        <p:spPr>
          <a:xfrm>
            <a:off x="446942" y="1131297"/>
            <a:ext cx="8254500" cy="3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HTTPS AND WIRELESS MITM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HTTPS Protection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Without TLS: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→ Attacker →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	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Read / Modify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With properly validated TLS: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→ TLS →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Protected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 rogue Wi-Fi network does not automatically make encrypted HTTPS traffic readable.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4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75" name="Google Shape;275;p41"/>
          <p:cNvSpPr txBox="1"/>
          <p:nvPr/>
        </p:nvSpPr>
        <p:spPr>
          <a:xfrm>
            <a:off x="446942" y="1131297"/>
            <a:ext cx="8254500" cy="4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Detecting Wireless MITM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Duplicate BSSID/SSID combinations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gateway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ARP anomalies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 anomalies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Certificate warnings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association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traffic paths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Wireless Anomaly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Gateway Change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DNS Anomaly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MITM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4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82" name="Google Shape;282;p42"/>
          <p:cNvSpPr txBox="1"/>
          <p:nvPr/>
        </p:nvSpPr>
        <p:spPr>
          <a:xfrm>
            <a:off x="446942" y="1131297"/>
            <a:ext cx="82545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WIRELESS MITM DEFENSE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WPA2/WPA3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Enterprise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Certificate validation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VPN for untrusted networks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Wireless monitoring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segmentation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Client isolation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4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89" name="Google Shape;289;p43"/>
          <p:cNvSpPr txBox="1"/>
          <p:nvPr/>
        </p:nvSpPr>
        <p:spPr>
          <a:xfrm>
            <a:off x="446942" y="1131297"/>
            <a:ext cx="82545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SMB Relay Attack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SMB relay attack involves forwarding authentication attempts from one system to another instead of directly compromising the user's password.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|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| Relay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Target SMB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The attacker abuses authentication forwarding rather than necessarily knowing the user's password.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4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96" name="Google Shape;296;p44"/>
          <p:cNvSpPr txBox="1"/>
          <p:nvPr/>
        </p:nvSpPr>
        <p:spPr>
          <a:xfrm>
            <a:off x="446942" y="1131297"/>
            <a:ext cx="82545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SMB Relay Architecture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------------------------→ 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		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		              | Relay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		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		        SMB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attacker acts as an intermediary.x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4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03" name="Google Shape;303;p45"/>
          <p:cNvSpPr txBox="1"/>
          <p:nvPr/>
        </p:nvSpPr>
        <p:spPr>
          <a:xfrm>
            <a:off x="446942" y="1131297"/>
            <a:ext cx="8254500" cy="3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SMB Relay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Authentication Interception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Relay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 SMB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Authentication Accepted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Unauthorized Access / 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The attack depends on the authentication protocol, target configuration, and whether protections prevent relay.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4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10" name="Google Shape;310;p46"/>
          <p:cNvSpPr txBox="1"/>
          <p:nvPr/>
        </p:nvSpPr>
        <p:spPr>
          <a:xfrm>
            <a:off x="446942" y="1131297"/>
            <a:ext cx="82545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SMB Relay Conditions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enabling conditions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protocols that permit relay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Inadequate signing protections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positioning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Weak segmentation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Services accepting relayed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Authentication should prove not only </a:t>
            </a:r>
            <a:r>
              <a:rPr b="1" lang="en-US" sz="1100">
                <a:solidFill>
                  <a:schemeClr val="dk1"/>
                </a:solidFill>
              </a:rPr>
              <a:t>who</a:t>
            </a:r>
            <a:r>
              <a:rPr lang="en-US" sz="1100">
                <a:solidFill>
                  <a:schemeClr val="dk1"/>
                </a:solidFill>
              </a:rPr>
              <a:t> is authenticating but also protect the integrity and intended destination of the authentication exchange.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4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17" name="Google Shape;317;p47"/>
          <p:cNvSpPr txBox="1"/>
          <p:nvPr/>
        </p:nvSpPr>
        <p:spPr>
          <a:xfrm>
            <a:off x="446942" y="1131297"/>
            <a:ext cx="82545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SMB Signing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SMB signing helps protect the integrity and authenticity of SMB messages.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Signed SMB Messages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SMB signing can reduce exposure to certain relay scenarios.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4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24" name="Google Shape;324;p48"/>
          <p:cNvSpPr txBox="1"/>
          <p:nvPr/>
        </p:nvSpPr>
        <p:spPr>
          <a:xfrm>
            <a:off x="446942" y="1131297"/>
            <a:ext cx="825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Relay vs Password Attack</a:t>
            </a:r>
            <a:endParaRPr b="1" sz="2300">
              <a:solidFill>
                <a:schemeClr val="dk1"/>
              </a:solidFill>
            </a:endParaRPr>
          </a:p>
        </p:txBody>
      </p:sp>
      <p:graphicFrame>
        <p:nvGraphicFramePr>
          <p:cNvPr id="325" name="Google Shape;325;p48"/>
          <p:cNvGraphicFramePr/>
          <p:nvPr/>
        </p:nvGraphicFramePr>
        <p:xfrm>
          <a:off x="446950" y="19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{3A63715D-030E-4246-9C2A-87B70F435C16}</a:tableStyleId>
              </a:tblPr>
              <a:tblGrid>
                <a:gridCol w="4155800"/>
                <a:gridCol w="409870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SMB Relay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Password Attack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Forwards authentication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Attempts to discover password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 not require password knowledge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Requires password guessing/cracking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Depends on protocol/configuration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Depends on credential strength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Abuses authentication flow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Attacks credential secrecy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6" name="Google Shape;326;p48"/>
          <p:cNvSpPr txBox="1"/>
          <p:nvPr/>
        </p:nvSpPr>
        <p:spPr>
          <a:xfrm>
            <a:off x="465517" y="3788817"/>
            <a:ext cx="83232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/>
              <a:t>Relay attacks target the </a:t>
            </a:r>
            <a:r>
              <a:rPr b="1" lang="en-US" sz="1100"/>
              <a:t>authentication process</a:t>
            </a:r>
            <a:r>
              <a:rPr lang="en-US" sz="1100"/>
              <a:t>, not necessarily the password itself.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4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33" name="Google Shape;333;p49"/>
          <p:cNvSpPr txBox="1"/>
          <p:nvPr/>
        </p:nvSpPr>
        <p:spPr>
          <a:xfrm>
            <a:off x="446942" y="1131297"/>
            <a:ext cx="82545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SMB Relay Detection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SMB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source/destination pairs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NTLM authentication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Multiple authentication attempts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 connections from unusual hosts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Privileged account usage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SMB 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Investigate Possible Relay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5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40" name="Google Shape;340;p50"/>
          <p:cNvSpPr txBox="1"/>
          <p:nvPr/>
        </p:nvSpPr>
        <p:spPr>
          <a:xfrm>
            <a:off x="446942" y="1131297"/>
            <a:ext cx="8254500" cy="2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Defending Against SMB Relay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Important controls: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 signing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Prefer stronger authentication mechanisms where appropriate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 unnecessary NTLM usage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segmentation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Restrict SMB exposure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Disable unnecessary 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Monitor authentication flows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Least privilege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5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47" name="Google Shape;347;p51"/>
          <p:cNvSpPr txBox="1"/>
          <p:nvPr/>
        </p:nvSpPr>
        <p:spPr>
          <a:xfrm>
            <a:off x="446942" y="1131297"/>
            <a:ext cx="825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Evil Twin vs Wireless MITM</a:t>
            </a:r>
            <a:endParaRPr b="1" sz="2300">
              <a:solidFill>
                <a:schemeClr val="dk1"/>
              </a:solidFill>
            </a:endParaRPr>
          </a:p>
        </p:txBody>
      </p:sp>
      <p:graphicFrame>
        <p:nvGraphicFramePr>
          <p:cNvPr id="348" name="Google Shape;348;p51"/>
          <p:cNvGraphicFramePr/>
          <p:nvPr/>
        </p:nvGraphicFramePr>
        <p:xfrm>
          <a:off x="539375" y="182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{3A63715D-030E-4246-9C2A-87B70F435C16}</a:tableStyleId>
              </a:tblPr>
              <a:tblGrid>
                <a:gridCol w="3131775"/>
                <a:gridCol w="401040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Evil Twin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Wireless MITM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Impersonates 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Intercepts communication path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Focuses on client association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Focuses on traffic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 lead to MITM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Requires traffic interception position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Uses wireless trust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Uses path/control of communication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9" name="Google Shape;349;p51"/>
          <p:cNvSpPr txBox="1"/>
          <p:nvPr/>
        </p:nvSpPr>
        <p:spPr>
          <a:xfrm>
            <a:off x="539554" y="4207400"/>
            <a:ext cx="87978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Evil Twin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↓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Client Association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↓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Possible MITM</a:t>
            </a:r>
            <a:endParaRPr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5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6" name="Google Shape;356;p52"/>
          <p:cNvSpPr txBox="1"/>
          <p:nvPr/>
        </p:nvSpPr>
        <p:spPr>
          <a:xfrm>
            <a:off x="446942" y="1131297"/>
            <a:ext cx="8254500" cy="4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Karma vs Evil Twin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Evil Twin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Imitates a known legitimate network.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Karma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Can respond to client network-discovery behavior and attract clients based on requested network identities.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Evil Twin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Known SSID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Impersonation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Karma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Probe / Request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Rogue Response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5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graphicFrame>
        <p:nvGraphicFramePr>
          <p:cNvPr id="363" name="Google Shape;363;p53"/>
          <p:cNvGraphicFramePr/>
          <p:nvPr/>
        </p:nvGraphicFramePr>
        <p:xfrm>
          <a:off x="430225" y="195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{3A63715D-030E-4246-9C2A-87B70F435C16}</a:tableStyleId>
              </a:tblPr>
              <a:tblGrid>
                <a:gridCol w="1794675"/>
                <a:gridCol w="2083625"/>
                <a:gridCol w="412165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Attack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Primary Target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Main Idea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Evil Twin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Fake legitimate AP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Karma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Respond to client network requests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Wireless MITM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Traffic path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Intercept communication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SMB Relay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Forward authentication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Rogue 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Wireless network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Unauthorized AP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4" name="Google Shape;364;p53"/>
          <p:cNvSpPr txBox="1"/>
          <p:nvPr/>
        </p:nvSpPr>
        <p:spPr>
          <a:xfrm>
            <a:off x="370946" y="984250"/>
            <a:ext cx="79998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2300"/>
              <a:t>Wireless Attack Comparison</a:t>
            </a:r>
            <a:endParaRPr b="1" sz="2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5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71" name="Google Shape;371;p54"/>
          <p:cNvSpPr txBox="1"/>
          <p:nvPr/>
        </p:nvSpPr>
        <p:spPr>
          <a:xfrm>
            <a:off x="370950" y="984250"/>
            <a:ext cx="79998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Case Study: Evil Twin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university network uses: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SSID: University-WiFi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second AP appears using the same SSID.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second AP has: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Different BSSID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Different physical 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Different security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is the likely attack?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Which evidence supports your conclusion?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should the wireless administrator investigate?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How could clients detect the difference?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controls could prevent the attack?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5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78" name="Google Shape;378;p55"/>
          <p:cNvSpPr txBox="1"/>
          <p:nvPr/>
        </p:nvSpPr>
        <p:spPr>
          <a:xfrm>
            <a:off x="354575" y="521225"/>
            <a:ext cx="7999800" cy="52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Case Study: Wireless MITM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laptop connects to an unknown wireless network.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After association: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Gateway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 behavior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 traffic is observed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HTTPS remains encrypted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attack position may exist?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Which traffic is potentially exposed?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Why does HTTPS remain protected?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evidence should be collected?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Which controls could reduce the risk?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