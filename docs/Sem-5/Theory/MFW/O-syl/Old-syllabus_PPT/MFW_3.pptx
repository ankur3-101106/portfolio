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278F28-28FE-40BF-BAE5-45AD4731DF57}">
  <a:tblStyle styleId="{99278F28-28FE-40BF-BAE5-45AD4731DF5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74df2052fccd1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h774df2052fccd15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774df2052fccd15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h774df2052fccd156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774df2052fccd15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h774df2052fccd156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774df2052fccd15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h774df2052fccd156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774df2052fccd15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h774df2052fccd156_0_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774df2052fccd156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h774df2052fccd156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774df2052fccd15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h774df2052fccd156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74df2052fccd156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h774df2052fccd156_0_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774df2052fccd156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h774df2052fccd156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774df2052fccd156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h774df2052fccd156_0_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74df2052fccd156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h774df2052fccd156_0_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774df2052fccd156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h774df2052fccd156_0_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774df2052fccd156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h774df2052fccd156_0_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774df2052fccd156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h774df2052fccd156_0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774df2052fccd156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h774df2052fccd156_0_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774df2052fccd156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h774df2052fccd156_0_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774df2052fccd156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h774df2052fccd156_0_9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774df2052fccd156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h774df2052fccd156_0_10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74df2052fccd156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h774df2052fccd156_0_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774df2052fccd156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h774df2052fccd156_0_1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774df2052fccd156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h774df2052fccd156_0_1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774df2052fccd156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h774df2052fccd156_0_1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774df2052fccd156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h774df2052fccd156_0_1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774df2052fccd156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h774df2052fccd156_0_1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774df2052fccd156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h774df2052fccd156_0_1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774df2052fccd156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h774df2052fccd156_0_1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774df2052fccd156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h774df2052fccd156_0_1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774df2052fccd156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h774df2052fccd156_0_1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774df2052fccd156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h774df2052fccd156_0_1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774df2052fccd156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h774df2052fccd156_0_1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774df2052fccd156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h774df2052fccd156_0_1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774df2052fccd156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h774df2052fccd156_0_1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774df2052fccd156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h774df2052fccd156_0_1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774df2052fccd156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h774df2052fccd156_0_19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774df2052fccd156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h774df2052fccd156_0_2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774df2052fccd156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h774df2052fccd156_0_2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774df2052fccd156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h774df2052fccd156_0_2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774df2052fccd156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h774df2052fccd156_0_2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774df2052fccd156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h774df2052fccd156_0_2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774df2052fccd156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h774df2052fccd156_0_2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774df2052fccd156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h774df2052fccd156_0_2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774df2052fccd156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h774df2052fccd156_0_2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774df2052fccd156_3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h774df2052fccd156_3_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774df2052fccd156_3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h774df2052fccd156_3_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774df2052fccd156_3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h774df2052fccd156_3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774df2052fccd156_3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h774df2052fccd156_3_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774df2052fccd156_3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h774df2052fccd156_3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4" y="1955845"/>
            <a:ext cx="9143999" cy="1935817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</a:t>
            </a:r>
            <a:b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03014601ES01</a:t>
            </a:r>
            <a:endParaRPr b="1" i="0" sz="4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Layout">
  <p:cSld name="Index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8" name="Google Shape;18;p3"/>
            <p:cNvSpPr/>
            <p:nvPr/>
          </p:nvSpPr>
          <p:spPr>
            <a:xfrm>
              <a:off x="-4801433" y="1790698"/>
              <a:ext cx="12600815" cy="983098"/>
            </a:xfrm>
            <a:custGeom>
              <a:rect b="b" l="l" r="r" t="t"/>
              <a:pathLst>
                <a:path extrusionOk="0" h="660400" w="46101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0" i="0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339276" y="-1782234"/>
              <a:ext cx="4944218" cy="14257864"/>
            </a:xfrm>
            <a:custGeom>
              <a:rect b="b" l="l" r="r" t="t"/>
              <a:pathLst>
                <a:path extrusionOk="0" h="10693400" w="23876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0" i="0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5166" y="253736"/>
            <a:ext cx="2161851" cy="8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755" y="253736"/>
            <a:ext cx="4597617" cy="691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slide Layout">
  <p:cSld name="Endslide Layou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Layout">
  <p:cSld name="Content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b="1" i="0" lang="en-US" sz="115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4" y="1955845"/>
            <a:ext cx="9143365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152087" y="2223870"/>
            <a:ext cx="8839200" cy="2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Metasploit Frame work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303105324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 Bibungsarth Islary</a:t>
            </a:r>
            <a:br>
              <a:rPr b="1" i="0" lang="en-US" sz="10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(Cyber Security 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509733" y="1758619"/>
            <a:ext cx="607422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509733" y="2189506"/>
            <a:ext cx="5960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Client-Side Attack Surface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Client-Side Exploitation Methodology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Antivirus and Evasion Concepts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IDS/IPS Evasion Concepts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Human Interface Device Attacks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HTA Attack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MITM-Based Executable Tampering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Trojan Concepts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Linux Trojan Analysis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PDF Exploitation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Microsoft Word Exploitation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Android Backdoor Concepts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0" name="Google Shape;50;p9"/>
          <p:cNvSpPr txBox="1"/>
          <p:nvPr/>
        </p:nvSpPr>
        <p:spPr>
          <a:xfrm>
            <a:off x="446942" y="1131297"/>
            <a:ext cx="8254500" cy="56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Client-Side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Client-side exploitation targets software, users, or devices that initiate communication with a remote system.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Examples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Web browsers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Document readers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Office applications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PDF readers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Email clients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Operating-system components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Mobile applications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USB/HID interfaces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Delivery Mechanism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Vulnerable 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 / Impact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7" name="Google Shape;57;p10"/>
          <p:cNvSpPr txBox="1"/>
          <p:nvPr/>
        </p:nvSpPr>
        <p:spPr>
          <a:xfrm>
            <a:off x="446942" y="1131297"/>
            <a:ext cx="825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Server-Side vs Client-Side</a:t>
            </a:r>
            <a:endParaRPr b="1" sz="2300">
              <a:solidFill>
                <a:schemeClr val="dk1"/>
              </a:solidFill>
            </a:endParaRPr>
          </a:p>
        </p:txBody>
      </p:sp>
      <p:graphicFrame>
        <p:nvGraphicFramePr>
          <p:cNvPr id="58" name="Google Shape;58;p10"/>
          <p:cNvGraphicFramePr/>
          <p:nvPr/>
        </p:nvGraphicFramePr>
        <p:xfrm>
          <a:off x="539375" y="179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{99278F28-28FE-40BF-BAE5-45AD4731DF57}</a:tableStyleId>
              </a:tblPr>
              <a:tblGrid>
                <a:gridCol w="3094400"/>
                <a:gridCol w="35030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Server-Side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Client-Side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Targets exposed server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Targets user/client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Often remotely reachable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Often requires user interaction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Service is attack surface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Application/file/device is attack surface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Example: SMB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Example: malicious document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Example: vulnerable HTTP 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Example: vulnerable PDF reader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9" name="Google Shape;59;p10"/>
          <p:cNvSpPr txBox="1"/>
          <p:nvPr/>
        </p:nvSpPr>
        <p:spPr>
          <a:xfrm>
            <a:off x="539375" y="4760350"/>
            <a:ext cx="68565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/>
              <a:t>Server-side exploitation targets the </a:t>
            </a:r>
            <a:r>
              <a:rPr b="1" lang="en-US" sz="1100"/>
              <a:t>service</a:t>
            </a:r>
            <a:r>
              <a:rPr lang="en-US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/>
              <a:t>Client-side exploitation often targets the </a:t>
            </a:r>
            <a:r>
              <a:rPr b="1" lang="en-US" sz="1100"/>
              <a:t>interaction between user, application and content</a:t>
            </a:r>
            <a:r>
              <a:rPr lang="en-US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1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66" name="Google Shape;66;p11"/>
          <p:cNvSpPr txBox="1"/>
          <p:nvPr/>
        </p:nvSpPr>
        <p:spPr>
          <a:xfrm>
            <a:off x="446942" y="1131297"/>
            <a:ext cx="825450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Client-Side Attack Surface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+------------+------------+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    |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Browser  Documents  Email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    |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Web     PDF/Word   Attachments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Downloads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Executables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Other attack surfaces: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USB devices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HID devices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Mobile applications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Removable media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traffic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1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3" name="Google Shape;73;p12"/>
          <p:cNvSpPr txBox="1"/>
          <p:nvPr/>
        </p:nvSpPr>
        <p:spPr>
          <a:xfrm>
            <a:off x="446942" y="1131297"/>
            <a:ext cx="8254500" cy="52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Client-Side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Reconnaissance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Target Selection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Delivery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 Interaction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 /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Payload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Command &amp; Control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Post-Exploitation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Client-side attacks often introduce a </a:t>
            </a:r>
            <a:r>
              <a:rPr b="1" lang="en-US" sz="1100">
                <a:solidFill>
                  <a:schemeClr val="dk1"/>
                </a:solidFill>
              </a:rPr>
              <a:t>human interaction point</a:t>
            </a:r>
            <a:r>
              <a:rPr lang="en-US" sz="1100">
                <a:solidFill>
                  <a:schemeClr val="dk1"/>
                </a:solidFill>
              </a:rPr>
              <a:t> into the attack chain.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1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0" name="Google Shape;80;p13"/>
          <p:cNvSpPr txBox="1"/>
          <p:nvPr/>
        </p:nvSpPr>
        <p:spPr>
          <a:xfrm>
            <a:off x="446942" y="1131297"/>
            <a:ext cx="8254500" cy="54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DELIVERY MECHANISMS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Client-Side Delivery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delivery mechanisms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Email attachment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Malicious document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Compromised website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Downloaded executable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USB device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HID device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Mobile application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Modified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Delivery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 / Device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1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7" name="Google Shape;87;p14"/>
          <p:cNvSpPr txBox="1"/>
          <p:nvPr/>
        </p:nvSpPr>
        <p:spPr>
          <a:xfrm>
            <a:off x="446942" y="1131297"/>
            <a:ext cx="8254500" cy="3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Antivirus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Antivirus software attempts to identify malicious activity.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Traditional detection may use: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Signatures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Hashes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Known patterns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Modern endpoint protection can also use: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Behavioral analysis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Memory inspection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monitoring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Machine 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Reputation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Cloud-based analysis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4" name="Google Shape;94;p15"/>
          <p:cNvSpPr txBox="1"/>
          <p:nvPr/>
        </p:nvSpPr>
        <p:spPr>
          <a:xfrm>
            <a:off x="446942" y="1131297"/>
            <a:ext cx="82545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How Antivirus Detects Threats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File / 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Static Analysis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Behavioral Analysis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Reputation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Memory / Runtime Analysis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Detection Decision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Modern security products do not depend only on file hashes.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" name="Google Shape;101;p16"/>
          <p:cNvSpPr txBox="1"/>
          <p:nvPr/>
        </p:nvSpPr>
        <p:spPr>
          <a:xfrm>
            <a:off x="446942" y="1131297"/>
            <a:ext cx="82545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Antivirus Evasion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AV evasion refers to techniques intended to prevent or reduce detection by security software.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 categories: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Obfuscation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Packing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Encryption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Polymorphism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Runtime behavior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Living-off-the-land techniques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lesson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Changing the appearance of malware does not necessarily remove malicious behavior.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8" name="Google Shape;108;p17"/>
          <p:cNvSpPr txBox="1"/>
          <p:nvPr/>
        </p:nvSpPr>
        <p:spPr>
          <a:xfrm>
            <a:off x="446942" y="1131297"/>
            <a:ext cx="825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Static vs Behavioral Detection</a:t>
            </a:r>
            <a:endParaRPr b="1" sz="2300">
              <a:solidFill>
                <a:schemeClr val="dk1"/>
              </a:solidFill>
            </a:endParaRPr>
          </a:p>
        </p:txBody>
      </p:sp>
      <p:graphicFrame>
        <p:nvGraphicFramePr>
          <p:cNvPr id="109" name="Google Shape;109;p17"/>
          <p:cNvGraphicFramePr/>
          <p:nvPr/>
        </p:nvGraphicFramePr>
        <p:xfrm>
          <a:off x="574500" y="168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{99278F28-28FE-40BF-BAE5-45AD4731DF57}</a:tableStyleId>
              </a:tblPr>
              <a:tblGrid>
                <a:gridCol w="1754050"/>
                <a:gridCol w="23342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Static Detection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Behavioral Detection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Examines 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Examines activity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Strings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Process behavior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File structure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Network connections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Child processes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Imports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Memory behavior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" name="Google Shape;110;p17"/>
          <p:cNvSpPr txBox="1"/>
          <p:nvPr/>
        </p:nvSpPr>
        <p:spPr>
          <a:xfrm>
            <a:off x="870250" y="4020775"/>
            <a:ext cx="14583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Malware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↓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Static Analysis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+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Runtime Behavior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↓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Detection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7" name="Google Shape;117;p18"/>
          <p:cNvSpPr txBox="1"/>
          <p:nvPr/>
        </p:nvSpPr>
        <p:spPr>
          <a:xfrm>
            <a:off x="446942" y="1131297"/>
            <a:ext cx="82545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Why Detection Can Fail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Detection can fail when: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Threat is previously unknown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Behavior is ambiguous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Telemetry is incomplete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Detection rules are too specific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Security controls are misconfigured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Activity resembles legitimate software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But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sample bypassing one detection layer does not mean it bypasses the entire security stack.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1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4" name="Google Shape;124;p19"/>
          <p:cNvSpPr txBox="1"/>
          <p:nvPr/>
        </p:nvSpPr>
        <p:spPr>
          <a:xfrm>
            <a:off x="446942" y="1131297"/>
            <a:ext cx="82545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Defense in Depth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ATTACK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+---------+---------+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|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AV       EDR    Firewall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|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IDS       SI</a:t>
            </a:r>
            <a:r>
              <a:rPr lang="en-US" sz="1100">
                <a:solidFill>
                  <a:schemeClr val="dk1"/>
                </a:solidFill>
              </a:rPr>
              <a:t>EM</a:t>
            </a:r>
            <a:r>
              <a:rPr lang="en-US" sz="1100">
                <a:solidFill>
                  <a:schemeClr val="dk1"/>
                </a:solidFill>
              </a:rPr>
              <a:t>  Email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    |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+---------+---------+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Detection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Principle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attacker should not be able to rely on defeating a single security control.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1" name="Google Shape;131;p20"/>
          <p:cNvSpPr txBox="1"/>
          <p:nvPr/>
        </p:nvSpPr>
        <p:spPr>
          <a:xfrm>
            <a:off x="446942" y="1131297"/>
            <a:ext cx="8254500" cy="4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IDS vs IPS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IDS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Intrusion Detection System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Detects suspicious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Generates alerts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Usually does not directly block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IPS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Intrusion Prevention System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Detects suspicious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Can block or prevent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IDS → Alert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IPS → Detect → Block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2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8" name="Google Shape;138;p21"/>
          <p:cNvSpPr txBox="1"/>
          <p:nvPr/>
        </p:nvSpPr>
        <p:spPr>
          <a:xfrm>
            <a:off x="446942" y="1131297"/>
            <a:ext cx="82545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IDS/IPS Evasion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 techniques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Traffic fragmentation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Encoding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Protocol manipulation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Traffic obfuscation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Timing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Alternate communication paths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Defensive principle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Detection should consider both: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Individual packets + complete communication behavior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2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5" name="Google Shape;145;p22"/>
          <p:cNvSpPr txBox="1"/>
          <p:nvPr/>
        </p:nvSpPr>
        <p:spPr>
          <a:xfrm>
            <a:off x="446942" y="1131297"/>
            <a:ext cx="8254500" cy="5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NETWORK EVASION 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Network Evasion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Normal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IDS/IPS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Modified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IDS/IPS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Detection Failure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Modern systems may correlate: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Source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Destination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Timing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Protocol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Endpoint process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2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52" name="Google Shape;152;p23"/>
          <p:cNvSpPr txBox="1"/>
          <p:nvPr/>
        </p:nvSpPr>
        <p:spPr>
          <a:xfrm>
            <a:off x="446942" y="1131297"/>
            <a:ext cx="8254500" cy="3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Human Interface Device Attacks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HID attacks abuse devices that appear to the operating system as legitimate input devices.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Keyboard emulation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USB HID devices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Programmable input devices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HID Device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Operating System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Recognized as Keyboard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</a:t>
            </a:r>
            <a:r>
              <a:rPr lang="en-US" sz="1100">
                <a:solidFill>
                  <a:schemeClr val="dk1"/>
                </a:solidFill>
              </a:rPr>
              <a:t>nput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2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59" name="Google Shape;159;p24"/>
          <p:cNvSpPr txBox="1"/>
          <p:nvPr/>
        </p:nvSpPr>
        <p:spPr>
          <a:xfrm>
            <a:off x="446942" y="1131297"/>
            <a:ext cx="8254500" cy="3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HID Attack Concept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operating system may trust a keyboard-like device without distinguishing whether the input originated from: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Human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Physical keyboard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Emulated keyboard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Attack idea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USB Device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Keyboard Emulation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Rapid Input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Command / Application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2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66" name="Google Shape;166;p25"/>
          <p:cNvSpPr txBox="1"/>
          <p:nvPr/>
        </p:nvSpPr>
        <p:spPr>
          <a:xfrm>
            <a:off x="446942" y="1131297"/>
            <a:ext cx="82545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HID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Physical Access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Connect HID Device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Device Recognition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Automated Input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Application Interaction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Command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attack depends heavily on physical access and endpoint configuration.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2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3" name="Google Shape;173;p26"/>
          <p:cNvSpPr txBox="1"/>
          <p:nvPr/>
        </p:nvSpPr>
        <p:spPr>
          <a:xfrm>
            <a:off x="446942" y="1131297"/>
            <a:ext cx="82545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HID Security Risks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impact: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Unauthorized commands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 launch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Configuration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Malware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Defensive controls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USB device control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Endpoint policies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 allowlisting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Physical security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awareness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Device monitoring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2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80" name="Google Shape;180;p27"/>
          <p:cNvSpPr txBox="1"/>
          <p:nvPr/>
        </p:nvSpPr>
        <p:spPr>
          <a:xfrm>
            <a:off x="446942" y="1131297"/>
            <a:ext cx="82545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Detecting HID Attacks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indicators: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New USB device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device class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Extremely rapid keyboard input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Command execution immediately after USB insertion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process creation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USB Insertion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Rapid Input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Command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Suspicious HID Activity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87" name="Google Shape;187;p28"/>
          <p:cNvSpPr txBox="1"/>
          <p:nvPr/>
        </p:nvSpPr>
        <p:spPr>
          <a:xfrm>
            <a:off x="446942" y="1131297"/>
            <a:ext cx="8254500" cy="45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HTA ATTACK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HTA stands for: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HTML Application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HTA files use web technologies but can execute with capabilities beyond a normal browser webpage.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Common extension: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.hta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HTML Content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HTA Host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Script / Application Logic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System Interaction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94" name="Google Shape;194;p29"/>
          <p:cNvSpPr txBox="1"/>
          <p:nvPr/>
        </p:nvSpPr>
        <p:spPr>
          <a:xfrm>
            <a:off x="446942" y="1131297"/>
            <a:ext cx="8254500" cy="3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HTA-Based Attack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attacker may attempt to use an HTA file as an execution mechanism.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HTA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HTA Host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Script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System Interaction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concern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HTA combines familiar web content with local execution capabilities.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3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01" name="Google Shape;201;p30"/>
          <p:cNvSpPr txBox="1"/>
          <p:nvPr/>
        </p:nvSpPr>
        <p:spPr>
          <a:xfrm>
            <a:off x="446942" y="1131297"/>
            <a:ext cx="8254500" cy="4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HTA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Delivery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HTA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HTA Host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Script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Process Creation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Payload / 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Detection opportunities exist at every stage.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3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08" name="Google Shape;208;p31"/>
          <p:cNvSpPr txBox="1"/>
          <p:nvPr/>
        </p:nvSpPr>
        <p:spPr>
          <a:xfrm>
            <a:off x="446942" y="1131297"/>
            <a:ext cx="8254500" cy="4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HTA Detection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HTA file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Script host processes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Parent-child process relationships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command interpreters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connections after HTA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Files downloaded immediately before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Important telemetry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Child 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Network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3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15" name="Google Shape;215;p32"/>
          <p:cNvSpPr txBox="1"/>
          <p:nvPr/>
        </p:nvSpPr>
        <p:spPr>
          <a:xfrm>
            <a:off x="446942" y="1131297"/>
            <a:ext cx="8254500" cy="4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MITM &amp; EXECUTABLE TAMPERING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Man-in-the-Middle Attack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MITM attack places an attacker between two communicating parties.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attacker may attempt to: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Observe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Modify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Redirect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Inject content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3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22" name="Google Shape;222;p33"/>
          <p:cNvSpPr txBox="1"/>
          <p:nvPr/>
        </p:nvSpPr>
        <p:spPr>
          <a:xfrm>
            <a:off x="446942" y="1131297"/>
            <a:ext cx="82545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MITM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Traffic Interception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Modification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Forwarded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objective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Maintain confidentiality and integrity of communications.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3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29" name="Google Shape;229;p34"/>
          <p:cNvSpPr txBox="1"/>
          <p:nvPr/>
        </p:nvSpPr>
        <p:spPr>
          <a:xfrm>
            <a:off x="446942" y="1131297"/>
            <a:ext cx="8254500" cy="4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Executable Tampering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attacker may attempt to modify software during transmission.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Original Executable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 Transfer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Interception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Modification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Modified Executable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Modern secure distribution mechanisms are designed to detect this type of tampering.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3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36" name="Google Shape;236;p35"/>
          <p:cNvSpPr txBox="1"/>
          <p:nvPr/>
        </p:nvSpPr>
        <p:spPr>
          <a:xfrm>
            <a:off x="446942" y="1131297"/>
            <a:ext cx="8254500" cy="48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WHY HTTPS MATTERS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HTTPS and Integrity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Without secure transport: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 ←→ Network ←→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↑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    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With authenticated TLS: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Client ←==== TLS ====→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TLS helps provide: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Confidentiality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Integrity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Server 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Key idea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Encryption protects more than secrecy. It also helps prevent undetected modification in transit.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3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43" name="Google Shape;243;p36"/>
          <p:cNvSpPr txBox="1"/>
          <p:nvPr/>
        </p:nvSpPr>
        <p:spPr>
          <a:xfrm>
            <a:off x="446942" y="1131297"/>
            <a:ext cx="82545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Executable Integrity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Important mechanisms: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Digital signatures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Hash verification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Secure distribution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Code signing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 allowlisting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Downloaded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Signature / Hash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Trusted?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3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50" name="Google Shape;250;p37"/>
          <p:cNvSpPr txBox="1"/>
          <p:nvPr/>
        </p:nvSpPr>
        <p:spPr>
          <a:xfrm>
            <a:off x="446942" y="1131297"/>
            <a:ext cx="8254500" cy="4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Trojan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Trojan is software that appears legitimate or useful while performing unauthorized or malicious activity.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Legitimate-looking 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Hidden Malicious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Trojan ≠ vulnerability.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Trojan often relies on </a:t>
            </a:r>
            <a:r>
              <a:rPr b="1" lang="en-US" sz="1100">
                <a:solidFill>
                  <a:schemeClr val="dk1"/>
                </a:solidFill>
              </a:rPr>
              <a:t>social engineering or user execution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3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57" name="Google Shape;257;p38"/>
          <p:cNvSpPr txBox="1"/>
          <p:nvPr/>
        </p:nvSpPr>
        <p:spPr>
          <a:xfrm>
            <a:off x="446942" y="1131297"/>
            <a:ext cx="8254500" cy="47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Linux Trojan Architecture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+-----------------------+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| Legitimate Logic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|            +        	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| Hidden Behavior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+-----------------------+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	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System Activity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malicious behavior: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Unauthorized communication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 collection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Persistence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Command execution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3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64" name="Google Shape;264;p39"/>
          <p:cNvSpPr txBox="1"/>
          <p:nvPr/>
        </p:nvSpPr>
        <p:spPr>
          <a:xfrm>
            <a:off x="446942" y="1131297"/>
            <a:ext cx="82545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Trojan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Delivery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 Trust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Legitimate Function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Hidden Activity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Persistence / 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lesson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Trust in the application is often the first security boundary being attacked.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4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71" name="Google Shape;271;p40"/>
          <p:cNvSpPr txBox="1"/>
          <p:nvPr/>
        </p:nvSpPr>
        <p:spPr>
          <a:xfrm>
            <a:off x="446942" y="1131297"/>
            <a:ext cx="82545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Trojan Detection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Analyze: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Static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Digital signature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Hash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Strings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Imported libraries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structure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Dynamic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Child processes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Persistence mechanisms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4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78" name="Google Shape;278;p41"/>
          <p:cNvSpPr txBox="1"/>
          <p:nvPr/>
        </p:nvSpPr>
        <p:spPr>
          <a:xfrm>
            <a:off x="446942" y="1131297"/>
            <a:ext cx="8254500" cy="25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Linux Trojan Analysis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defensive investigation can ask: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is the file?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Who created it?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Is it signed?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processes does it create?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files does it access?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network connections does it make?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Does it create persistence?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user executes it?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4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85" name="Google Shape;285;p42"/>
          <p:cNvSpPr txBox="1"/>
          <p:nvPr/>
        </p:nvSpPr>
        <p:spPr>
          <a:xfrm>
            <a:off x="446942" y="1131297"/>
            <a:ext cx="8254500" cy="4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File-Format Based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Documents may contain complex structures interpreted by applications.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PDF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Microsoft Word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Excel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PowerPoint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Image formats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Archive formats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Parser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Vulnerable Component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4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92" name="Google Shape;292;p43"/>
          <p:cNvSpPr txBox="1"/>
          <p:nvPr/>
        </p:nvSpPr>
        <p:spPr>
          <a:xfrm>
            <a:off x="446942" y="1131297"/>
            <a:ext cx="8254500" cy="4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WHY FILES CAN BE ATTACK SURFACES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File as an Attack Surface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document is not simply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It may contain: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Embedded objects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Scripts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Macros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External references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Complex structures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Active content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Document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Parser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Application Logic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Vulnerability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4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99" name="Google Shape;299;p44"/>
          <p:cNvSpPr txBox="1"/>
          <p:nvPr/>
        </p:nvSpPr>
        <p:spPr>
          <a:xfrm>
            <a:off x="446942" y="1131297"/>
            <a:ext cx="8254500" cy="48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PDF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PDF readers process complex document structures.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attack areas: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Parser vulnerabilities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Embedded content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JavaScript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External references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Memory corruption vulnerabilities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PDF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PDF Reader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Parser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Code Execution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4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06" name="Google Shape;306;p45"/>
          <p:cNvSpPr txBox="1"/>
          <p:nvPr/>
        </p:nvSpPr>
        <p:spPr>
          <a:xfrm>
            <a:off x="446942" y="1131297"/>
            <a:ext cx="82545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PDF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Malicious PDF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Delivery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 Opens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PDF Reader Parses Content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 Triggered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dependency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attack often depends 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reader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Appropriate file structure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interaction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Security controls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4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13" name="Google Shape;313;p46"/>
          <p:cNvSpPr txBox="1"/>
          <p:nvPr/>
        </p:nvSpPr>
        <p:spPr>
          <a:xfrm>
            <a:off x="446942" y="1131297"/>
            <a:ext cx="8254500" cy="4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PDF Security Analysis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Analyze: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metadata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Embedded objects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JavaScript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URLs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structure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Digital signatures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Reader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Defensive workflow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PDF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Static Analysis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Sandbox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Behavior Analysis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Verdict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4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20" name="Google Shape;320;p47"/>
          <p:cNvSpPr txBox="1"/>
          <p:nvPr/>
        </p:nvSpPr>
        <p:spPr>
          <a:xfrm>
            <a:off x="446942" y="1131297"/>
            <a:ext cx="82545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Word Document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Microsoft Word documents can contain active or complex content.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attack surfaces: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Macros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Embedded objects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External references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parsers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Malicious document structures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Word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Microsoft Word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Content Processing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Vulnerable Component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4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27" name="Google Shape;327;p48"/>
          <p:cNvSpPr txBox="1"/>
          <p:nvPr/>
        </p:nvSpPr>
        <p:spPr>
          <a:xfrm>
            <a:off x="446942" y="1131297"/>
            <a:ext cx="8254500" cy="45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Word-Based Attack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Malicious Document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Email / Download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 Opens Document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Content Processing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 / Active Content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controls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Protected View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Macro policies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 updates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Email filtering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EDR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4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34" name="Google Shape;334;p49"/>
          <p:cNvSpPr txBox="1"/>
          <p:nvPr/>
        </p:nvSpPr>
        <p:spPr>
          <a:xfrm>
            <a:off x="446942" y="1131297"/>
            <a:ext cx="8254500" cy="4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Macro vs Exploit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These concepts should not be confused.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Macro-based attack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Uses document automation functionality.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Exploitation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Takes advantage of a vulnerability in software.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Macro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Abuse of Intended Functionality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Abuse of Vulnerable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Both can result in code execution, but the underlying mechanism differs.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5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41" name="Google Shape;341;p50"/>
          <p:cNvSpPr txBox="1"/>
          <p:nvPr/>
        </p:nvSpPr>
        <p:spPr>
          <a:xfrm>
            <a:off x="446942" y="1131297"/>
            <a:ext cx="8254500" cy="4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FILE FORMAT DETECTION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Detecting Malicious Documents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Security teams can inspect: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origin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Email metadata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hash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Document structure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Embedded content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Child processes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Strong signal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Document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Unexpected Script / 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Network Connection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5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48" name="Google Shape;348;p51"/>
          <p:cNvSpPr txBox="1"/>
          <p:nvPr/>
        </p:nvSpPr>
        <p:spPr>
          <a:xfrm>
            <a:off x="446942" y="1131297"/>
            <a:ext cx="82545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ANDROID BACKDOOR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Android applications interact with: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Activities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Broadcast receivers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Content providers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Permissions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APIs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Local storage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Android App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Application Components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Permissions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System Resources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5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55" name="Google Shape;355;p52"/>
          <p:cNvSpPr txBox="1"/>
          <p:nvPr/>
        </p:nvSpPr>
        <p:spPr>
          <a:xfrm>
            <a:off x="446942" y="1131297"/>
            <a:ext cx="8254500" cy="4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Android Backdoor Concept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backdoor is functionality that provides unauthorized access or control.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Android 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Legitimate Functionality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Unauthorized Functionality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Remote / Local Control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backdoor may be hidden inside an otherwise functional application.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5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2" name="Google Shape;362;p53"/>
          <p:cNvSpPr txBox="1"/>
          <p:nvPr/>
        </p:nvSpPr>
        <p:spPr>
          <a:xfrm>
            <a:off x="446942" y="1131297"/>
            <a:ext cx="8254500" cy="48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ANDROID BACKDOOR CONCEPTUAL ARCHITECTURE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Android Device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+--- Legitimate App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+--- Hidden Component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Remote Endpoint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capabilities: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Information collection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Command processing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communication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Persistence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5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9" name="Google Shape;369;p54"/>
          <p:cNvSpPr txBox="1"/>
          <p:nvPr/>
        </p:nvSpPr>
        <p:spPr>
          <a:xfrm>
            <a:off x="446942" y="1131297"/>
            <a:ext cx="8254500" cy="44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Android Permissions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Permissions control access to sensitive resources.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Camera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Microphone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Contacts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Storage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principle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application requesting excessive permissions should be investigated.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Permission Request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Sensitive Resource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5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76" name="Google Shape;376;p55"/>
          <p:cNvSpPr txBox="1"/>
          <p:nvPr/>
        </p:nvSpPr>
        <p:spPr>
          <a:xfrm>
            <a:off x="446942" y="1131297"/>
            <a:ext cx="8254500" cy="3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Android Backdoor Detection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Analyze: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Static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APK metadata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Permissions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Components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Strings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Embedded URLs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Code structure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Dynamic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traffic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Permission use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API calls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5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83" name="Google Shape;383;p56"/>
          <p:cNvSpPr txBox="1"/>
          <p:nvPr/>
        </p:nvSpPr>
        <p:spPr>
          <a:xfrm>
            <a:off x="446942" y="1131297"/>
            <a:ext cx="8254500" cy="46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Android Malware Analysis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APK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Hash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Static Analysis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Permissions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Components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Dynamic Analysis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 Monitoring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Behavior Analysis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Verdict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